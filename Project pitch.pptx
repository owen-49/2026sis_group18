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0.svg" ContentType="image/svg+xml"/>
  <Override PartName="/ppt/media/image12.svg" ContentType="image/svg+xml"/>
  <Override PartName="/ppt/media/image14.svg" ContentType="image/svg+xml"/>
  <Override PartName="/ppt/media/image16.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62" r:id="rId7"/>
    <p:sldId id="263" r:id="rId8"/>
    <p:sldId id="276" r:id="rId9"/>
    <p:sldId id="260" r:id="rId10"/>
    <p:sldId id="265" r:id="rId11"/>
    <p:sldId id="266" r:id="rId12"/>
    <p:sldId id="267" r:id="rId13"/>
    <p:sldId id="259" r:id="rId14"/>
    <p:sldId id="268" r:id="rId15"/>
    <p:sldId id="269" r:id="rId16"/>
    <p:sldId id="270" r:id="rId17"/>
    <p:sldId id="261" r:id="rId18"/>
    <p:sldId id="272" r:id="rId19"/>
    <p:sldId id="275" r:id="rId20"/>
  </p:sldIdLst>
  <p:sldSz cx="12192000" cy="6858000"/>
  <p:notesSz cx="6858000" cy="9144000"/>
  <p:embeddedFontLst>
    <p:embeddedFont>
      <p:font typeface="SimSun" panose="02010600030101010101" pitchFamily="2" charset="-122"/>
      <p:regular r:id="rId24"/>
    </p:embeddedFont>
    <p:embeddedFont>
      <p:font typeface="汉仪晓波花月圆W" panose="00020600040101010101" charset="-122"/>
      <p:regular r:id="rId25"/>
    </p:embeddedFont>
    <p:embeddedFont>
      <p:font typeface="汉仪雅酷黑 45W" panose="020B0404020202020204" charset="-122"/>
      <p:regular r:id="rId26"/>
    </p:embeddedFont>
    <p:embeddedFont>
      <p:font typeface="Microsoft YaHei" panose="020B0503020204020204" charset="-122"/>
      <p:regular r:id="rId27"/>
      <p:bold r:id="rId28"/>
    </p:embeddedFont>
    <p:embeddedFont>
      <p:font typeface="Calibri" panose="020F0502020204030204" charset="0"/>
      <p:regular r:id="rId29"/>
      <p:bold r:id="rId30"/>
      <p:italic r:id="rId31"/>
      <p:boldItalic r:id="rId3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AFAFA"/>
    <a:srgbClr val="30506A"/>
    <a:srgbClr val="96CD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image" Target="../media/image6.svg"/><Relationship Id="rId8" Type="http://schemas.openxmlformats.org/officeDocument/2006/relationships/image" Target="../media/image5.png"/><Relationship Id="rId7"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tags" Target="../tags/tag2.xml"/><Relationship Id="rId3" Type="http://schemas.openxmlformats.org/officeDocument/2006/relationships/image" Target="../media/image2.svg"/><Relationship Id="rId26" Type="http://schemas.openxmlformats.org/officeDocument/2006/relationships/notesSlide" Target="../notesSlides/notesSlide2.xml"/><Relationship Id="rId25" Type="http://schemas.openxmlformats.org/officeDocument/2006/relationships/slideLayout" Target="../slideLayouts/slideLayout1.xml"/><Relationship Id="rId24" Type="http://schemas.openxmlformats.org/officeDocument/2006/relationships/tags" Target="../tags/tag16.xml"/><Relationship Id="rId23" Type="http://schemas.openxmlformats.org/officeDocument/2006/relationships/tags" Target="../tags/tag15.xml"/><Relationship Id="rId22" Type="http://schemas.openxmlformats.org/officeDocument/2006/relationships/tags" Target="../tags/tag14.xml"/><Relationship Id="rId21" Type="http://schemas.openxmlformats.org/officeDocument/2006/relationships/tags" Target="../tags/tag13.xml"/><Relationship Id="rId20" Type="http://schemas.openxmlformats.org/officeDocument/2006/relationships/image" Target="../media/image8.svg"/><Relationship Id="rId2" Type="http://schemas.openxmlformats.org/officeDocument/2006/relationships/image" Target="../media/image1.png"/><Relationship Id="rId19" Type="http://schemas.openxmlformats.org/officeDocument/2006/relationships/image" Target="../media/image7.png"/><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tags" Target="../tags/tag8.xml"/><Relationship Id="rId13" Type="http://schemas.openxmlformats.org/officeDocument/2006/relationships/tags" Target="../tags/tag7.xml"/><Relationship Id="rId12" Type="http://schemas.openxmlformats.org/officeDocument/2006/relationships/tags" Target="../tags/tag6.xml"/><Relationship Id="rId11" Type="http://schemas.openxmlformats.org/officeDocument/2006/relationships/tags" Target="../tags/tag5.xml"/><Relationship Id="rId10" Type="http://schemas.openxmlformats.org/officeDocument/2006/relationships/tags" Target="../tags/tag4.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9" Type="http://schemas.openxmlformats.org/officeDocument/2006/relationships/image" Target="../media/image17.jpeg"/><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1" Type="http://schemas.openxmlformats.org/officeDocument/2006/relationships/notesSlide" Target="../notesSlides/notesSlide4.xml"/><Relationship Id="rId10" Type="http://schemas.openxmlformats.org/officeDocument/2006/relationships/slideLayout" Target="../slideLayouts/slideLayout1.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s>
</file>

<file path=ppt/slides/_rels/slide6.xml.rels><?xml version="1.0" encoding="UTF-8" standalone="yes"?>
<Relationships xmlns="http://schemas.openxmlformats.org/package/2006/relationships"><Relationship Id="rId9" Type="http://schemas.openxmlformats.org/officeDocument/2006/relationships/image" Target="../media/image17.jpeg"/><Relationship Id="rId8" Type="http://schemas.openxmlformats.org/officeDocument/2006/relationships/image" Target="../media/image31.sv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1" Type="http://schemas.openxmlformats.org/officeDocument/2006/relationships/notesSlide" Target="../notesSlides/notesSlide6.xml"/><Relationship Id="rId10" Type="http://schemas.openxmlformats.org/officeDocument/2006/relationships/slideLayout" Target="../slideLayouts/slideLayout1.xml"/><Relationship Id="rId1"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9" Type="http://schemas.openxmlformats.org/officeDocument/2006/relationships/image" Target="../media/image40.png"/><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 Id="rId3" Type="http://schemas.openxmlformats.org/officeDocument/2006/relationships/image" Target="../media/image34.png"/><Relationship Id="rId2" Type="http://schemas.openxmlformats.org/officeDocument/2006/relationships/image" Target="../media/image33.svg"/><Relationship Id="rId16" Type="http://schemas.openxmlformats.org/officeDocument/2006/relationships/notesSlide" Target="../notesSlides/notesSlide8.xml"/><Relationship Id="rId15" Type="http://schemas.openxmlformats.org/officeDocument/2006/relationships/slideLayout" Target="../slideLayouts/slideLayout1.xml"/><Relationship Id="rId14" Type="http://schemas.openxmlformats.org/officeDocument/2006/relationships/image" Target="../media/image45.svg"/><Relationship Id="rId13" Type="http://schemas.openxmlformats.org/officeDocument/2006/relationships/image" Target="../media/image44.png"/><Relationship Id="rId12" Type="http://schemas.openxmlformats.org/officeDocument/2006/relationships/image" Target="../media/image43.svg"/><Relationship Id="rId11" Type="http://schemas.openxmlformats.org/officeDocument/2006/relationships/image" Target="../media/image42.png"/><Relationship Id="rId10" Type="http://schemas.openxmlformats.org/officeDocument/2006/relationships/image" Target="../media/image41.svg"/><Relationship Id="rId1" Type="http://schemas.openxmlformats.org/officeDocument/2006/relationships/image" Target="../media/image3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53.svg"/><Relationship Id="rId7" Type="http://schemas.openxmlformats.org/officeDocument/2006/relationships/image" Target="../media/image52.png"/><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 Id="rId3" Type="http://schemas.openxmlformats.org/officeDocument/2006/relationships/image" Target="../media/image48.png"/><Relationship Id="rId2" Type="http://schemas.openxmlformats.org/officeDocument/2006/relationships/image" Target="../media/image47.svg"/><Relationship Id="rId10" Type="http://schemas.openxmlformats.org/officeDocument/2006/relationships/notesSlide" Target="../notesSlides/notesSlide10.xml"/><Relationship Id="rId1" Type="http://schemas.openxmlformats.org/officeDocument/2006/relationships/image" Target="../media/image4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9" Type="http://schemas.openxmlformats.org/officeDocument/2006/relationships/image" Target="../media/image62.svg"/><Relationship Id="rId8" Type="http://schemas.openxmlformats.org/officeDocument/2006/relationships/image" Target="../media/image61.png"/><Relationship Id="rId7" Type="http://schemas.openxmlformats.org/officeDocument/2006/relationships/image" Target="../media/image60.svg"/><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image" Target="../media/image56.svg"/><Relationship Id="rId2" Type="http://schemas.openxmlformats.org/officeDocument/2006/relationships/image" Target="../media/image55.png"/><Relationship Id="rId11" Type="http://schemas.openxmlformats.org/officeDocument/2006/relationships/notesSlide" Target="../notesSlides/notesSlide12.xml"/><Relationship Id="rId10" Type="http://schemas.openxmlformats.org/officeDocument/2006/relationships/slideLayout" Target="../slideLayouts/slideLayout1.xml"/><Relationship Id="rId1" Type="http://schemas.openxmlformats.org/officeDocument/2006/relationships/image" Target="../media/image54.jpeg"/></Relationships>
</file>

<file path=ppt/slides/_rels/slide13.xml.rels><?xml version="1.0" encoding="UTF-8" standalone="yes"?>
<Relationships xmlns="http://schemas.openxmlformats.org/package/2006/relationships"><Relationship Id="rId9" Type="http://schemas.openxmlformats.org/officeDocument/2006/relationships/image" Target="../media/image71.png"/><Relationship Id="rId8" Type="http://schemas.openxmlformats.org/officeDocument/2006/relationships/image" Target="../media/image70.svg"/><Relationship Id="rId7" Type="http://schemas.openxmlformats.org/officeDocument/2006/relationships/image" Target="../media/image69.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svg"/><Relationship Id="rId3" Type="http://schemas.openxmlformats.org/officeDocument/2006/relationships/image" Target="../media/image65.png"/><Relationship Id="rId2" Type="http://schemas.openxmlformats.org/officeDocument/2006/relationships/image" Target="../media/image64.svg"/><Relationship Id="rId12" Type="http://schemas.openxmlformats.org/officeDocument/2006/relationships/notesSlide" Target="../notesSlides/notesSlide13.xml"/><Relationship Id="rId11" Type="http://schemas.openxmlformats.org/officeDocument/2006/relationships/slideLayout" Target="../slideLayouts/slideLayout1.xml"/><Relationship Id="rId10" Type="http://schemas.openxmlformats.org/officeDocument/2006/relationships/image" Target="../media/image72.svg"/><Relationship Id="rId1" Type="http://schemas.openxmlformats.org/officeDocument/2006/relationships/image" Target="../media/image6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2516823" y="2426335"/>
            <a:ext cx="7158355" cy="1014730"/>
          </a:xfrm>
          <a:prstGeom prst="rect">
            <a:avLst/>
          </a:prstGeom>
          <a:noFill/>
        </p:spPr>
        <p:txBody>
          <a:bodyPr wrap="square" rtlCol="0">
            <a:spAutoFit/>
          </a:bodyPr>
          <a:p>
            <a:pPr algn="ctr"/>
            <a:r>
              <a:rPr lang="en-US" altLang="zh-CN" sz="6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charset="0"/>
                <a:ea typeface="汉仪晓波花月圆W" panose="00020600040101010101" charset="-122"/>
                <a:cs typeface="Times New Roman" panose="02020603050405020304" charset="0"/>
              </a:rPr>
              <a:t>ClaimTrace</a:t>
            </a:r>
            <a:endParaRPr lang="en-US" altLang="zh-CN" sz="600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imes New Roman" panose="02020603050405020304" charset="0"/>
              <a:ea typeface="汉仪晓波花月圆W" panose="00020600040101010101" charset="-122"/>
              <a:cs typeface="Times New Roman" panose="02020603050405020304" charset="0"/>
            </a:endParaRPr>
          </a:p>
        </p:txBody>
      </p:sp>
      <p:sp>
        <p:nvSpPr>
          <p:cNvPr id="14" name="圆角矩形 13"/>
          <p:cNvSpPr/>
          <p:nvPr/>
        </p:nvSpPr>
        <p:spPr>
          <a:xfrm>
            <a:off x="5144770" y="3763010"/>
            <a:ext cx="1901825" cy="3492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400">
                <a:latin typeface="Times New Roman" panose="02020603050405020304" charset="0"/>
                <a:ea typeface="汉仪晓波花月圆W" panose="00020600040101010101" charset="-122"/>
                <a:cs typeface="Times New Roman" panose="02020603050405020304" charset="0"/>
              </a:rPr>
              <a:t>2026.8.19</a:t>
            </a:r>
            <a:endParaRPr lang="en-US" altLang="zh-CN" sz="1400">
              <a:latin typeface="Times New Roman" panose="02020603050405020304" charset="0"/>
              <a:ea typeface="汉仪晓波花月圆W" panose="00020600040101010101" charset="-122"/>
              <a:cs typeface="Times New Roman" panose="02020603050405020304" charset="0"/>
            </a:endParaRPr>
          </a:p>
        </p:txBody>
      </p:sp>
      <p:grpSp>
        <p:nvGrpSpPr>
          <p:cNvPr id="27" name="组合 26"/>
          <p:cNvGrpSpPr/>
          <p:nvPr/>
        </p:nvGrpSpPr>
        <p:grpSpPr>
          <a:xfrm>
            <a:off x="-317" y="556260"/>
            <a:ext cx="12192635" cy="5745480"/>
            <a:chOff x="-1" y="927"/>
            <a:chExt cx="19201" cy="9048"/>
          </a:xfrm>
        </p:grpSpPr>
        <p:grpSp>
          <p:nvGrpSpPr>
            <p:cNvPr id="6" name="组合 5"/>
            <p:cNvGrpSpPr/>
            <p:nvPr/>
          </p:nvGrpSpPr>
          <p:grpSpPr>
            <a:xfrm rot="0">
              <a:off x="-1" y="927"/>
              <a:ext cx="5530" cy="1489"/>
              <a:chOff x="1180" y="1054"/>
              <a:chExt cx="4275" cy="1151"/>
            </a:xfrm>
          </p:grpSpPr>
          <p:cxnSp>
            <p:nvCxnSpPr>
              <p:cNvPr id="3" name="直接连接符 2"/>
              <p:cNvCxnSpPr/>
              <p:nvPr/>
            </p:nvCxnSpPr>
            <p:spPr>
              <a:xfrm>
                <a:off x="1180" y="2196"/>
                <a:ext cx="4069" cy="0"/>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5227" y="1063"/>
                <a:ext cx="0" cy="1142"/>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455" y="1054"/>
                <a:ext cx="0" cy="1142"/>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0" flipH="1" flipV="1">
              <a:off x="13670" y="8487"/>
              <a:ext cx="5530" cy="1489"/>
              <a:chOff x="1180" y="1054"/>
              <a:chExt cx="4275" cy="1151"/>
            </a:xfrm>
          </p:grpSpPr>
          <p:cxnSp>
            <p:nvCxnSpPr>
              <p:cNvPr id="24" name="直接连接符 23"/>
              <p:cNvCxnSpPr/>
              <p:nvPr/>
            </p:nvCxnSpPr>
            <p:spPr>
              <a:xfrm>
                <a:off x="1180" y="2196"/>
                <a:ext cx="4069" cy="0"/>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227" y="1063"/>
                <a:ext cx="0" cy="1142"/>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455" y="1054"/>
                <a:ext cx="0" cy="1142"/>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grpSp>
      </p:grpSp>
      <p:cxnSp>
        <p:nvCxnSpPr>
          <p:cNvPr id="28" name="直接连接符 27"/>
          <p:cNvCxnSpPr/>
          <p:nvPr/>
        </p:nvCxnSpPr>
        <p:spPr>
          <a:xfrm>
            <a:off x="213360" y="1640840"/>
            <a:ext cx="0" cy="2041525"/>
          </a:xfrm>
          <a:prstGeom prst="line">
            <a:avLst/>
          </a:prstGeom>
          <a:ln w="381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974195" y="3176270"/>
            <a:ext cx="0" cy="2041525"/>
          </a:xfrm>
          <a:prstGeom prst="line">
            <a:avLst/>
          </a:prstGeom>
          <a:ln w="38100">
            <a:solidFill>
              <a:srgbClr val="96CDD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 name="文本框 55"/>
          <p:cNvSpPr txBox="1"/>
          <p:nvPr/>
        </p:nvSpPr>
        <p:spPr>
          <a:xfrm>
            <a:off x="5311140" y="1408430"/>
            <a:ext cx="1572260" cy="632460"/>
          </a:xfrm>
          <a:prstGeom prst="rect">
            <a:avLst/>
          </a:prstGeom>
          <a:noFill/>
        </p:spPr>
        <p:txBody>
          <a:bodyPr wrap="square" rtlCol="0">
            <a:noAutofit/>
          </a:bodyPr>
          <a:p>
            <a:pPr algn="dist">
              <a:lnSpc>
                <a:spcPct val="10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rPr>
              <a:t>C</a:t>
            </a:r>
            <a:r>
              <a:rPr lang="en-US" altLang="zh-CN" sz="1400">
                <a:solidFill>
                  <a:schemeClr val="tx1"/>
                </a:solidFill>
                <a:latin typeface="汉仪晓波花月圆W" panose="00020600040101010101" charset="-122"/>
                <a:ea typeface="汉仪晓波花月圆W" panose="00020600040101010101" charset="-122"/>
                <a:cs typeface="汉仪晓波花月圆W" panose="00020600040101010101" charset="-122"/>
              </a:rPr>
              <a:t>ATALOG</a:t>
            </a:r>
            <a:endParaRPr lang="en-US" altLang="zh-CN" sz="14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pic>
        <p:nvPicPr>
          <p:cNvPr id="2" name="图片 1" descr="3505353"/>
          <p:cNvPicPr>
            <a:picLocks noChangeAspect="1"/>
          </p:cNvPicPr>
          <p:nvPr>
            <p:custDataLst>
              <p:tags r:id="rId1"/>
            </p:custDataLst>
          </p:nvPr>
        </p:nvPicPr>
        <p:blipFill>
          <a:blip r:embed="rId2">
            <a:extLst>
              <a:ext uri="{96DAC541-7B7A-43D3-8B79-37D633B846F1}">
                <asvg:svgBlip xmlns:asvg="http://schemas.microsoft.com/office/drawing/2016/SVG/main" r:embed="rId3"/>
              </a:ext>
            </a:extLst>
          </a:blip>
          <a:stretch>
            <a:fillRect/>
          </a:stretch>
        </p:blipFill>
        <p:spPr>
          <a:xfrm>
            <a:off x="7172325" y="2468880"/>
            <a:ext cx="614045" cy="614045"/>
          </a:xfrm>
          <a:prstGeom prst="rect">
            <a:avLst/>
          </a:prstGeom>
        </p:spPr>
      </p:pic>
      <p:pic>
        <p:nvPicPr>
          <p:cNvPr id="9" name="图片 8" descr="3505465"/>
          <p:cNvPicPr>
            <a:picLocks noChangeAspect="1"/>
          </p:cNvPicPr>
          <p:nvPr>
            <p:custDataLst>
              <p:tags r:id="rId4"/>
            </p:custDataLst>
          </p:nvPr>
        </p:nvPicPr>
        <p:blipFill>
          <a:blip r:embed="rId5">
            <a:extLst>
              <a:ext uri="{96DAC541-7B7A-43D3-8B79-37D633B846F1}">
                <asvg:svgBlip xmlns:asvg="http://schemas.microsoft.com/office/drawing/2016/SVG/main" r:embed="rId6"/>
              </a:ext>
            </a:extLst>
          </a:blip>
          <a:stretch>
            <a:fillRect/>
          </a:stretch>
        </p:blipFill>
        <p:spPr>
          <a:xfrm>
            <a:off x="2084705" y="2534920"/>
            <a:ext cx="502920" cy="502920"/>
          </a:xfrm>
          <a:prstGeom prst="rect">
            <a:avLst/>
          </a:prstGeom>
        </p:spPr>
      </p:pic>
      <p:pic>
        <p:nvPicPr>
          <p:cNvPr id="13" name="图片 12" descr="3505464"/>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tretch>
            <a:fillRect/>
          </a:stretch>
        </p:blipFill>
        <p:spPr>
          <a:xfrm>
            <a:off x="4667885" y="2545715"/>
            <a:ext cx="481965" cy="481965"/>
          </a:xfrm>
          <a:prstGeom prst="rect">
            <a:avLst/>
          </a:prstGeom>
        </p:spPr>
      </p:pic>
      <p:sp>
        <p:nvSpPr>
          <p:cNvPr id="16" name="椭圆 15"/>
          <p:cNvSpPr/>
          <p:nvPr>
            <p:custDataLst>
              <p:tags r:id="rId10"/>
            </p:custDataLst>
          </p:nvPr>
        </p:nvSpPr>
        <p:spPr>
          <a:xfrm>
            <a:off x="9420860" y="2148205"/>
            <a:ext cx="1256030" cy="1256030"/>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17" name="椭圆 16"/>
          <p:cNvSpPr/>
          <p:nvPr>
            <p:custDataLst>
              <p:tags r:id="rId11"/>
            </p:custDataLst>
          </p:nvPr>
        </p:nvSpPr>
        <p:spPr>
          <a:xfrm>
            <a:off x="6851015" y="2148205"/>
            <a:ext cx="1256030" cy="1256030"/>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18" name="文本框 17"/>
          <p:cNvSpPr txBox="1"/>
          <p:nvPr>
            <p:custDataLst>
              <p:tags r:id="rId12"/>
            </p:custDataLst>
          </p:nvPr>
        </p:nvSpPr>
        <p:spPr>
          <a:xfrm>
            <a:off x="1238885" y="3648710"/>
            <a:ext cx="2194560" cy="337185"/>
          </a:xfrm>
          <a:prstGeom prst="rect">
            <a:avLst/>
          </a:prstGeom>
          <a:noFill/>
        </p:spPr>
        <p:txBody>
          <a:bodyPr wrap="square" rtlCol="0" anchor="t">
            <a:spAutoFit/>
          </a:bodyPr>
          <a:p>
            <a:pPr algn="dist"/>
            <a:r>
              <a:rPr lang="en-US" altLang="zh-CN" sz="1600">
                <a:solidFill>
                  <a:schemeClr val="tx1"/>
                </a:solidFill>
                <a:latin typeface="Times New Roman" panose="02020603050405020304" charset="0"/>
                <a:ea typeface="汉仪晓波花月圆W" panose="00020600040101010101" charset="-122"/>
                <a:cs typeface="Times New Roman" panose="02020603050405020304" charset="0"/>
              </a:rPr>
              <a:t>Project Scope &amp; Users </a:t>
            </a:r>
            <a:endParaRPr lang="en-US" altLang="zh-CN" sz="1600">
              <a:solidFill>
                <a:schemeClr val="tx1"/>
              </a:solidFill>
              <a:latin typeface="Times New Roman" panose="02020603050405020304" charset="0"/>
              <a:ea typeface="汉仪晓波花月圆W" panose="00020600040101010101" charset="-122"/>
              <a:cs typeface="Times New Roman" panose="02020603050405020304" charset="0"/>
            </a:endParaRPr>
          </a:p>
        </p:txBody>
      </p:sp>
      <p:sp>
        <p:nvSpPr>
          <p:cNvPr id="19" name="椭圆 18"/>
          <p:cNvSpPr/>
          <p:nvPr>
            <p:custDataLst>
              <p:tags r:id="rId13"/>
            </p:custDataLst>
          </p:nvPr>
        </p:nvSpPr>
        <p:spPr>
          <a:xfrm>
            <a:off x="4280535" y="2148205"/>
            <a:ext cx="1256030" cy="1256030"/>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20" name="文本框 19"/>
          <p:cNvSpPr txBox="1"/>
          <p:nvPr>
            <p:custDataLst>
              <p:tags r:id="rId14"/>
            </p:custDataLst>
          </p:nvPr>
        </p:nvSpPr>
        <p:spPr>
          <a:xfrm>
            <a:off x="4066540" y="3690620"/>
            <a:ext cx="1684020" cy="583565"/>
          </a:xfrm>
          <a:prstGeom prst="rect">
            <a:avLst/>
          </a:prstGeom>
          <a:noFill/>
        </p:spPr>
        <p:txBody>
          <a:bodyPr wrap="square" rtlCol="0" anchor="t">
            <a:spAutoFit/>
          </a:bodyPr>
          <a:p>
            <a:pPr algn="dist"/>
            <a:r>
              <a:rPr lang="en-US" altLang="zh-CN" sz="1600">
                <a:solidFill>
                  <a:schemeClr val="tx1"/>
                </a:solidFill>
                <a:latin typeface="Times New Roman" panose="02020603050405020304" charset="0"/>
                <a:ea typeface="汉仪晓波花月圆W" panose="00020600040101010101" charset="-122"/>
                <a:cs typeface="Times New Roman" panose="02020603050405020304" charset="0"/>
                <a:sym typeface="+mn-ea"/>
              </a:rPr>
              <a:t>Targeted Market &amp; Gap Analysis</a:t>
            </a:r>
            <a:endParaRPr lang="en-US" altLang="zh-CN" sz="16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21" name="椭圆 20"/>
          <p:cNvSpPr/>
          <p:nvPr>
            <p:custDataLst>
              <p:tags r:id="rId15"/>
            </p:custDataLst>
          </p:nvPr>
        </p:nvSpPr>
        <p:spPr>
          <a:xfrm>
            <a:off x="1708150" y="2148205"/>
            <a:ext cx="1256030" cy="1256030"/>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24" name="文本框 23"/>
          <p:cNvSpPr txBox="1"/>
          <p:nvPr>
            <p:custDataLst>
              <p:tags r:id="rId16"/>
            </p:custDataLst>
          </p:nvPr>
        </p:nvSpPr>
        <p:spPr>
          <a:xfrm>
            <a:off x="6841490" y="3690620"/>
            <a:ext cx="1274445" cy="583565"/>
          </a:xfrm>
          <a:prstGeom prst="rect">
            <a:avLst/>
          </a:prstGeom>
          <a:noFill/>
        </p:spPr>
        <p:txBody>
          <a:bodyPr wrap="square" rtlCol="0" anchor="t">
            <a:spAutoFit/>
          </a:bodyPr>
          <a:p>
            <a:pPr algn="dist"/>
            <a:r>
              <a:rPr lang="en-US" altLang="zh-CN" sz="1600">
                <a:solidFill>
                  <a:schemeClr val="tx1"/>
                </a:solidFill>
                <a:latin typeface="Times New Roman" panose="02020603050405020304" charset="0"/>
                <a:ea typeface="汉仪晓波花月圆W" panose="00020600040101010101" charset="-122"/>
                <a:cs typeface="Times New Roman" panose="02020603050405020304" charset="0"/>
                <a:sym typeface="+mn-ea"/>
              </a:rPr>
              <a:t>Solution Architecture</a:t>
            </a:r>
            <a:endParaRPr lang="en-US" altLang="zh-CN" sz="16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25" name="文本框 24"/>
          <p:cNvSpPr txBox="1"/>
          <p:nvPr>
            <p:custDataLst>
              <p:tags r:id="rId17"/>
            </p:custDataLst>
          </p:nvPr>
        </p:nvSpPr>
        <p:spPr>
          <a:xfrm>
            <a:off x="9206865" y="3690620"/>
            <a:ext cx="1684020" cy="337185"/>
          </a:xfrm>
          <a:prstGeom prst="rect">
            <a:avLst/>
          </a:prstGeom>
          <a:noFill/>
        </p:spPr>
        <p:txBody>
          <a:bodyPr wrap="square" rtlCol="0" anchor="t">
            <a:spAutoFit/>
          </a:bodyPr>
          <a:p>
            <a:pPr algn="dist"/>
            <a:r>
              <a:rPr lang="en-US" altLang="zh-CN" sz="1600">
                <a:solidFill>
                  <a:schemeClr val="tx1"/>
                </a:solidFill>
                <a:latin typeface="Times New Roman" panose="02020603050405020304" charset="0"/>
                <a:ea typeface="汉仪晓波花月圆W" panose="00020600040101010101" charset="-122"/>
                <a:cs typeface="Times New Roman" panose="02020603050405020304" charset="0"/>
                <a:sym typeface="+mn-ea"/>
              </a:rPr>
              <a:t>The Team </a:t>
            </a:r>
            <a:endParaRPr lang="en-US" altLang="zh-CN" sz="16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pic>
        <p:nvPicPr>
          <p:cNvPr id="26" name="图片 25" descr="4450887"/>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726930" y="2468880"/>
            <a:ext cx="644525" cy="644525"/>
          </a:xfrm>
          <a:prstGeom prst="rect">
            <a:avLst/>
          </a:prstGeom>
        </p:spPr>
      </p:pic>
      <p:sp>
        <p:nvSpPr>
          <p:cNvPr id="27" name="椭圆 26"/>
          <p:cNvSpPr/>
          <p:nvPr>
            <p:custDataLst>
              <p:tags r:id="rId21"/>
            </p:custDataLst>
          </p:nvPr>
        </p:nvSpPr>
        <p:spPr>
          <a:xfrm>
            <a:off x="1591310" y="2040890"/>
            <a:ext cx="1490345" cy="1490345"/>
          </a:xfrm>
          <a:prstGeom prst="ellipse">
            <a:avLst/>
          </a:prstGeom>
          <a:noFill/>
          <a:ln w="127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28" name="椭圆 27"/>
          <p:cNvSpPr/>
          <p:nvPr>
            <p:custDataLst>
              <p:tags r:id="rId22"/>
            </p:custDataLst>
          </p:nvPr>
        </p:nvSpPr>
        <p:spPr>
          <a:xfrm>
            <a:off x="4163060" y="2030730"/>
            <a:ext cx="1490345" cy="1490345"/>
          </a:xfrm>
          <a:prstGeom prst="ellipse">
            <a:avLst/>
          </a:prstGeom>
          <a:noFill/>
          <a:ln w="127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29" name="椭圆 28"/>
          <p:cNvSpPr/>
          <p:nvPr>
            <p:custDataLst>
              <p:tags r:id="rId23"/>
            </p:custDataLst>
          </p:nvPr>
        </p:nvSpPr>
        <p:spPr>
          <a:xfrm>
            <a:off x="6733540" y="2030730"/>
            <a:ext cx="1490345" cy="1490345"/>
          </a:xfrm>
          <a:prstGeom prst="ellipse">
            <a:avLst/>
          </a:prstGeom>
          <a:noFill/>
          <a:ln w="127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30" name="椭圆 29"/>
          <p:cNvSpPr/>
          <p:nvPr>
            <p:custDataLst>
              <p:tags r:id="rId24"/>
            </p:custDataLst>
          </p:nvPr>
        </p:nvSpPr>
        <p:spPr>
          <a:xfrm>
            <a:off x="9304020" y="2030730"/>
            <a:ext cx="1490345" cy="1490345"/>
          </a:xfrm>
          <a:prstGeom prst="ellipse">
            <a:avLst/>
          </a:prstGeom>
          <a:noFill/>
          <a:ln w="127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cxnSp>
        <p:nvCxnSpPr>
          <p:cNvPr id="31" name="直接连接符 30"/>
          <p:cNvCxnSpPr/>
          <p:nvPr/>
        </p:nvCxnSpPr>
        <p:spPr>
          <a:xfrm>
            <a:off x="4184015" y="1590675"/>
            <a:ext cx="832485"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178040" y="1590675"/>
            <a:ext cx="832485"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组合 14"/>
          <p:cNvGrpSpPr/>
          <p:nvPr/>
        </p:nvGrpSpPr>
        <p:grpSpPr>
          <a:xfrm>
            <a:off x="0" y="2952750"/>
            <a:ext cx="12193905" cy="952500"/>
            <a:chOff x="0" y="4786"/>
            <a:chExt cx="19203" cy="1500"/>
          </a:xfrm>
        </p:grpSpPr>
        <p:grpSp>
          <p:nvGrpSpPr>
            <p:cNvPr id="6" name="组合 5"/>
            <p:cNvGrpSpPr/>
            <p:nvPr/>
          </p:nvGrpSpPr>
          <p:grpSpPr>
            <a:xfrm rot="0">
              <a:off x="0" y="4786"/>
              <a:ext cx="5530" cy="1489"/>
              <a:chOff x="1180" y="1054"/>
              <a:chExt cx="4275" cy="1151"/>
            </a:xfrm>
          </p:grpSpPr>
          <p:cxnSp>
            <p:nvCxnSpPr>
              <p:cNvPr id="4" name="直接连接符 3"/>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rot="0" flipH="1" flipV="1">
              <a:off x="13673" y="4798"/>
              <a:ext cx="5530" cy="1489"/>
              <a:chOff x="1180" y="1054"/>
              <a:chExt cx="4275" cy="1151"/>
            </a:xfrm>
          </p:grpSpPr>
          <p:cxnSp>
            <p:nvCxnSpPr>
              <p:cNvPr id="11" name="直接连接符 10"/>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sp>
        <p:nvSpPr>
          <p:cNvPr id="5" name="文本框 4"/>
          <p:cNvSpPr txBox="1"/>
          <p:nvPr/>
        </p:nvSpPr>
        <p:spPr>
          <a:xfrm>
            <a:off x="3772535" y="3114675"/>
            <a:ext cx="4740910" cy="645160"/>
          </a:xfrm>
          <a:prstGeom prst="rect">
            <a:avLst/>
          </a:prstGeom>
          <a:noFill/>
        </p:spPr>
        <p:txBody>
          <a:bodyPr wrap="square" rtlCol="0" anchor="t">
            <a:spAutoFit/>
          </a:bodyPr>
          <a:p>
            <a:pPr algn="dist"/>
            <a:r>
              <a:rPr lang="en-US" altLang="zh-CN" sz="3600">
                <a:latin typeface="Times New Roman" panose="02020603050405020304" charset="0"/>
                <a:ea typeface="汉仪晓波花月圆W" panose="00020600040101010101" charset="-122"/>
                <a:cs typeface="Times New Roman" panose="02020603050405020304" charset="0"/>
                <a:sym typeface="+mn-ea"/>
              </a:rPr>
              <a:t>Project Scope &amp; Users </a:t>
            </a:r>
            <a:endParaRPr lang="zh-CN" altLang="en-US" sz="36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54050" y="1094740"/>
            <a:ext cx="1843405" cy="368300"/>
          </a:xfrm>
          <a:prstGeom prst="rect">
            <a:avLst/>
          </a:prstGeom>
          <a:noFill/>
        </p:spPr>
        <p:txBody>
          <a:bodyPr wrap="square" rtlCol="0" anchor="t">
            <a:spAutoFit/>
          </a:bodyPr>
          <a:p>
            <a:pPr algn="l"/>
            <a:r>
              <a:rPr lang="en-US" altLang="zh-CN">
                <a:solidFill>
                  <a:schemeClr val="tx1"/>
                </a:solidFill>
                <a:latin typeface="Times New Roman" panose="02020603050405020304" charset="0"/>
                <a:ea typeface="汉仪晓波花月圆W" panose="00020600040101010101" charset="-122"/>
                <a:cs typeface="Times New Roman" panose="02020603050405020304" charset="0"/>
                <a:sym typeface="+mn-ea"/>
              </a:rPr>
              <a:t>The Problem</a:t>
            </a:r>
            <a:r>
              <a:rPr lang="zh-CN" altLang="en-US" sz="1000">
                <a:solidFill>
                  <a:schemeClr val="tx1"/>
                </a:solidFill>
                <a:latin typeface="Times New Roman" panose="02020603050405020304" charset="0"/>
                <a:ea typeface="汉仪晓波花月圆W" panose="00020600040101010101" charset="-122"/>
                <a:cs typeface="Times New Roman" panose="02020603050405020304" charset="0"/>
              </a:rPr>
              <a:t> </a:t>
            </a:r>
            <a:endParaRPr lang="zh-CN" altLang="en-US" sz="10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17" name="文本框 16"/>
          <p:cNvSpPr txBox="1"/>
          <p:nvPr/>
        </p:nvSpPr>
        <p:spPr>
          <a:xfrm>
            <a:off x="654050" y="1707515"/>
            <a:ext cx="3990975" cy="2353310"/>
          </a:xfrm>
          <a:prstGeom prst="rect">
            <a:avLst/>
          </a:prstGeom>
          <a:noFill/>
        </p:spPr>
        <p:txBody>
          <a:bodyPr wrap="square" rtlCol="0" anchor="t">
            <a:spAutoFit/>
          </a:bodyPr>
          <a:p>
            <a:pPr algn="just">
              <a:lnSpc>
                <a:spcPct val="150000"/>
              </a:lnSpc>
            </a:pPr>
            <a:r>
              <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rPr>
              <a:t>When a research team writes a paper, every claim cites a source. But nobody verifies whether the source actually says what the claim claims it says. Checking one citation means downloading a PDF, searching for the right passage, and reading it — minutes per citation, hours per paper, and rarely done before submission.</a:t>
            </a:r>
            <a:endPar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grpSp>
        <p:nvGrpSpPr>
          <p:cNvPr id="31" name="组合 30"/>
          <p:cNvGrpSpPr/>
          <p:nvPr/>
        </p:nvGrpSpPr>
        <p:grpSpPr>
          <a:xfrm>
            <a:off x="861060" y="4250055"/>
            <a:ext cx="3214370" cy="603250"/>
            <a:chOff x="7029" y="8911"/>
            <a:chExt cx="4370" cy="820"/>
          </a:xfrm>
          <a:solidFill>
            <a:schemeClr val="tx1"/>
          </a:solidFill>
        </p:grpSpPr>
        <p:pic>
          <p:nvPicPr>
            <p:cNvPr id="43" name="图片 42" descr="350535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02" y="8911"/>
              <a:ext cx="820" cy="820"/>
            </a:xfrm>
            <a:prstGeom prst="rect">
              <a:avLst/>
            </a:prstGeom>
          </p:spPr>
        </p:pic>
        <p:pic>
          <p:nvPicPr>
            <p:cNvPr id="33" name="图片 32" descr="350437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1" y="8911"/>
              <a:ext cx="820" cy="820"/>
            </a:xfrm>
            <a:prstGeom prst="rect">
              <a:avLst/>
            </a:prstGeom>
          </p:spPr>
        </p:pic>
        <p:pic>
          <p:nvPicPr>
            <p:cNvPr id="29" name="图片 28" descr="350535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29" y="8911"/>
              <a:ext cx="820" cy="820"/>
            </a:xfrm>
            <a:prstGeom prst="rect">
              <a:avLst/>
            </a:prstGeom>
          </p:spPr>
        </p:pic>
        <p:pic>
          <p:nvPicPr>
            <p:cNvPr id="42" name="图片 41" descr="350540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79" y="8911"/>
              <a:ext cx="820" cy="820"/>
            </a:xfrm>
            <a:prstGeom prst="rect">
              <a:avLst/>
            </a:prstGeom>
          </p:spPr>
        </p:pic>
      </p:grpSp>
      <p:sp>
        <p:nvSpPr>
          <p:cNvPr id="18" name="圆角矩形 17"/>
          <p:cNvSpPr/>
          <p:nvPr/>
        </p:nvSpPr>
        <p:spPr>
          <a:xfrm>
            <a:off x="5974080" y="3428365"/>
            <a:ext cx="7194550" cy="2261235"/>
          </a:xfrm>
          <a:prstGeom prst="roundRect">
            <a:avLst>
              <a:gd name="adj" fmla="val 50000"/>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
        <p:nvSpPr>
          <p:cNvPr id="20" name="圆角矩形 19"/>
          <p:cNvSpPr/>
          <p:nvPr/>
        </p:nvSpPr>
        <p:spPr>
          <a:xfrm>
            <a:off x="8070850" y="1661795"/>
            <a:ext cx="2117090" cy="3533775"/>
          </a:xfrm>
          <a:prstGeom prst="roundRect">
            <a:avLst/>
          </a:prstGeom>
          <a:blipFill rotWithShape="1">
            <a:blip r:embed="rId9"/>
            <a:stretch>
              <a:fillRect/>
            </a:stretch>
          </a:blipFill>
          <a:ln w="254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flipV="1">
            <a:off x="5170170" y="2958465"/>
            <a:ext cx="1906270" cy="1440180"/>
          </a:xfrm>
          <a:prstGeom prst="line">
            <a:avLst/>
          </a:prstGeom>
          <a:ln>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2536825" y="2958465"/>
            <a:ext cx="1906270" cy="1440180"/>
          </a:xfrm>
          <a:prstGeom prst="line">
            <a:avLst/>
          </a:prstGeom>
          <a:ln>
            <a:solidFill>
              <a:srgbClr val="30506A"/>
            </a:solidFill>
          </a:ln>
        </p:spPr>
        <p:style>
          <a:lnRef idx="1">
            <a:schemeClr val="accent1"/>
          </a:lnRef>
          <a:fillRef idx="0">
            <a:schemeClr val="accent1"/>
          </a:fillRef>
          <a:effectRef idx="0">
            <a:schemeClr val="accent1"/>
          </a:effectRef>
          <a:fontRef idx="minor">
            <a:schemeClr val="tx1"/>
          </a:fontRef>
        </p:style>
      </p:cxnSp>
      <p:pic>
        <p:nvPicPr>
          <p:cNvPr id="3" name="图片 2" descr="350535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807835" y="4080510"/>
            <a:ext cx="1153160" cy="1153160"/>
          </a:xfrm>
          <a:prstGeom prst="rect">
            <a:avLst/>
          </a:prstGeom>
        </p:spPr>
      </p:pic>
      <p:pic>
        <p:nvPicPr>
          <p:cNvPr id="4" name="图片 3" descr="350437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31640" y="2149475"/>
            <a:ext cx="1153160" cy="1153160"/>
          </a:xfrm>
          <a:prstGeom prst="rect">
            <a:avLst/>
          </a:prstGeom>
        </p:spPr>
      </p:pic>
      <p:pic>
        <p:nvPicPr>
          <p:cNvPr id="5" name="图片 4" descr="350535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57350" y="4080510"/>
            <a:ext cx="1153160" cy="1153160"/>
          </a:xfrm>
          <a:prstGeom prst="rect">
            <a:avLst/>
          </a:prstGeom>
        </p:spPr>
      </p:pic>
      <p:sp>
        <p:nvSpPr>
          <p:cNvPr id="11" name="文本框 10"/>
          <p:cNvSpPr txBox="1"/>
          <p:nvPr/>
        </p:nvSpPr>
        <p:spPr>
          <a:xfrm>
            <a:off x="2901950" y="4216400"/>
            <a:ext cx="3391535" cy="1060450"/>
          </a:xfrm>
          <a:prstGeom prst="rect">
            <a:avLst/>
          </a:prstGeom>
          <a:noFill/>
        </p:spPr>
        <p:txBody>
          <a:bodyPr wrap="square" rtlCol="0" anchor="t">
            <a:spAutoFit/>
          </a:bodyPr>
          <a:p>
            <a:pPr algn="just">
              <a:lnSpc>
                <a:spcPct val="150000"/>
              </a:lnSpc>
            </a:pPr>
            <a:r>
              <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rPr>
              <a:t>Co-authors' claims are hard to trust — you didn't write them, but you're responsible for them</a:t>
            </a:r>
            <a:endPar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12" name="文本框 11"/>
          <p:cNvSpPr txBox="1"/>
          <p:nvPr/>
        </p:nvSpPr>
        <p:spPr>
          <a:xfrm>
            <a:off x="8052435" y="4216400"/>
            <a:ext cx="3391535" cy="737235"/>
          </a:xfrm>
          <a:prstGeom prst="rect">
            <a:avLst/>
          </a:prstGeom>
          <a:noFill/>
        </p:spPr>
        <p:txBody>
          <a:bodyPr wrap="square" rtlCol="0" anchor="t">
            <a:spAutoFit/>
          </a:bodyPr>
          <a:p>
            <a:pPr algn="just">
              <a:lnSpc>
                <a:spcPct val="150000"/>
              </a:lnSpc>
            </a:pPr>
            <a:r>
              <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rPr>
              <a:t>AI tools can fabricate references that look real but don't exist</a:t>
            </a:r>
            <a:endPar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14" name="文本框 13"/>
          <p:cNvSpPr txBox="1"/>
          <p:nvPr/>
        </p:nvSpPr>
        <p:spPr>
          <a:xfrm>
            <a:off x="725805" y="1917065"/>
            <a:ext cx="3391535" cy="1060450"/>
          </a:xfrm>
          <a:prstGeom prst="rect">
            <a:avLst/>
          </a:prstGeom>
          <a:noFill/>
        </p:spPr>
        <p:txBody>
          <a:bodyPr wrap="square" rtlCol="0" anchor="t">
            <a:spAutoFit/>
          </a:bodyPr>
          <a:p>
            <a:pPr algn="r">
              <a:lnSpc>
                <a:spcPct val="150000"/>
              </a:lnSpc>
            </a:pPr>
            <a:r>
              <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rPr>
              <a:t>Verifying a citation is slow and breaks the writing flow (leave Overleaf → search → read → come back)</a:t>
            </a:r>
            <a:endPar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2" name="文本框 1"/>
          <p:cNvSpPr txBox="1"/>
          <p:nvPr/>
        </p:nvSpPr>
        <p:spPr>
          <a:xfrm>
            <a:off x="669290" y="445770"/>
            <a:ext cx="4064000"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Users' pain points</a:t>
            </a: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669290" y="436880"/>
            <a:ext cx="2315210" cy="368300"/>
          </a:xfrm>
          <a:prstGeom prst="rect">
            <a:avLst/>
          </a:prstGeom>
          <a:noFill/>
        </p:spPr>
        <p:txBody>
          <a:bodyPr wrap="square" rtlCol="0" anchor="t">
            <a:spAutoFit/>
          </a:bodyPr>
          <a:p>
            <a:pPr algn="l"/>
            <a:r>
              <a:rPr lang="en-US" altLang="zh-CN">
                <a:solidFill>
                  <a:schemeClr val="tx1"/>
                </a:solidFill>
                <a:latin typeface="Times New Roman" panose="02020603050405020304" charset="0"/>
                <a:ea typeface="汉仪晓波花月圆W" panose="00020600040101010101" charset="-122"/>
                <a:cs typeface="Times New Roman" panose="02020603050405020304" charset="0"/>
                <a:sym typeface="+mn-ea"/>
              </a:rPr>
              <a:t>Scope &amp; objective</a:t>
            </a:r>
            <a:endParaRPr lang="en-US" altLang="zh-CN">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
        <p:nvSpPr>
          <p:cNvPr id="17" name="文本框 16"/>
          <p:cNvSpPr txBox="1"/>
          <p:nvPr/>
        </p:nvSpPr>
        <p:spPr>
          <a:xfrm>
            <a:off x="654050" y="1707515"/>
            <a:ext cx="3990975" cy="2030095"/>
          </a:xfrm>
          <a:prstGeom prst="rect">
            <a:avLst/>
          </a:prstGeom>
          <a:noFill/>
        </p:spPr>
        <p:txBody>
          <a:bodyPr wrap="square" rtlCol="0" anchor="t">
            <a:spAutoFit/>
          </a:bodyPr>
          <a:p>
            <a:pPr algn="just">
              <a:lnSpc>
                <a:spcPct val="150000"/>
              </a:lnSpc>
            </a:pPr>
            <a:r>
              <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rPr>
              <a:t>ClaimTrace is an academic citation audit tool embedded in Overleaf. Hover any \cite{...} and instantly see the original source passage it points to, aligned against the claim that cites it — so you catch misquoted, over-stated, or hallucinated citations while you write, not after reviewers do.</a:t>
            </a:r>
            <a:endParaRPr lang="en-US" altLang="zh-CN" sz="1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grpSp>
        <p:nvGrpSpPr>
          <p:cNvPr id="31" name="组合 30"/>
          <p:cNvGrpSpPr/>
          <p:nvPr/>
        </p:nvGrpSpPr>
        <p:grpSpPr>
          <a:xfrm>
            <a:off x="861060" y="4250055"/>
            <a:ext cx="3214370" cy="603250"/>
            <a:chOff x="7029" y="8911"/>
            <a:chExt cx="4370" cy="820"/>
          </a:xfrm>
          <a:solidFill>
            <a:schemeClr val="tx1"/>
          </a:solidFill>
        </p:grpSpPr>
        <p:pic>
          <p:nvPicPr>
            <p:cNvPr id="43" name="图片 42" descr="350535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402" y="8911"/>
              <a:ext cx="820" cy="820"/>
            </a:xfrm>
            <a:prstGeom prst="rect">
              <a:avLst/>
            </a:prstGeom>
          </p:spPr>
        </p:pic>
        <p:pic>
          <p:nvPicPr>
            <p:cNvPr id="33" name="图片 32" descr="350437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21" y="8911"/>
              <a:ext cx="820" cy="820"/>
            </a:xfrm>
            <a:prstGeom prst="rect">
              <a:avLst/>
            </a:prstGeom>
          </p:spPr>
        </p:pic>
        <p:pic>
          <p:nvPicPr>
            <p:cNvPr id="29" name="图片 28" descr="350535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29" y="8911"/>
              <a:ext cx="820" cy="820"/>
            </a:xfrm>
            <a:prstGeom prst="rect">
              <a:avLst/>
            </a:prstGeom>
          </p:spPr>
        </p:pic>
        <p:pic>
          <p:nvPicPr>
            <p:cNvPr id="42" name="图片 41" descr="350540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79" y="8911"/>
              <a:ext cx="820" cy="820"/>
            </a:xfrm>
            <a:prstGeom prst="rect">
              <a:avLst/>
            </a:prstGeom>
          </p:spPr>
        </p:pic>
      </p:grpSp>
      <p:sp>
        <p:nvSpPr>
          <p:cNvPr id="18" name="圆角矩形 17"/>
          <p:cNvSpPr/>
          <p:nvPr/>
        </p:nvSpPr>
        <p:spPr>
          <a:xfrm>
            <a:off x="5974080" y="3428365"/>
            <a:ext cx="7194550" cy="2261235"/>
          </a:xfrm>
          <a:prstGeom prst="roundRect">
            <a:avLst>
              <a:gd name="adj" fmla="val 50000"/>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
        <p:nvSpPr>
          <p:cNvPr id="20" name="圆角矩形 19"/>
          <p:cNvSpPr/>
          <p:nvPr/>
        </p:nvSpPr>
        <p:spPr>
          <a:xfrm>
            <a:off x="8070850" y="1661795"/>
            <a:ext cx="2117090" cy="3533775"/>
          </a:xfrm>
          <a:prstGeom prst="roundRect">
            <a:avLst/>
          </a:prstGeom>
          <a:blipFill rotWithShape="1">
            <a:blip r:embed="rId9"/>
            <a:stretch>
              <a:fillRect/>
            </a:stretch>
          </a:blipFill>
          <a:ln w="254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组合 14"/>
          <p:cNvGrpSpPr/>
          <p:nvPr/>
        </p:nvGrpSpPr>
        <p:grpSpPr>
          <a:xfrm>
            <a:off x="0" y="2952750"/>
            <a:ext cx="12193905" cy="952500"/>
            <a:chOff x="0" y="4786"/>
            <a:chExt cx="19203" cy="1500"/>
          </a:xfrm>
        </p:grpSpPr>
        <p:grpSp>
          <p:nvGrpSpPr>
            <p:cNvPr id="6" name="组合 5"/>
            <p:cNvGrpSpPr/>
            <p:nvPr/>
          </p:nvGrpSpPr>
          <p:grpSpPr>
            <a:xfrm rot="0">
              <a:off x="0" y="4786"/>
              <a:ext cx="5530" cy="1489"/>
              <a:chOff x="1180" y="1054"/>
              <a:chExt cx="4275" cy="1151"/>
            </a:xfrm>
          </p:grpSpPr>
          <p:cxnSp>
            <p:nvCxnSpPr>
              <p:cNvPr id="4" name="直接连接符 3"/>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rot="0" flipH="1" flipV="1">
              <a:off x="13673" y="4798"/>
              <a:ext cx="5530" cy="1489"/>
              <a:chOff x="1180" y="1054"/>
              <a:chExt cx="4275" cy="1151"/>
            </a:xfrm>
          </p:grpSpPr>
          <p:cxnSp>
            <p:nvCxnSpPr>
              <p:cNvPr id="11" name="直接连接符 10"/>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sp>
        <p:nvSpPr>
          <p:cNvPr id="5" name="文本框 4"/>
          <p:cNvSpPr txBox="1"/>
          <p:nvPr/>
        </p:nvSpPr>
        <p:spPr>
          <a:xfrm>
            <a:off x="3641725" y="3075940"/>
            <a:ext cx="4909820" cy="829945"/>
          </a:xfrm>
          <a:prstGeom prst="rect">
            <a:avLst/>
          </a:prstGeom>
          <a:noFill/>
        </p:spPr>
        <p:txBody>
          <a:bodyPr wrap="square" rtlCol="0" anchor="t">
            <a:spAutoFit/>
          </a:bodyPr>
          <a:p>
            <a:pPr algn="dist"/>
            <a:r>
              <a:rPr lang="en-US" altLang="zh-CN" sz="2400">
                <a:latin typeface="Times New Roman" panose="02020603050405020304" charset="0"/>
                <a:ea typeface="汉仪晓波花月圆W" panose="00020600040101010101" charset="-122"/>
                <a:cs typeface="Times New Roman" panose="02020603050405020304" charset="0"/>
                <a:sym typeface="+mn-ea"/>
              </a:rPr>
              <a:t>Targeted Market &amp; Gap Analysis</a:t>
            </a:r>
            <a:endParaRPr lang="en-US" altLang="zh-CN" sz="2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a:p>
            <a:pPr algn="dist"/>
            <a:endParaRPr lang="zh-CN" altLang="en-US" sz="2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10" name="直接连接符 9"/>
          <p:cNvCxnSpPr/>
          <p:nvPr/>
        </p:nvCxnSpPr>
        <p:spPr>
          <a:xfrm>
            <a:off x="4011295" y="3600450"/>
            <a:ext cx="4169410"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flipV="1">
            <a:off x="4107815" y="4172585"/>
            <a:ext cx="3977005" cy="813435"/>
            <a:chOff x="6469" y="3218"/>
            <a:chExt cx="6263" cy="1281"/>
          </a:xfrm>
        </p:grpSpPr>
        <p:cxnSp>
          <p:nvCxnSpPr>
            <p:cNvPr id="28" name="直接连接符 27"/>
            <p:cNvCxnSpPr/>
            <p:nvPr/>
          </p:nvCxnSpPr>
          <p:spPr>
            <a:xfrm>
              <a:off x="7919" y="4499"/>
              <a:ext cx="3363"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7919" y="3218"/>
              <a:ext cx="0" cy="1281"/>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6469" y="3218"/>
              <a:ext cx="1450"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11282" y="3218"/>
              <a:ext cx="0" cy="1281"/>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1282" y="3218"/>
              <a:ext cx="1450"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4107815" y="2214880"/>
            <a:ext cx="3977005" cy="813435"/>
            <a:chOff x="6469" y="3218"/>
            <a:chExt cx="6263" cy="1281"/>
          </a:xfrm>
        </p:grpSpPr>
        <p:cxnSp>
          <p:nvCxnSpPr>
            <p:cNvPr id="5" name="直接连接符 4"/>
            <p:cNvCxnSpPr/>
            <p:nvPr/>
          </p:nvCxnSpPr>
          <p:spPr>
            <a:xfrm>
              <a:off x="7919" y="4499"/>
              <a:ext cx="3363"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7919" y="3218"/>
              <a:ext cx="0" cy="1281"/>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469" y="3218"/>
              <a:ext cx="1450"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11282" y="3218"/>
              <a:ext cx="0" cy="1281"/>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1282" y="3218"/>
              <a:ext cx="1450" cy="0"/>
            </a:xfrm>
            <a:prstGeom prst="line">
              <a:avLst/>
            </a:prstGeom>
            <a:ln w="25400">
              <a:solidFill>
                <a:srgbClr val="96CDDF"/>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产品功能</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Product function</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
        <p:nvSpPr>
          <p:cNvPr id="3" name="菱形 2"/>
          <p:cNvSpPr/>
          <p:nvPr/>
        </p:nvSpPr>
        <p:spPr>
          <a:xfrm>
            <a:off x="4907280" y="2411730"/>
            <a:ext cx="2377440" cy="2377440"/>
          </a:xfrm>
          <a:prstGeom prst="diamond">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 name="图片 3" descr="452247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23893" y="3028264"/>
            <a:ext cx="1144214" cy="1144553"/>
          </a:xfrm>
          <a:prstGeom prst="rect">
            <a:avLst/>
          </a:prstGeom>
        </p:spPr>
      </p:pic>
      <p:sp>
        <p:nvSpPr>
          <p:cNvPr id="8" name="椭圆 7"/>
          <p:cNvSpPr/>
          <p:nvPr/>
        </p:nvSpPr>
        <p:spPr>
          <a:xfrm>
            <a:off x="3521075" y="1824355"/>
            <a:ext cx="781050" cy="78105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pic>
        <p:nvPicPr>
          <p:cNvPr id="54" name="图片 53" descr="35065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84270" y="1987550"/>
            <a:ext cx="454025" cy="454025"/>
          </a:xfrm>
          <a:prstGeom prst="rect">
            <a:avLst/>
          </a:prstGeom>
        </p:spPr>
      </p:pic>
      <p:sp>
        <p:nvSpPr>
          <p:cNvPr id="11" name="椭圆 10"/>
          <p:cNvSpPr/>
          <p:nvPr/>
        </p:nvSpPr>
        <p:spPr>
          <a:xfrm>
            <a:off x="3521075" y="3209925"/>
            <a:ext cx="781050" cy="78105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pic>
        <p:nvPicPr>
          <p:cNvPr id="58" name="图片 57" descr="3506570"/>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84270" y="3382010"/>
            <a:ext cx="436245" cy="436245"/>
          </a:xfrm>
          <a:prstGeom prst="rect">
            <a:avLst/>
          </a:prstGeom>
        </p:spPr>
      </p:pic>
      <p:sp>
        <p:nvSpPr>
          <p:cNvPr id="39" name="椭圆 38"/>
          <p:cNvSpPr/>
          <p:nvPr/>
        </p:nvSpPr>
        <p:spPr>
          <a:xfrm>
            <a:off x="3521075" y="4595495"/>
            <a:ext cx="781050" cy="78105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pic>
        <p:nvPicPr>
          <p:cNvPr id="81" name="图片 80" descr="3506602"/>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67760" y="4742180"/>
            <a:ext cx="487680" cy="487680"/>
          </a:xfrm>
          <a:prstGeom prst="rect">
            <a:avLst/>
          </a:prstGeom>
        </p:spPr>
      </p:pic>
      <p:sp>
        <p:nvSpPr>
          <p:cNvPr id="40" name="文本框 39"/>
          <p:cNvSpPr txBox="1"/>
          <p:nvPr/>
        </p:nvSpPr>
        <p:spPr>
          <a:xfrm>
            <a:off x="654050" y="1777365"/>
            <a:ext cx="2751455" cy="875665"/>
          </a:xfrm>
          <a:prstGeom prst="rect">
            <a:avLst/>
          </a:prstGeom>
          <a:noFill/>
        </p:spPr>
        <p:txBody>
          <a:bodyPr wrap="square" rtlCol="0" anchor="t">
            <a:spAutoFit/>
          </a:bodyPr>
          <a:p>
            <a:pPr algn="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请在此输入产品功能详细内容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42" name="文本框 41"/>
          <p:cNvSpPr txBox="1"/>
          <p:nvPr/>
        </p:nvSpPr>
        <p:spPr>
          <a:xfrm>
            <a:off x="654050" y="3162935"/>
            <a:ext cx="2751455" cy="875665"/>
          </a:xfrm>
          <a:prstGeom prst="rect">
            <a:avLst/>
          </a:prstGeom>
          <a:noFill/>
        </p:spPr>
        <p:txBody>
          <a:bodyPr wrap="square" rtlCol="0" anchor="t">
            <a:spAutoFit/>
          </a:bodyPr>
          <a:p>
            <a:pPr algn="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功能</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43" name="文本框 42"/>
          <p:cNvSpPr txBox="1"/>
          <p:nvPr/>
        </p:nvSpPr>
        <p:spPr>
          <a:xfrm>
            <a:off x="654050" y="4548505"/>
            <a:ext cx="2751455" cy="875665"/>
          </a:xfrm>
          <a:prstGeom prst="rect">
            <a:avLst/>
          </a:prstGeom>
          <a:noFill/>
        </p:spPr>
        <p:txBody>
          <a:bodyPr wrap="square" rtlCol="0" anchor="t">
            <a:spAutoFit/>
          </a:bodyPr>
          <a:p>
            <a:pPr algn="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功能</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44" name="椭圆 43"/>
          <p:cNvSpPr/>
          <p:nvPr/>
        </p:nvSpPr>
        <p:spPr>
          <a:xfrm>
            <a:off x="7889240" y="1824990"/>
            <a:ext cx="781050" cy="78105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45" name="椭圆 44"/>
          <p:cNvSpPr/>
          <p:nvPr/>
        </p:nvSpPr>
        <p:spPr>
          <a:xfrm>
            <a:off x="7889240" y="3209290"/>
            <a:ext cx="781050" cy="78105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46" name="椭圆 45"/>
          <p:cNvSpPr/>
          <p:nvPr/>
        </p:nvSpPr>
        <p:spPr>
          <a:xfrm>
            <a:off x="7889240" y="4596130"/>
            <a:ext cx="781050" cy="78105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pic>
        <p:nvPicPr>
          <p:cNvPr id="82" name="图片 81" descr="350656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36560" y="1972310"/>
            <a:ext cx="487045" cy="487045"/>
          </a:xfrm>
          <a:prstGeom prst="rect">
            <a:avLst/>
          </a:prstGeom>
        </p:spPr>
      </p:pic>
      <p:pic>
        <p:nvPicPr>
          <p:cNvPr id="47" name="图片 46" descr="350656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67040" y="3382010"/>
            <a:ext cx="425450" cy="425450"/>
          </a:xfrm>
          <a:prstGeom prst="rect">
            <a:avLst/>
          </a:prstGeom>
        </p:spPr>
      </p:pic>
      <p:pic>
        <p:nvPicPr>
          <p:cNvPr id="48" name="图片 47" descr="350657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067040" y="4765040"/>
            <a:ext cx="451485" cy="451485"/>
          </a:xfrm>
          <a:prstGeom prst="rect">
            <a:avLst/>
          </a:prstGeom>
        </p:spPr>
      </p:pic>
      <p:sp>
        <p:nvSpPr>
          <p:cNvPr id="49" name="文本框 48"/>
          <p:cNvSpPr txBox="1"/>
          <p:nvPr/>
        </p:nvSpPr>
        <p:spPr>
          <a:xfrm>
            <a:off x="8785860" y="1778000"/>
            <a:ext cx="2751455" cy="875665"/>
          </a:xfrm>
          <a:prstGeom prst="rect">
            <a:avLst/>
          </a:prstGeom>
          <a:noFill/>
        </p:spPr>
        <p:txBody>
          <a:bodyPr wrap="square" rtlCol="0" anchor="t">
            <a:spAutoFit/>
          </a:bodyPr>
          <a:p>
            <a:pPr algn="l">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l">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功能</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51" name="文本框 50"/>
          <p:cNvSpPr txBox="1"/>
          <p:nvPr/>
        </p:nvSpPr>
        <p:spPr>
          <a:xfrm>
            <a:off x="8785860" y="3114675"/>
            <a:ext cx="2751455" cy="875665"/>
          </a:xfrm>
          <a:prstGeom prst="rect">
            <a:avLst/>
          </a:prstGeom>
          <a:noFill/>
        </p:spPr>
        <p:txBody>
          <a:bodyPr wrap="square" rtlCol="0" anchor="t">
            <a:spAutoFit/>
          </a:bodyPr>
          <a:p>
            <a:pPr algn="l">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l">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功能</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52" name="文本框 51"/>
          <p:cNvSpPr txBox="1"/>
          <p:nvPr/>
        </p:nvSpPr>
        <p:spPr>
          <a:xfrm>
            <a:off x="8785860" y="4547870"/>
            <a:ext cx="2751455" cy="875665"/>
          </a:xfrm>
          <a:prstGeom prst="rect">
            <a:avLst/>
          </a:prstGeom>
          <a:noFill/>
        </p:spPr>
        <p:txBody>
          <a:bodyPr wrap="square" rtlCol="0" anchor="t">
            <a:spAutoFit/>
          </a:bodyPr>
          <a:p>
            <a:pPr algn="l">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l">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功能</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产品功能</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Product function</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cxnSp>
        <p:nvCxnSpPr>
          <p:cNvPr id="2" name="直接连接符 1"/>
          <p:cNvCxnSpPr/>
          <p:nvPr/>
        </p:nvCxnSpPr>
        <p:spPr>
          <a:xfrm>
            <a:off x="-6032" y="3726180"/>
            <a:ext cx="12204065"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sp>
        <p:nvSpPr>
          <p:cNvPr id="20" name="椭圆 19"/>
          <p:cNvSpPr/>
          <p:nvPr/>
        </p:nvSpPr>
        <p:spPr>
          <a:xfrm>
            <a:off x="5926138" y="3556000"/>
            <a:ext cx="339725" cy="339725"/>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17" name="椭圆 16"/>
          <p:cNvSpPr/>
          <p:nvPr/>
        </p:nvSpPr>
        <p:spPr>
          <a:xfrm>
            <a:off x="3811588" y="3556635"/>
            <a:ext cx="339725" cy="339725"/>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18" name="椭圆 17"/>
          <p:cNvSpPr/>
          <p:nvPr/>
        </p:nvSpPr>
        <p:spPr>
          <a:xfrm>
            <a:off x="1697038" y="3567430"/>
            <a:ext cx="339725" cy="339725"/>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19" name="椭圆 18"/>
          <p:cNvSpPr/>
          <p:nvPr/>
        </p:nvSpPr>
        <p:spPr>
          <a:xfrm>
            <a:off x="8040688" y="3556000"/>
            <a:ext cx="339725" cy="339725"/>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21" name="椭圆 20"/>
          <p:cNvSpPr/>
          <p:nvPr/>
        </p:nvSpPr>
        <p:spPr>
          <a:xfrm>
            <a:off x="10158413" y="3568065"/>
            <a:ext cx="339725" cy="339725"/>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900">
              <a:latin typeface="汉仪晓波花月圆W" panose="00020600040101010101" charset="-122"/>
              <a:ea typeface="汉仪晓波花月圆W" panose="00020600040101010101" charset="-122"/>
            </a:endParaRPr>
          </a:p>
        </p:txBody>
      </p:sp>
      <p:sp>
        <p:nvSpPr>
          <p:cNvPr id="22" name="椭圆 21"/>
          <p:cNvSpPr/>
          <p:nvPr/>
        </p:nvSpPr>
        <p:spPr>
          <a:xfrm>
            <a:off x="1476375" y="2435225"/>
            <a:ext cx="781050" cy="781050"/>
          </a:xfrm>
          <a:prstGeom prst="ellipse">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latin typeface="汉仪晓波花月圆W" panose="00020600040101010101" charset="-122"/>
                <a:ea typeface="汉仪晓波花月圆W" panose="00020600040101010101" charset="-122"/>
              </a:rPr>
              <a:t>01</a:t>
            </a:r>
            <a:endParaRPr lang="en-US" altLang="zh-CN" sz="2000">
              <a:solidFill>
                <a:schemeClr val="tx1"/>
              </a:solidFill>
              <a:latin typeface="汉仪晓波花月圆W" panose="00020600040101010101" charset="-122"/>
              <a:ea typeface="汉仪晓波花月圆W" panose="00020600040101010101" charset="-122"/>
            </a:endParaRPr>
          </a:p>
        </p:txBody>
      </p:sp>
      <p:sp>
        <p:nvSpPr>
          <p:cNvPr id="24" name="文本框 23"/>
          <p:cNvSpPr txBox="1"/>
          <p:nvPr/>
        </p:nvSpPr>
        <p:spPr>
          <a:xfrm>
            <a:off x="688340" y="4124960"/>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25" name="椭圆 24"/>
          <p:cNvSpPr/>
          <p:nvPr/>
        </p:nvSpPr>
        <p:spPr>
          <a:xfrm>
            <a:off x="3591560" y="4233545"/>
            <a:ext cx="781050" cy="781050"/>
          </a:xfrm>
          <a:prstGeom prst="ellipse">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latin typeface="汉仪晓波花月圆W" panose="00020600040101010101" charset="-122"/>
                <a:ea typeface="汉仪晓波花月圆W" panose="00020600040101010101" charset="-122"/>
              </a:rPr>
              <a:t>02</a:t>
            </a:r>
            <a:endParaRPr lang="en-US" altLang="zh-CN" sz="2000">
              <a:solidFill>
                <a:schemeClr val="tx1"/>
              </a:solidFill>
              <a:latin typeface="汉仪晓波花月圆W" panose="00020600040101010101" charset="-122"/>
              <a:ea typeface="汉仪晓波花月圆W" panose="00020600040101010101" charset="-122"/>
            </a:endParaRPr>
          </a:p>
        </p:txBody>
      </p:sp>
      <p:sp>
        <p:nvSpPr>
          <p:cNvPr id="26" name="文本框 25"/>
          <p:cNvSpPr txBox="1"/>
          <p:nvPr/>
        </p:nvSpPr>
        <p:spPr>
          <a:xfrm>
            <a:off x="2802255" y="2109470"/>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27" name="椭圆 26"/>
          <p:cNvSpPr/>
          <p:nvPr/>
        </p:nvSpPr>
        <p:spPr>
          <a:xfrm>
            <a:off x="5705475" y="2435225"/>
            <a:ext cx="781050" cy="781050"/>
          </a:xfrm>
          <a:prstGeom prst="ellipse">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latin typeface="汉仪晓波花月圆W" panose="00020600040101010101" charset="-122"/>
                <a:ea typeface="汉仪晓波花月圆W" panose="00020600040101010101" charset="-122"/>
              </a:rPr>
              <a:t>03</a:t>
            </a:r>
            <a:endParaRPr lang="en-US" altLang="zh-CN" sz="2000">
              <a:solidFill>
                <a:schemeClr val="tx1"/>
              </a:solidFill>
              <a:latin typeface="汉仪晓波花月圆W" panose="00020600040101010101" charset="-122"/>
              <a:ea typeface="汉仪晓波花月圆W" panose="00020600040101010101" charset="-122"/>
            </a:endParaRPr>
          </a:p>
        </p:txBody>
      </p:sp>
      <p:sp>
        <p:nvSpPr>
          <p:cNvPr id="29" name="文本框 28"/>
          <p:cNvSpPr txBox="1"/>
          <p:nvPr/>
        </p:nvSpPr>
        <p:spPr>
          <a:xfrm>
            <a:off x="4917440" y="4124960"/>
            <a:ext cx="2358390" cy="1106805"/>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30" name="椭圆 29"/>
          <p:cNvSpPr/>
          <p:nvPr/>
        </p:nvSpPr>
        <p:spPr>
          <a:xfrm>
            <a:off x="7820025" y="4233545"/>
            <a:ext cx="781050" cy="781050"/>
          </a:xfrm>
          <a:prstGeom prst="ellipse">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latin typeface="汉仪晓波花月圆W" panose="00020600040101010101" charset="-122"/>
                <a:ea typeface="汉仪晓波花月圆W" panose="00020600040101010101" charset="-122"/>
              </a:rPr>
              <a:t>04</a:t>
            </a:r>
            <a:endParaRPr lang="en-US" altLang="zh-CN" sz="2000">
              <a:solidFill>
                <a:schemeClr val="tx1"/>
              </a:solidFill>
              <a:latin typeface="汉仪晓波花月圆W" panose="00020600040101010101" charset="-122"/>
              <a:ea typeface="汉仪晓波花月圆W" panose="00020600040101010101" charset="-122"/>
            </a:endParaRPr>
          </a:p>
        </p:txBody>
      </p:sp>
      <p:sp>
        <p:nvSpPr>
          <p:cNvPr id="31" name="文本框 30"/>
          <p:cNvSpPr txBox="1"/>
          <p:nvPr/>
        </p:nvSpPr>
        <p:spPr>
          <a:xfrm>
            <a:off x="7031355" y="2109470"/>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32" name="椭圆 31"/>
          <p:cNvSpPr/>
          <p:nvPr/>
        </p:nvSpPr>
        <p:spPr>
          <a:xfrm>
            <a:off x="9937750" y="2393950"/>
            <a:ext cx="781050" cy="781050"/>
          </a:xfrm>
          <a:prstGeom prst="ellipse">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a:solidFill>
                  <a:schemeClr val="tx1"/>
                </a:solidFill>
                <a:latin typeface="汉仪晓波花月圆W" panose="00020600040101010101" charset="-122"/>
                <a:ea typeface="汉仪晓波花月圆W" panose="00020600040101010101" charset="-122"/>
              </a:rPr>
              <a:t>05</a:t>
            </a:r>
            <a:endParaRPr lang="en-US" altLang="zh-CN" sz="2000">
              <a:solidFill>
                <a:schemeClr val="tx1"/>
              </a:solidFill>
              <a:latin typeface="汉仪晓波花月圆W" panose="00020600040101010101" charset="-122"/>
              <a:ea typeface="汉仪晓波花月圆W" panose="00020600040101010101" charset="-122"/>
            </a:endParaRPr>
          </a:p>
        </p:txBody>
      </p:sp>
      <p:sp>
        <p:nvSpPr>
          <p:cNvPr id="33" name="文本框 32"/>
          <p:cNvSpPr txBox="1"/>
          <p:nvPr/>
        </p:nvSpPr>
        <p:spPr>
          <a:xfrm>
            <a:off x="9149715" y="4124960"/>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产品功能</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Product function</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
        <p:nvSpPr>
          <p:cNvPr id="3" name="圆角矩形 2"/>
          <p:cNvSpPr/>
          <p:nvPr/>
        </p:nvSpPr>
        <p:spPr>
          <a:xfrm rot="18900000">
            <a:off x="1059180" y="2134235"/>
            <a:ext cx="1725930" cy="1725930"/>
          </a:xfrm>
          <a:prstGeom prst="roundRect">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6" name="图片 35" descr="350546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58290" y="2632710"/>
            <a:ext cx="728345" cy="728345"/>
          </a:xfrm>
          <a:prstGeom prst="rect">
            <a:avLst/>
          </a:prstGeom>
        </p:spPr>
      </p:pic>
      <p:sp>
        <p:nvSpPr>
          <p:cNvPr id="4" name="文本框 3"/>
          <p:cNvSpPr txBox="1"/>
          <p:nvPr/>
        </p:nvSpPr>
        <p:spPr>
          <a:xfrm>
            <a:off x="742950" y="4293870"/>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5" name="圆角矩形 4"/>
          <p:cNvSpPr/>
          <p:nvPr/>
        </p:nvSpPr>
        <p:spPr>
          <a:xfrm rot="18900000">
            <a:off x="3835400" y="2133600"/>
            <a:ext cx="1725930" cy="1725930"/>
          </a:xfrm>
          <a:prstGeom prst="roundRect">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0" name="图片 39" descr="350543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59885" y="2458085"/>
            <a:ext cx="1076960" cy="1076960"/>
          </a:xfrm>
          <a:prstGeom prst="rect">
            <a:avLst/>
          </a:prstGeom>
        </p:spPr>
      </p:pic>
      <p:sp>
        <p:nvSpPr>
          <p:cNvPr id="6" name="文本框 5"/>
          <p:cNvSpPr txBox="1"/>
          <p:nvPr/>
        </p:nvSpPr>
        <p:spPr>
          <a:xfrm>
            <a:off x="3519170" y="4293870"/>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7" name="圆角矩形 6"/>
          <p:cNvSpPr/>
          <p:nvPr/>
        </p:nvSpPr>
        <p:spPr>
          <a:xfrm rot="18900000">
            <a:off x="6617970" y="2134235"/>
            <a:ext cx="1725930" cy="1725930"/>
          </a:xfrm>
          <a:prstGeom prst="roundRect">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44" name="图片 43" descr="3506668"/>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73265" y="2589530"/>
            <a:ext cx="815340" cy="815340"/>
          </a:xfrm>
          <a:prstGeom prst="rect">
            <a:avLst/>
          </a:prstGeom>
        </p:spPr>
      </p:pic>
      <p:sp>
        <p:nvSpPr>
          <p:cNvPr id="8" name="文本框 7"/>
          <p:cNvSpPr txBox="1"/>
          <p:nvPr/>
        </p:nvSpPr>
        <p:spPr>
          <a:xfrm>
            <a:off x="6301740" y="4294505"/>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10" name="圆角矩形 9"/>
          <p:cNvSpPr/>
          <p:nvPr/>
        </p:nvSpPr>
        <p:spPr>
          <a:xfrm rot="18900000">
            <a:off x="9406890" y="2134235"/>
            <a:ext cx="1725930" cy="1725930"/>
          </a:xfrm>
          <a:prstGeom prst="roundRect">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文本框 11"/>
          <p:cNvSpPr txBox="1"/>
          <p:nvPr/>
        </p:nvSpPr>
        <p:spPr>
          <a:xfrm>
            <a:off x="9090660" y="4294505"/>
            <a:ext cx="2358390" cy="1106805"/>
          </a:xfrm>
          <a:prstGeom prst="rect">
            <a:avLst/>
          </a:prstGeom>
          <a:noFill/>
        </p:spPr>
        <p:txBody>
          <a:bodyPr wrap="square" rtlCol="0" anchor="t">
            <a:spAutoFit/>
          </a:bodyPr>
          <a:p>
            <a:pPr algn="ctr">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产品功能标题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pic>
        <p:nvPicPr>
          <p:cNvPr id="51" name="图片 50" descr="363245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44100" y="2632710"/>
            <a:ext cx="651510" cy="651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组合 14"/>
          <p:cNvGrpSpPr/>
          <p:nvPr/>
        </p:nvGrpSpPr>
        <p:grpSpPr>
          <a:xfrm>
            <a:off x="0" y="2952750"/>
            <a:ext cx="12193905" cy="952500"/>
            <a:chOff x="0" y="4786"/>
            <a:chExt cx="19203" cy="1500"/>
          </a:xfrm>
        </p:grpSpPr>
        <p:grpSp>
          <p:nvGrpSpPr>
            <p:cNvPr id="6" name="组合 5"/>
            <p:cNvGrpSpPr/>
            <p:nvPr/>
          </p:nvGrpSpPr>
          <p:grpSpPr>
            <a:xfrm rot="0">
              <a:off x="0" y="4786"/>
              <a:ext cx="5530" cy="1489"/>
              <a:chOff x="1180" y="1054"/>
              <a:chExt cx="4275" cy="1151"/>
            </a:xfrm>
          </p:grpSpPr>
          <p:cxnSp>
            <p:nvCxnSpPr>
              <p:cNvPr id="4" name="直接连接符 3"/>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rot="0" flipH="1" flipV="1">
              <a:off x="13673" y="4798"/>
              <a:ext cx="5530" cy="1489"/>
              <a:chOff x="1180" y="1054"/>
              <a:chExt cx="4275" cy="1151"/>
            </a:xfrm>
          </p:grpSpPr>
          <p:cxnSp>
            <p:nvCxnSpPr>
              <p:cNvPr id="11" name="直接连接符 10"/>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sp>
        <p:nvSpPr>
          <p:cNvPr id="2" name="文本框 1"/>
          <p:cNvSpPr txBox="1"/>
          <p:nvPr/>
        </p:nvSpPr>
        <p:spPr>
          <a:xfrm>
            <a:off x="3676650" y="3161030"/>
            <a:ext cx="4840605" cy="521970"/>
          </a:xfrm>
          <a:prstGeom prst="rect">
            <a:avLst/>
          </a:prstGeom>
          <a:noFill/>
        </p:spPr>
        <p:txBody>
          <a:bodyPr wrap="square" rtlCol="0" anchor="t">
            <a:spAutoFit/>
          </a:bodyPr>
          <a:p>
            <a:pPr algn="dist"/>
            <a:r>
              <a:rPr lang="en-US" altLang="zh-CN" sz="2800">
                <a:latin typeface="Times New Roman" panose="02020603050405020304" charset="0"/>
                <a:ea typeface="汉仪晓波花月圆W" panose="00020600040101010101" charset="-122"/>
                <a:cs typeface="Times New Roman" panose="02020603050405020304" charset="0"/>
                <a:sym typeface="+mn-ea"/>
              </a:rPr>
              <a:t>Solution Architecture</a:t>
            </a:r>
            <a:endParaRPr lang="zh-CN" altLang="en-US" sz="28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Product advantage</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
        <p:nvSpPr>
          <p:cNvPr id="20" name="圆角矩形 19"/>
          <p:cNvSpPr/>
          <p:nvPr/>
        </p:nvSpPr>
        <p:spPr>
          <a:xfrm>
            <a:off x="1491615" y="1551305"/>
            <a:ext cx="2913380" cy="4214495"/>
          </a:xfrm>
          <a:prstGeom prst="roundRect">
            <a:avLst/>
          </a:prstGeom>
          <a:blipFill rotWithShape="1">
            <a:blip r:embed="rId1"/>
            <a:stretch>
              <a:fillRect/>
            </a:stretch>
          </a:blip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椭圆 34"/>
          <p:cNvSpPr/>
          <p:nvPr/>
        </p:nvSpPr>
        <p:spPr>
          <a:xfrm>
            <a:off x="5974080" y="1646555"/>
            <a:ext cx="1007745" cy="1007745"/>
          </a:xfrm>
          <a:prstGeom prst="ellipse">
            <a:avLst/>
          </a:prstGeom>
          <a:noFill/>
          <a:ln w="381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37" name="文本框 36"/>
          <p:cNvSpPr txBox="1"/>
          <p:nvPr/>
        </p:nvSpPr>
        <p:spPr>
          <a:xfrm>
            <a:off x="5229225" y="2710815"/>
            <a:ext cx="2497455" cy="875665"/>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pic>
        <p:nvPicPr>
          <p:cNvPr id="11" name="图片 10" descr="452398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8870" y="1871345"/>
            <a:ext cx="558165" cy="558165"/>
          </a:xfrm>
          <a:prstGeom prst="rect">
            <a:avLst/>
          </a:prstGeom>
        </p:spPr>
      </p:pic>
      <p:pic>
        <p:nvPicPr>
          <p:cNvPr id="14" name="图片 13" descr="451966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40215" y="1907540"/>
            <a:ext cx="485775" cy="485775"/>
          </a:xfrm>
          <a:prstGeom prst="rect">
            <a:avLst/>
          </a:prstGeom>
        </p:spPr>
      </p:pic>
      <p:pic>
        <p:nvPicPr>
          <p:cNvPr id="15" name="图片 14" descr="4520267"/>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2205" y="4100830"/>
            <a:ext cx="544830" cy="544830"/>
          </a:xfrm>
          <a:prstGeom prst="rect">
            <a:avLst/>
          </a:prstGeom>
        </p:spPr>
      </p:pic>
      <p:pic>
        <p:nvPicPr>
          <p:cNvPr id="17" name="图片 16" descr="4522475"/>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75445" y="4065905"/>
            <a:ext cx="615950" cy="615950"/>
          </a:xfrm>
          <a:prstGeom prst="rect">
            <a:avLst/>
          </a:prstGeom>
        </p:spPr>
      </p:pic>
      <p:sp>
        <p:nvSpPr>
          <p:cNvPr id="18" name="椭圆 17"/>
          <p:cNvSpPr/>
          <p:nvPr/>
        </p:nvSpPr>
        <p:spPr>
          <a:xfrm>
            <a:off x="9079230" y="1646555"/>
            <a:ext cx="1007745" cy="1007745"/>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19" name="文本框 18"/>
          <p:cNvSpPr txBox="1"/>
          <p:nvPr/>
        </p:nvSpPr>
        <p:spPr>
          <a:xfrm>
            <a:off x="8334375" y="2710815"/>
            <a:ext cx="2497455" cy="875665"/>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23" name="椭圆 22"/>
          <p:cNvSpPr/>
          <p:nvPr/>
        </p:nvSpPr>
        <p:spPr>
          <a:xfrm>
            <a:off x="5974080" y="3869055"/>
            <a:ext cx="1007745" cy="1007745"/>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4" name="文本框 23"/>
          <p:cNvSpPr txBox="1"/>
          <p:nvPr/>
        </p:nvSpPr>
        <p:spPr>
          <a:xfrm>
            <a:off x="5229225" y="4933315"/>
            <a:ext cx="2497455" cy="875665"/>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
        <p:nvSpPr>
          <p:cNvPr id="25" name="椭圆 24"/>
          <p:cNvSpPr/>
          <p:nvPr/>
        </p:nvSpPr>
        <p:spPr>
          <a:xfrm>
            <a:off x="9079230" y="3869690"/>
            <a:ext cx="1007745" cy="1007745"/>
          </a:xfrm>
          <a:prstGeom prst="ellipse">
            <a:avLst/>
          </a:prstGeom>
          <a:noFill/>
          <a:ln w="381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6" name="文本框 25"/>
          <p:cNvSpPr txBox="1"/>
          <p:nvPr/>
        </p:nvSpPr>
        <p:spPr>
          <a:xfrm>
            <a:off x="8334375" y="4933950"/>
            <a:ext cx="2497455" cy="875665"/>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Product advantage</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sp>
        <p:nvSpPr>
          <p:cNvPr id="27" name="椭圆 26"/>
          <p:cNvSpPr/>
          <p:nvPr/>
        </p:nvSpPr>
        <p:spPr>
          <a:xfrm>
            <a:off x="5374005" y="3869690"/>
            <a:ext cx="1444625" cy="1444625"/>
          </a:xfrm>
          <a:prstGeom prst="ellipse">
            <a:avLst/>
          </a:prstGeom>
          <a:solidFill>
            <a:srgbClr val="96C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solidFill>
                <a:schemeClr val="tx1"/>
              </a:solidFill>
              <a:latin typeface="汉仪晓波花月圆W" panose="00020600040101010101" charset="-122"/>
              <a:ea typeface="汉仪晓波花月圆W" panose="00020600040101010101" charset="-122"/>
            </a:endParaRPr>
          </a:p>
        </p:txBody>
      </p:sp>
      <p:sp>
        <p:nvSpPr>
          <p:cNvPr id="2" name="椭圆 1"/>
          <p:cNvSpPr/>
          <p:nvPr/>
        </p:nvSpPr>
        <p:spPr>
          <a:xfrm>
            <a:off x="3502025" y="4089400"/>
            <a:ext cx="1004570" cy="100457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solidFill>
                <a:schemeClr val="tx1"/>
              </a:solidFill>
              <a:latin typeface="汉仪晓波花月圆W" panose="00020600040101010101" charset="-122"/>
              <a:ea typeface="汉仪晓波花月圆W" panose="00020600040101010101" charset="-122"/>
            </a:endParaRPr>
          </a:p>
        </p:txBody>
      </p:sp>
      <p:sp>
        <p:nvSpPr>
          <p:cNvPr id="3" name="椭圆 2"/>
          <p:cNvSpPr/>
          <p:nvPr/>
        </p:nvSpPr>
        <p:spPr>
          <a:xfrm>
            <a:off x="1624965" y="4089400"/>
            <a:ext cx="1004570" cy="100457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solidFill>
                <a:schemeClr val="tx1"/>
              </a:solidFill>
              <a:latin typeface="汉仪晓波花月圆W" panose="00020600040101010101" charset="-122"/>
              <a:ea typeface="汉仪晓波花月圆W" panose="00020600040101010101" charset="-122"/>
            </a:endParaRPr>
          </a:p>
        </p:txBody>
      </p:sp>
      <p:sp>
        <p:nvSpPr>
          <p:cNvPr id="4" name="椭圆 3"/>
          <p:cNvSpPr/>
          <p:nvPr/>
        </p:nvSpPr>
        <p:spPr>
          <a:xfrm>
            <a:off x="7690485" y="4089400"/>
            <a:ext cx="1004570" cy="100457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solidFill>
                <a:schemeClr val="tx1"/>
              </a:solidFill>
              <a:latin typeface="汉仪晓波花月圆W" panose="00020600040101010101" charset="-122"/>
              <a:ea typeface="汉仪晓波花月圆W" panose="00020600040101010101" charset="-122"/>
            </a:endParaRPr>
          </a:p>
        </p:txBody>
      </p:sp>
      <p:sp>
        <p:nvSpPr>
          <p:cNvPr id="5" name="椭圆 4"/>
          <p:cNvSpPr/>
          <p:nvPr/>
        </p:nvSpPr>
        <p:spPr>
          <a:xfrm>
            <a:off x="9563100" y="4089400"/>
            <a:ext cx="1004570" cy="1004570"/>
          </a:xfrm>
          <a:prstGeom prst="ellipse">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sz="2000">
              <a:solidFill>
                <a:schemeClr val="tx1"/>
              </a:solidFill>
              <a:latin typeface="汉仪晓波花月圆W" panose="00020600040101010101" charset="-122"/>
              <a:ea typeface="汉仪晓波花月圆W" panose="00020600040101010101" charset="-122"/>
            </a:endParaRPr>
          </a:p>
        </p:txBody>
      </p:sp>
      <p:sp>
        <p:nvSpPr>
          <p:cNvPr id="6" name="文本框 5"/>
          <p:cNvSpPr txBox="1"/>
          <p:nvPr/>
        </p:nvSpPr>
        <p:spPr>
          <a:xfrm>
            <a:off x="1391285" y="1740535"/>
            <a:ext cx="9409430" cy="1430020"/>
          </a:xfrm>
          <a:prstGeom prst="rect">
            <a:avLst/>
          </a:prstGeom>
          <a:noFill/>
        </p:spPr>
        <p:txBody>
          <a:bodyPr wrap="square" rtlCol="0" anchor="t">
            <a:spAutoFit/>
          </a:bodyPr>
          <a:p>
            <a:pPr algn="ctr">
              <a:lnSpc>
                <a:spcPct val="150000"/>
              </a:lnSpc>
            </a:pPr>
            <a:r>
              <a:rPr lang="zh-CN" altLang="en-US" sz="1600" b="1">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600" b="1">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endParaRPr lang="zh-CN" altLang="en-US" sz="1200" b="1">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请在此输入产品优势详细内容请在此输入产品优势详细内容请在此输入产品优势详细内容请在此输入产品优势详细内容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Please enter details here</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 Please enter details here Please enter details here Please enter details here Please enter details here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pic>
        <p:nvPicPr>
          <p:cNvPr id="8" name="图片 7" descr="2028903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75155" y="4339590"/>
            <a:ext cx="503555" cy="503555"/>
          </a:xfrm>
          <a:prstGeom prst="rect">
            <a:avLst/>
          </a:prstGeom>
        </p:spPr>
      </p:pic>
      <p:pic>
        <p:nvPicPr>
          <p:cNvPr id="10" name="图片 9" descr="2028903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64280" y="4339590"/>
            <a:ext cx="480695" cy="480695"/>
          </a:xfrm>
          <a:prstGeom prst="rect">
            <a:avLst/>
          </a:prstGeom>
        </p:spPr>
      </p:pic>
      <p:pic>
        <p:nvPicPr>
          <p:cNvPr id="12" name="图片 11" descr="2028902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36590" y="4219575"/>
            <a:ext cx="720090" cy="720090"/>
          </a:xfrm>
          <a:prstGeom prst="rect">
            <a:avLst/>
          </a:prstGeom>
        </p:spPr>
      </p:pic>
      <p:pic>
        <p:nvPicPr>
          <p:cNvPr id="22" name="图片 21" descr="2028903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9090" y="4339590"/>
            <a:ext cx="466725" cy="466725"/>
          </a:xfrm>
          <a:prstGeom prst="rect">
            <a:avLst/>
          </a:prstGeom>
        </p:spPr>
      </p:pic>
      <p:pic>
        <p:nvPicPr>
          <p:cNvPr id="28" name="图片 27" descr="20289026"/>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12655" y="4300220"/>
            <a:ext cx="506095" cy="506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Product advantage</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grpSp>
        <p:nvGrpSpPr>
          <p:cNvPr id="11" name="组合 10"/>
          <p:cNvGrpSpPr/>
          <p:nvPr/>
        </p:nvGrpSpPr>
        <p:grpSpPr>
          <a:xfrm rot="0">
            <a:off x="797560" y="2018665"/>
            <a:ext cx="2326640" cy="3409950"/>
            <a:chOff x="2012" y="3189"/>
            <a:chExt cx="3664" cy="5370"/>
          </a:xfrm>
        </p:grpSpPr>
        <p:sp>
          <p:nvSpPr>
            <p:cNvPr id="15" name="圆角矩形 14"/>
            <p:cNvSpPr/>
            <p:nvPr/>
          </p:nvSpPr>
          <p:spPr>
            <a:xfrm>
              <a:off x="2012" y="3189"/>
              <a:ext cx="3664" cy="5371"/>
            </a:xfrm>
            <a:prstGeom prst="roundRect">
              <a:avLst/>
            </a:prstGeom>
            <a:noFill/>
            <a:ln w="381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32" name="椭圆 31"/>
            <p:cNvSpPr/>
            <p:nvPr/>
          </p:nvSpPr>
          <p:spPr>
            <a:xfrm>
              <a:off x="3141" y="3971"/>
              <a:ext cx="1407" cy="1407"/>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a:solidFill>
                    <a:schemeClr val="tx1"/>
                  </a:solidFill>
                  <a:latin typeface="汉仪晓波花月圆W" panose="00020600040101010101" charset="-122"/>
                  <a:ea typeface="汉仪晓波花月圆W" panose="00020600040101010101" charset="-122"/>
                </a:rPr>
                <a:t>01</a:t>
              </a:r>
              <a:endParaRPr lang="en-US" altLang="zh-CN" sz="2400">
                <a:solidFill>
                  <a:schemeClr val="tx1"/>
                </a:solidFill>
                <a:latin typeface="汉仪晓波花月圆W" panose="00020600040101010101" charset="-122"/>
                <a:ea typeface="汉仪晓波花月圆W" panose="00020600040101010101" charset="-122"/>
              </a:endParaRPr>
            </a:p>
          </p:txBody>
        </p:sp>
        <p:sp>
          <p:nvSpPr>
            <p:cNvPr id="7" name="文本框 6"/>
            <p:cNvSpPr txBox="1"/>
            <p:nvPr/>
          </p:nvSpPr>
          <p:spPr>
            <a:xfrm>
              <a:off x="2243" y="5784"/>
              <a:ext cx="3203" cy="2107"/>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grpSp>
      <p:grpSp>
        <p:nvGrpSpPr>
          <p:cNvPr id="14" name="组合 13"/>
          <p:cNvGrpSpPr/>
          <p:nvPr/>
        </p:nvGrpSpPr>
        <p:grpSpPr>
          <a:xfrm rot="0">
            <a:off x="3558540" y="2018665"/>
            <a:ext cx="2326640" cy="3409950"/>
            <a:chOff x="2012" y="3189"/>
            <a:chExt cx="3664" cy="5370"/>
          </a:xfrm>
        </p:grpSpPr>
        <p:sp>
          <p:nvSpPr>
            <p:cNvPr id="17" name="圆角矩形 16"/>
            <p:cNvSpPr/>
            <p:nvPr/>
          </p:nvSpPr>
          <p:spPr>
            <a:xfrm>
              <a:off x="2012" y="3189"/>
              <a:ext cx="3664" cy="5371"/>
            </a:xfrm>
            <a:prstGeom prst="roundRect">
              <a:avLst/>
            </a:prstGeom>
            <a:noFill/>
            <a:ln w="381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19" name="椭圆 18"/>
            <p:cNvSpPr/>
            <p:nvPr/>
          </p:nvSpPr>
          <p:spPr>
            <a:xfrm>
              <a:off x="3141" y="3971"/>
              <a:ext cx="1407" cy="1407"/>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a:solidFill>
                    <a:schemeClr val="tx1"/>
                  </a:solidFill>
                  <a:latin typeface="汉仪晓波花月圆W" panose="00020600040101010101" charset="-122"/>
                  <a:ea typeface="汉仪晓波花月圆W" panose="00020600040101010101" charset="-122"/>
                </a:rPr>
                <a:t>02</a:t>
              </a:r>
              <a:endParaRPr lang="en-US" altLang="zh-CN" sz="2400">
                <a:solidFill>
                  <a:schemeClr val="tx1"/>
                </a:solidFill>
                <a:latin typeface="汉仪晓波花月圆W" panose="00020600040101010101" charset="-122"/>
                <a:ea typeface="汉仪晓波花月圆W" panose="00020600040101010101" charset="-122"/>
              </a:endParaRPr>
            </a:p>
          </p:txBody>
        </p:sp>
        <p:sp>
          <p:nvSpPr>
            <p:cNvPr id="20" name="文本框 19"/>
            <p:cNvSpPr txBox="1"/>
            <p:nvPr/>
          </p:nvSpPr>
          <p:spPr>
            <a:xfrm>
              <a:off x="2243" y="5784"/>
              <a:ext cx="3203" cy="2107"/>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grpSp>
      <p:grpSp>
        <p:nvGrpSpPr>
          <p:cNvPr id="21" name="组合 20"/>
          <p:cNvGrpSpPr/>
          <p:nvPr/>
        </p:nvGrpSpPr>
        <p:grpSpPr>
          <a:xfrm rot="0">
            <a:off x="6313170" y="2018665"/>
            <a:ext cx="2326640" cy="3409950"/>
            <a:chOff x="2012" y="3189"/>
            <a:chExt cx="3664" cy="5370"/>
          </a:xfrm>
        </p:grpSpPr>
        <p:sp>
          <p:nvSpPr>
            <p:cNvPr id="23" name="圆角矩形 22"/>
            <p:cNvSpPr/>
            <p:nvPr/>
          </p:nvSpPr>
          <p:spPr>
            <a:xfrm>
              <a:off x="2012" y="3189"/>
              <a:ext cx="3664" cy="5371"/>
            </a:xfrm>
            <a:prstGeom prst="roundRect">
              <a:avLst/>
            </a:prstGeom>
            <a:noFill/>
            <a:ln w="381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24" name="椭圆 23"/>
            <p:cNvSpPr/>
            <p:nvPr/>
          </p:nvSpPr>
          <p:spPr>
            <a:xfrm>
              <a:off x="3141" y="3971"/>
              <a:ext cx="1407" cy="1407"/>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a:solidFill>
                    <a:schemeClr val="tx1"/>
                  </a:solidFill>
                  <a:latin typeface="汉仪晓波花月圆W" panose="00020600040101010101" charset="-122"/>
                  <a:ea typeface="汉仪晓波花月圆W" panose="00020600040101010101" charset="-122"/>
                </a:rPr>
                <a:t>03</a:t>
              </a:r>
              <a:endParaRPr lang="en-US" altLang="zh-CN" sz="2400">
                <a:solidFill>
                  <a:schemeClr val="tx1"/>
                </a:solidFill>
                <a:latin typeface="汉仪晓波花月圆W" panose="00020600040101010101" charset="-122"/>
                <a:ea typeface="汉仪晓波花月圆W" panose="00020600040101010101" charset="-122"/>
              </a:endParaRPr>
            </a:p>
          </p:txBody>
        </p:sp>
        <p:sp>
          <p:nvSpPr>
            <p:cNvPr id="25" name="文本框 24"/>
            <p:cNvSpPr txBox="1"/>
            <p:nvPr/>
          </p:nvSpPr>
          <p:spPr>
            <a:xfrm>
              <a:off x="2243" y="5784"/>
              <a:ext cx="3203" cy="2107"/>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grpSp>
      <p:grpSp>
        <p:nvGrpSpPr>
          <p:cNvPr id="26" name="组合 25"/>
          <p:cNvGrpSpPr/>
          <p:nvPr/>
        </p:nvGrpSpPr>
        <p:grpSpPr>
          <a:xfrm rot="0">
            <a:off x="9068435" y="2018665"/>
            <a:ext cx="2326640" cy="3409950"/>
            <a:chOff x="2012" y="3189"/>
            <a:chExt cx="3664" cy="5370"/>
          </a:xfrm>
        </p:grpSpPr>
        <p:sp>
          <p:nvSpPr>
            <p:cNvPr id="29" name="圆角矩形 28"/>
            <p:cNvSpPr/>
            <p:nvPr/>
          </p:nvSpPr>
          <p:spPr>
            <a:xfrm>
              <a:off x="2012" y="3189"/>
              <a:ext cx="3664" cy="5371"/>
            </a:xfrm>
            <a:prstGeom prst="roundRect">
              <a:avLst/>
            </a:prstGeom>
            <a:noFill/>
            <a:ln w="38100">
              <a:solidFill>
                <a:srgbClr val="96CD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solidFill>
                  <a:schemeClr val="tx1"/>
                </a:solidFill>
              </a:endParaRPr>
            </a:p>
          </p:txBody>
        </p:sp>
        <p:sp>
          <p:nvSpPr>
            <p:cNvPr id="30" name="椭圆 29"/>
            <p:cNvSpPr/>
            <p:nvPr/>
          </p:nvSpPr>
          <p:spPr>
            <a:xfrm>
              <a:off x="3141" y="3971"/>
              <a:ext cx="1407" cy="1407"/>
            </a:xfrm>
            <a:prstGeom prst="ellipse">
              <a:avLst/>
            </a:prstGeom>
            <a:noFill/>
            <a:ln w="38100">
              <a:solidFill>
                <a:srgbClr val="3050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400">
                  <a:solidFill>
                    <a:schemeClr val="tx1"/>
                  </a:solidFill>
                  <a:latin typeface="汉仪晓波花月圆W" panose="00020600040101010101" charset="-122"/>
                  <a:ea typeface="汉仪晓波花月圆W" panose="00020600040101010101" charset="-122"/>
                </a:rPr>
                <a:t>04</a:t>
              </a:r>
              <a:endParaRPr lang="en-US" altLang="zh-CN" sz="2400">
                <a:solidFill>
                  <a:schemeClr val="tx1"/>
                </a:solidFill>
                <a:latin typeface="汉仪晓波花月圆W" panose="00020600040101010101" charset="-122"/>
                <a:ea typeface="汉仪晓波花月圆W" panose="00020600040101010101" charset="-122"/>
              </a:endParaRPr>
            </a:p>
          </p:txBody>
        </p:sp>
        <p:sp>
          <p:nvSpPr>
            <p:cNvPr id="31" name="文本框 30"/>
            <p:cNvSpPr txBox="1"/>
            <p:nvPr/>
          </p:nvSpPr>
          <p:spPr>
            <a:xfrm>
              <a:off x="2243" y="5784"/>
              <a:ext cx="3203" cy="2107"/>
            </a:xfrm>
            <a:prstGeom prst="rect">
              <a:avLst/>
            </a:prstGeom>
            <a:noFill/>
          </p:spPr>
          <p:txBody>
            <a:bodyPr wrap="square" rtlCol="0" anchor="t">
              <a:spAutoFit/>
            </a:bodyPr>
            <a:p>
              <a:pPr algn="ctr">
                <a:lnSpc>
                  <a:spcPct val="150000"/>
                </a:lnSpc>
              </a:pPr>
              <a:r>
                <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产品优势标题</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ctr">
                <a:lnSpc>
                  <a:spcPct val="150000"/>
                </a:lnSpc>
              </a:pP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请在此输入产品优势详细内容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Please enter details here</a:t>
              </a:r>
              <a:endPar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组合 14"/>
          <p:cNvGrpSpPr/>
          <p:nvPr/>
        </p:nvGrpSpPr>
        <p:grpSpPr>
          <a:xfrm>
            <a:off x="0" y="2952750"/>
            <a:ext cx="12193905" cy="952500"/>
            <a:chOff x="0" y="4786"/>
            <a:chExt cx="19203" cy="1500"/>
          </a:xfrm>
        </p:grpSpPr>
        <p:grpSp>
          <p:nvGrpSpPr>
            <p:cNvPr id="6" name="组合 5"/>
            <p:cNvGrpSpPr/>
            <p:nvPr/>
          </p:nvGrpSpPr>
          <p:grpSpPr>
            <a:xfrm rot="0">
              <a:off x="0" y="4786"/>
              <a:ext cx="5530" cy="1489"/>
              <a:chOff x="1180" y="1054"/>
              <a:chExt cx="4275" cy="1151"/>
            </a:xfrm>
          </p:grpSpPr>
          <p:cxnSp>
            <p:nvCxnSpPr>
              <p:cNvPr id="4" name="直接连接符 3"/>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rot="0" flipH="1" flipV="1">
              <a:off x="13673" y="4798"/>
              <a:ext cx="5530" cy="1489"/>
              <a:chOff x="1180" y="1054"/>
              <a:chExt cx="4275" cy="1151"/>
            </a:xfrm>
          </p:grpSpPr>
          <p:cxnSp>
            <p:nvCxnSpPr>
              <p:cNvPr id="11" name="直接连接符 10"/>
              <p:cNvCxnSpPr/>
              <p:nvPr/>
            </p:nvCxnSpPr>
            <p:spPr>
              <a:xfrm>
                <a:off x="1180" y="2196"/>
                <a:ext cx="4069" cy="0"/>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241" y="1063"/>
                <a:ext cx="0" cy="1142"/>
              </a:xfrm>
              <a:prstGeom prst="line">
                <a:avLst/>
              </a:prstGeom>
              <a:ln w="254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455" y="1054"/>
                <a:ext cx="0" cy="1142"/>
              </a:xfrm>
              <a:prstGeom prst="line">
                <a:avLst/>
              </a:prstGeom>
              <a:ln w="76200">
                <a:solidFill>
                  <a:srgbClr val="96CDDF"/>
                </a:solidFill>
              </a:ln>
            </p:spPr>
            <p:style>
              <a:lnRef idx="1">
                <a:schemeClr val="accent1"/>
              </a:lnRef>
              <a:fillRef idx="0">
                <a:schemeClr val="accent1"/>
              </a:fillRef>
              <a:effectRef idx="0">
                <a:schemeClr val="accent1"/>
              </a:effectRef>
              <a:fontRef idx="minor">
                <a:schemeClr val="tx1"/>
              </a:fontRef>
            </p:style>
          </p:cxnSp>
        </p:grpSp>
      </p:grpSp>
      <p:sp>
        <p:nvSpPr>
          <p:cNvPr id="2" name="文本框 1"/>
          <p:cNvSpPr txBox="1"/>
          <p:nvPr/>
        </p:nvSpPr>
        <p:spPr>
          <a:xfrm>
            <a:off x="3685540" y="3160395"/>
            <a:ext cx="4820920" cy="645160"/>
          </a:xfrm>
          <a:prstGeom prst="rect">
            <a:avLst/>
          </a:prstGeom>
          <a:noFill/>
        </p:spPr>
        <p:txBody>
          <a:bodyPr wrap="square" rtlCol="0" anchor="t">
            <a:spAutoFit/>
          </a:bodyPr>
          <a:p>
            <a:pPr algn="dist"/>
            <a:r>
              <a:rPr lang="en-US" altLang="zh-CN" sz="3600">
                <a:solidFill>
                  <a:schemeClr val="tx1"/>
                </a:solidFill>
                <a:latin typeface="Times New Roman" panose="02020603050405020304" charset="0"/>
                <a:ea typeface="汉仪晓波花月圆W" panose="00020600040101010101" charset="-122"/>
                <a:cs typeface="Times New Roman" panose="02020603050405020304" charset="0"/>
                <a:sym typeface="+mn-ea"/>
              </a:rPr>
              <a:t>The Team</a:t>
            </a:r>
            <a:endParaRPr lang="en-US" altLang="zh-CN" sz="36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9" name="直接连接符 8"/>
          <p:cNvCxnSpPr/>
          <p:nvPr/>
        </p:nvCxnSpPr>
        <p:spPr>
          <a:xfrm>
            <a:off x="350520" y="0"/>
            <a:ext cx="0" cy="829945"/>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9905" y="387985"/>
            <a:ext cx="0" cy="441960"/>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54050" y="340360"/>
            <a:ext cx="1383030" cy="537210"/>
          </a:xfrm>
          <a:prstGeom prst="rect">
            <a:avLst/>
          </a:prstGeom>
          <a:noFill/>
        </p:spPr>
        <p:txBody>
          <a:bodyPr wrap="square" rtlCol="0" anchor="t">
            <a:spAutoFit/>
          </a:bodyPr>
          <a:p>
            <a:pPr algn="dist"/>
            <a:r>
              <a:rPr lang="zh-CN" altLang="en-US" sz="2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endParaRPr lang="zh-CN" altLang="en-US" sz="14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endParaRPr>
          </a:p>
          <a:p>
            <a:pPr algn="dist"/>
            <a:r>
              <a:rPr lang="zh-CN" altLang="en-US" sz="900">
                <a:latin typeface="汉仪晓波花月圆W" panose="00020600040101010101" charset="-122"/>
                <a:ea typeface="汉仪晓波花月圆W" panose="00020600040101010101" charset="-122"/>
                <a:cs typeface="汉仪晓波花月圆W" panose="00020600040101010101" charset="-122"/>
                <a:sym typeface="+mn-ea"/>
              </a:rPr>
              <a:t>Application scenario</a:t>
            </a:r>
            <a:endParaRPr lang="zh-CN" altLang="en-US" sz="900">
              <a:solidFill>
                <a:schemeClr val="tx1"/>
              </a:solidFill>
              <a:latin typeface="汉仪晓波花月圆W" panose="00020600040101010101" charset="-122"/>
              <a:ea typeface="汉仪晓波花月圆W" panose="00020600040101010101" charset="-122"/>
              <a:cs typeface="汉仪晓波花月圆W" panose="00020600040101010101" charset="-122"/>
            </a:endParaRPr>
          </a:p>
        </p:txBody>
      </p:sp>
      <p:grpSp>
        <p:nvGrpSpPr>
          <p:cNvPr id="7" name="组合 6"/>
          <p:cNvGrpSpPr/>
          <p:nvPr/>
        </p:nvGrpSpPr>
        <p:grpSpPr>
          <a:xfrm rot="0">
            <a:off x="491490" y="1760855"/>
            <a:ext cx="3467735" cy="1555750"/>
            <a:chOff x="2150" y="3494"/>
            <a:chExt cx="5461" cy="2450"/>
          </a:xfrm>
        </p:grpSpPr>
        <p:sp>
          <p:nvSpPr>
            <p:cNvPr id="11" name="圆角矩形 10"/>
            <p:cNvSpPr/>
            <p:nvPr/>
          </p:nvSpPr>
          <p:spPr>
            <a:xfrm>
              <a:off x="2253" y="5394"/>
              <a:ext cx="2292" cy="5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latin typeface="汉仪晓波花月圆W" panose="00020600040101010101" charset="-122"/>
                  <a:ea typeface="汉仪晓波花月圆W" panose="00020600040101010101" charset="-122"/>
                  <a:cs typeface="汉仪晓波花月圆W" panose="00020600040101010101" charset="-122"/>
                </a:rPr>
                <a:t>应用场景</a:t>
              </a:r>
              <a:endParaRPr lang="zh-CN" sz="1200">
                <a:latin typeface="汉仪晓波花月圆W" panose="00020600040101010101" charset="-122"/>
                <a:ea typeface="汉仪晓波花月圆W" panose="00020600040101010101" charset="-122"/>
                <a:cs typeface="汉仪晓波花月圆W" panose="00020600040101010101" charset="-122"/>
              </a:endParaRPr>
            </a:p>
          </p:txBody>
        </p:sp>
        <p:sp>
          <p:nvSpPr>
            <p:cNvPr id="14" name="文本框 13"/>
            <p:cNvSpPr txBox="1"/>
            <p:nvPr/>
          </p:nvSpPr>
          <p:spPr>
            <a:xfrm>
              <a:off x="2150" y="3494"/>
              <a:ext cx="5461" cy="1743"/>
            </a:xfrm>
            <a:prstGeom prst="rect">
              <a:avLst/>
            </a:prstGeom>
            <a:noFill/>
          </p:spPr>
          <p:txBody>
            <a:bodyPr wrap="square" rtlCol="0" anchor="t">
              <a:spAutoFit/>
            </a:bodyPr>
            <a:p>
              <a:pPr algn="just">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just">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r>
                <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rPr>
                <a:t> </a:t>
              </a:r>
              <a:endPar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sym typeface="+mn-ea"/>
              </a:endParaRPr>
            </a:p>
          </p:txBody>
        </p:sp>
      </p:grpSp>
      <p:grpSp>
        <p:nvGrpSpPr>
          <p:cNvPr id="15" name="组合 14"/>
          <p:cNvGrpSpPr/>
          <p:nvPr/>
        </p:nvGrpSpPr>
        <p:grpSpPr>
          <a:xfrm rot="0">
            <a:off x="491490" y="3866515"/>
            <a:ext cx="3467735" cy="1555750"/>
            <a:chOff x="2150" y="3494"/>
            <a:chExt cx="5461" cy="2450"/>
          </a:xfrm>
        </p:grpSpPr>
        <p:sp>
          <p:nvSpPr>
            <p:cNvPr id="17" name="圆角矩形 16"/>
            <p:cNvSpPr/>
            <p:nvPr/>
          </p:nvSpPr>
          <p:spPr>
            <a:xfrm>
              <a:off x="2253" y="5394"/>
              <a:ext cx="2292" cy="5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latin typeface="汉仪晓波花月圆W" panose="00020600040101010101" charset="-122"/>
                  <a:ea typeface="汉仪晓波花月圆W" panose="00020600040101010101" charset="-122"/>
                  <a:cs typeface="汉仪晓波花月圆W" panose="00020600040101010101" charset="-122"/>
                </a:rPr>
                <a:t>应用场景</a:t>
              </a:r>
              <a:endParaRPr lang="zh-CN" sz="1200">
                <a:latin typeface="汉仪晓波花月圆W" panose="00020600040101010101" charset="-122"/>
                <a:ea typeface="汉仪晓波花月圆W" panose="00020600040101010101" charset="-122"/>
                <a:cs typeface="汉仪晓波花月圆W" panose="00020600040101010101" charset="-122"/>
              </a:endParaRPr>
            </a:p>
          </p:txBody>
        </p:sp>
        <p:sp>
          <p:nvSpPr>
            <p:cNvPr id="19" name="文本框 18"/>
            <p:cNvSpPr txBox="1"/>
            <p:nvPr/>
          </p:nvSpPr>
          <p:spPr>
            <a:xfrm>
              <a:off x="2150" y="3494"/>
              <a:ext cx="5461" cy="1743"/>
            </a:xfrm>
            <a:prstGeom prst="rect">
              <a:avLst/>
            </a:prstGeom>
            <a:noFill/>
          </p:spPr>
          <p:txBody>
            <a:bodyPr wrap="square" rtlCol="0" anchor="t">
              <a:spAutoFit/>
            </a:bodyPr>
            <a:p>
              <a:pPr algn="just">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just">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r>
                <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rPr>
                <a:t> </a:t>
              </a:r>
              <a:endPar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sym typeface="+mn-ea"/>
              </a:endParaRPr>
            </a:p>
          </p:txBody>
        </p:sp>
      </p:grpSp>
      <p:grpSp>
        <p:nvGrpSpPr>
          <p:cNvPr id="20" name="组合 19"/>
          <p:cNvGrpSpPr/>
          <p:nvPr/>
        </p:nvGrpSpPr>
        <p:grpSpPr>
          <a:xfrm rot="0">
            <a:off x="4362450" y="1760855"/>
            <a:ext cx="3467735" cy="1555750"/>
            <a:chOff x="2150" y="3494"/>
            <a:chExt cx="5461" cy="2450"/>
          </a:xfrm>
        </p:grpSpPr>
        <p:sp>
          <p:nvSpPr>
            <p:cNvPr id="21" name="圆角矩形 20"/>
            <p:cNvSpPr/>
            <p:nvPr/>
          </p:nvSpPr>
          <p:spPr>
            <a:xfrm>
              <a:off x="2253" y="5394"/>
              <a:ext cx="2292" cy="5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latin typeface="汉仪晓波花月圆W" panose="00020600040101010101" charset="-122"/>
                  <a:ea typeface="汉仪晓波花月圆W" panose="00020600040101010101" charset="-122"/>
                  <a:cs typeface="汉仪晓波花月圆W" panose="00020600040101010101" charset="-122"/>
                </a:rPr>
                <a:t>应用场景</a:t>
              </a:r>
              <a:endParaRPr lang="zh-CN" sz="1200">
                <a:latin typeface="汉仪晓波花月圆W" panose="00020600040101010101" charset="-122"/>
                <a:ea typeface="汉仪晓波花月圆W" panose="00020600040101010101" charset="-122"/>
                <a:cs typeface="汉仪晓波花月圆W" panose="00020600040101010101" charset="-122"/>
              </a:endParaRPr>
            </a:p>
          </p:txBody>
        </p:sp>
        <p:sp>
          <p:nvSpPr>
            <p:cNvPr id="23" name="文本框 22"/>
            <p:cNvSpPr txBox="1"/>
            <p:nvPr/>
          </p:nvSpPr>
          <p:spPr>
            <a:xfrm>
              <a:off x="2150" y="3494"/>
              <a:ext cx="5461" cy="1743"/>
            </a:xfrm>
            <a:prstGeom prst="rect">
              <a:avLst/>
            </a:prstGeom>
            <a:noFill/>
          </p:spPr>
          <p:txBody>
            <a:bodyPr wrap="square" rtlCol="0" anchor="t">
              <a:spAutoFit/>
            </a:bodyPr>
            <a:p>
              <a:pPr algn="just">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just">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r>
                <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rPr>
                <a:t> </a:t>
              </a:r>
              <a:endPar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sym typeface="+mn-ea"/>
              </a:endParaRPr>
            </a:p>
          </p:txBody>
        </p:sp>
      </p:grpSp>
      <p:grpSp>
        <p:nvGrpSpPr>
          <p:cNvPr id="24" name="组合 23"/>
          <p:cNvGrpSpPr/>
          <p:nvPr/>
        </p:nvGrpSpPr>
        <p:grpSpPr>
          <a:xfrm rot="0">
            <a:off x="4362450" y="3866515"/>
            <a:ext cx="3467735" cy="1555750"/>
            <a:chOff x="2150" y="3494"/>
            <a:chExt cx="5461" cy="2450"/>
          </a:xfrm>
        </p:grpSpPr>
        <p:sp>
          <p:nvSpPr>
            <p:cNvPr id="25" name="圆角矩形 24"/>
            <p:cNvSpPr/>
            <p:nvPr/>
          </p:nvSpPr>
          <p:spPr>
            <a:xfrm>
              <a:off x="2253" y="5394"/>
              <a:ext cx="2292" cy="5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latin typeface="汉仪晓波花月圆W" panose="00020600040101010101" charset="-122"/>
                  <a:ea typeface="汉仪晓波花月圆W" panose="00020600040101010101" charset="-122"/>
                  <a:cs typeface="汉仪晓波花月圆W" panose="00020600040101010101" charset="-122"/>
                </a:rPr>
                <a:t>应用场景</a:t>
              </a:r>
              <a:endParaRPr lang="zh-CN" sz="1200">
                <a:latin typeface="汉仪晓波花月圆W" panose="00020600040101010101" charset="-122"/>
                <a:ea typeface="汉仪晓波花月圆W" panose="00020600040101010101" charset="-122"/>
                <a:cs typeface="汉仪晓波花月圆W" panose="00020600040101010101" charset="-122"/>
              </a:endParaRPr>
            </a:p>
          </p:txBody>
        </p:sp>
        <p:sp>
          <p:nvSpPr>
            <p:cNvPr id="26" name="文本框 25"/>
            <p:cNvSpPr txBox="1"/>
            <p:nvPr/>
          </p:nvSpPr>
          <p:spPr>
            <a:xfrm>
              <a:off x="2150" y="3494"/>
              <a:ext cx="5461" cy="1743"/>
            </a:xfrm>
            <a:prstGeom prst="rect">
              <a:avLst/>
            </a:prstGeom>
            <a:noFill/>
          </p:spPr>
          <p:txBody>
            <a:bodyPr wrap="square" rtlCol="0" anchor="t">
              <a:spAutoFit/>
            </a:bodyPr>
            <a:p>
              <a:pPr algn="just">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just">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r>
                <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rPr>
                <a:t> </a:t>
              </a:r>
              <a:endPar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sym typeface="+mn-ea"/>
              </a:endParaRPr>
            </a:p>
          </p:txBody>
        </p:sp>
      </p:grpSp>
      <p:grpSp>
        <p:nvGrpSpPr>
          <p:cNvPr id="29" name="组合 28"/>
          <p:cNvGrpSpPr/>
          <p:nvPr/>
        </p:nvGrpSpPr>
        <p:grpSpPr>
          <a:xfrm rot="0">
            <a:off x="8233410" y="1760855"/>
            <a:ext cx="3467735" cy="1555750"/>
            <a:chOff x="2150" y="3494"/>
            <a:chExt cx="5461" cy="2450"/>
          </a:xfrm>
        </p:grpSpPr>
        <p:sp>
          <p:nvSpPr>
            <p:cNvPr id="30" name="圆角矩形 29"/>
            <p:cNvSpPr/>
            <p:nvPr/>
          </p:nvSpPr>
          <p:spPr>
            <a:xfrm>
              <a:off x="2253" y="5394"/>
              <a:ext cx="2292" cy="5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latin typeface="汉仪晓波花月圆W" panose="00020600040101010101" charset="-122"/>
                  <a:ea typeface="汉仪晓波花月圆W" panose="00020600040101010101" charset="-122"/>
                  <a:cs typeface="汉仪晓波花月圆W" panose="00020600040101010101" charset="-122"/>
                </a:rPr>
                <a:t>应用场景</a:t>
              </a:r>
              <a:endParaRPr lang="zh-CN" sz="1200">
                <a:latin typeface="汉仪晓波花月圆W" panose="00020600040101010101" charset="-122"/>
                <a:ea typeface="汉仪晓波花月圆W" panose="00020600040101010101" charset="-122"/>
                <a:cs typeface="汉仪晓波花月圆W" panose="00020600040101010101" charset="-122"/>
              </a:endParaRPr>
            </a:p>
          </p:txBody>
        </p:sp>
        <p:sp>
          <p:nvSpPr>
            <p:cNvPr id="31" name="文本框 30"/>
            <p:cNvSpPr txBox="1"/>
            <p:nvPr/>
          </p:nvSpPr>
          <p:spPr>
            <a:xfrm>
              <a:off x="2150" y="3494"/>
              <a:ext cx="5461" cy="1743"/>
            </a:xfrm>
            <a:prstGeom prst="rect">
              <a:avLst/>
            </a:prstGeom>
            <a:noFill/>
          </p:spPr>
          <p:txBody>
            <a:bodyPr wrap="square" rtlCol="0" anchor="t">
              <a:spAutoFit/>
            </a:bodyPr>
            <a:p>
              <a:pPr algn="just">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just">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r>
                <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rPr>
                <a:t> </a:t>
              </a:r>
              <a:endPar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sym typeface="+mn-ea"/>
              </a:endParaRPr>
            </a:p>
          </p:txBody>
        </p:sp>
      </p:grpSp>
      <p:grpSp>
        <p:nvGrpSpPr>
          <p:cNvPr id="32" name="组合 31"/>
          <p:cNvGrpSpPr/>
          <p:nvPr/>
        </p:nvGrpSpPr>
        <p:grpSpPr>
          <a:xfrm rot="0">
            <a:off x="8233410" y="3866515"/>
            <a:ext cx="3467735" cy="1555750"/>
            <a:chOff x="2150" y="3494"/>
            <a:chExt cx="5461" cy="2450"/>
          </a:xfrm>
        </p:grpSpPr>
        <p:sp>
          <p:nvSpPr>
            <p:cNvPr id="39" name="圆角矩形 38"/>
            <p:cNvSpPr/>
            <p:nvPr/>
          </p:nvSpPr>
          <p:spPr>
            <a:xfrm>
              <a:off x="2253" y="5394"/>
              <a:ext cx="2292" cy="550"/>
            </a:xfrm>
            <a:prstGeom prst="roundRect">
              <a:avLst>
                <a:gd name="adj" fmla="val 50000"/>
              </a:avLst>
            </a:prstGeom>
            <a:solidFill>
              <a:srgbClr val="3050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sz="1200">
                  <a:latin typeface="汉仪晓波花月圆W" panose="00020600040101010101" charset="-122"/>
                  <a:ea typeface="汉仪晓波花月圆W" panose="00020600040101010101" charset="-122"/>
                  <a:cs typeface="汉仪晓波花月圆W" panose="00020600040101010101" charset="-122"/>
                </a:rPr>
                <a:t>应用场景</a:t>
              </a:r>
              <a:endParaRPr lang="zh-CN" sz="1200">
                <a:latin typeface="汉仪晓波花月圆W" panose="00020600040101010101" charset="-122"/>
                <a:ea typeface="汉仪晓波花月圆W" panose="00020600040101010101" charset="-122"/>
                <a:cs typeface="汉仪晓波花月圆W" panose="00020600040101010101" charset="-122"/>
              </a:endParaRPr>
            </a:p>
          </p:txBody>
        </p:sp>
        <p:sp>
          <p:nvSpPr>
            <p:cNvPr id="40" name="文本框 39"/>
            <p:cNvSpPr txBox="1"/>
            <p:nvPr/>
          </p:nvSpPr>
          <p:spPr>
            <a:xfrm>
              <a:off x="2150" y="3494"/>
              <a:ext cx="5461" cy="1743"/>
            </a:xfrm>
            <a:prstGeom prst="rect">
              <a:avLst/>
            </a:prstGeom>
            <a:noFill/>
          </p:spPr>
          <p:txBody>
            <a:bodyPr wrap="square" rtlCol="0" anchor="t">
              <a:spAutoFit/>
            </a:bodyPr>
            <a:p>
              <a:pPr algn="just">
                <a:lnSpc>
                  <a:spcPct val="150000"/>
                </a:lnSpc>
              </a:pPr>
              <a:r>
                <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请在此输入标题</a:t>
              </a:r>
              <a:endParaRPr lang="zh-CN" altLang="en-US" sz="1400" b="1">
                <a:solidFill>
                  <a:schemeClr val="tx1"/>
                </a:solidFill>
                <a:latin typeface="汉仪晓波花月圆W" panose="00020600040101010101" charset="-122"/>
                <a:ea typeface="汉仪晓波花月圆W" panose="00020600040101010101" charset="-122"/>
                <a:cs typeface="汉仪晓波花月圆W" panose="00020600040101010101" charset="-122"/>
              </a:endParaRPr>
            </a:p>
            <a:p>
              <a:pPr algn="just">
                <a:lnSpc>
                  <a:spcPct val="150000"/>
                </a:lnSpc>
              </a:pP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请在此输入</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应用场景</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latin typeface="汉仪晓波花月圆W" panose="00020600040101010101" charset="-122"/>
                  <a:ea typeface="汉仪晓波花月圆W" panose="00020600040101010101" charset="-122"/>
                  <a:cs typeface="汉仪晓波花月圆W" panose="00020600040101010101" charset="-122"/>
                  <a:sym typeface="+mn-ea"/>
                </a:rPr>
                <a:t>请在此输入应用场景详细内容</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sym typeface="+mn-ea"/>
                </a:rPr>
                <a:t> </a:t>
              </a:r>
              <a:r>
                <a:rPr lang="zh-CN" altLang="en-US" sz="1000">
                  <a:solidFill>
                    <a:schemeClr val="tx1"/>
                  </a:solidFill>
                  <a:latin typeface="汉仪晓波花月圆W" panose="00020600040101010101" charset="-122"/>
                  <a:ea typeface="汉仪晓波花月圆W" panose="00020600040101010101" charset="-122"/>
                  <a:cs typeface="汉仪晓波花月圆W" panose="00020600040101010101" charset="-122"/>
                </a:rPr>
                <a:t>Please enter details here Please enter details here</a:t>
              </a:r>
              <a:r>
                <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rPr>
                <a:t> </a:t>
              </a:r>
              <a:endParaRPr lang="zh-CN" altLang="en-US" sz="1000">
                <a:solidFill>
                  <a:schemeClr val="tx1"/>
                </a:solidFill>
                <a:latin typeface="汉仪雅酷黑 45W" panose="020B0404020202020204" charset="-122"/>
                <a:ea typeface="汉仪雅酷黑 45W" panose="020B0404020202020204" charset="-122"/>
                <a:cs typeface="汉仪雅酷黑 45W" panose="020B0404020202020204" charset="-122"/>
                <a:sym typeface="+mn-ea"/>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7" name="组合 26"/>
          <p:cNvGrpSpPr/>
          <p:nvPr/>
        </p:nvGrpSpPr>
        <p:grpSpPr>
          <a:xfrm>
            <a:off x="-317" y="556260"/>
            <a:ext cx="12192635" cy="5745480"/>
            <a:chOff x="-1" y="927"/>
            <a:chExt cx="19201" cy="9048"/>
          </a:xfrm>
        </p:grpSpPr>
        <p:grpSp>
          <p:nvGrpSpPr>
            <p:cNvPr id="6" name="组合 5"/>
            <p:cNvGrpSpPr/>
            <p:nvPr/>
          </p:nvGrpSpPr>
          <p:grpSpPr>
            <a:xfrm rot="0">
              <a:off x="-1" y="927"/>
              <a:ext cx="5530" cy="1489"/>
              <a:chOff x="1180" y="1054"/>
              <a:chExt cx="4275" cy="1151"/>
            </a:xfrm>
          </p:grpSpPr>
          <p:cxnSp>
            <p:nvCxnSpPr>
              <p:cNvPr id="3" name="直接连接符 2"/>
              <p:cNvCxnSpPr/>
              <p:nvPr/>
            </p:nvCxnSpPr>
            <p:spPr>
              <a:xfrm>
                <a:off x="1180" y="2196"/>
                <a:ext cx="4069" cy="0"/>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5227" y="1063"/>
                <a:ext cx="0" cy="1142"/>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455" y="1054"/>
                <a:ext cx="0" cy="1142"/>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0" flipH="1" flipV="1">
              <a:off x="13670" y="8487"/>
              <a:ext cx="5530" cy="1489"/>
              <a:chOff x="1180" y="1054"/>
              <a:chExt cx="4275" cy="1151"/>
            </a:xfrm>
          </p:grpSpPr>
          <p:cxnSp>
            <p:nvCxnSpPr>
              <p:cNvPr id="24" name="直接连接符 23"/>
              <p:cNvCxnSpPr/>
              <p:nvPr/>
            </p:nvCxnSpPr>
            <p:spPr>
              <a:xfrm>
                <a:off x="1180" y="2196"/>
                <a:ext cx="4069" cy="0"/>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227" y="1063"/>
                <a:ext cx="0" cy="1142"/>
              </a:xfrm>
              <a:prstGeom prst="line">
                <a:avLst/>
              </a:prstGeom>
              <a:ln w="38100">
                <a:solidFill>
                  <a:srgbClr val="30506A"/>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455" y="1054"/>
                <a:ext cx="0" cy="1142"/>
              </a:xfrm>
              <a:prstGeom prst="line">
                <a:avLst/>
              </a:prstGeom>
              <a:ln w="88900">
                <a:solidFill>
                  <a:srgbClr val="96CDDF"/>
                </a:solidFill>
              </a:ln>
            </p:spPr>
            <p:style>
              <a:lnRef idx="1">
                <a:schemeClr val="accent1"/>
              </a:lnRef>
              <a:fillRef idx="0">
                <a:schemeClr val="accent1"/>
              </a:fillRef>
              <a:effectRef idx="0">
                <a:schemeClr val="accent1"/>
              </a:effectRef>
              <a:fontRef idx="minor">
                <a:schemeClr val="tx1"/>
              </a:fontRef>
            </p:style>
          </p:cxnSp>
        </p:grpSp>
      </p:grpSp>
      <p:cxnSp>
        <p:nvCxnSpPr>
          <p:cNvPr id="28" name="直接连接符 27"/>
          <p:cNvCxnSpPr/>
          <p:nvPr/>
        </p:nvCxnSpPr>
        <p:spPr>
          <a:xfrm>
            <a:off x="213360" y="1640840"/>
            <a:ext cx="0" cy="2041525"/>
          </a:xfrm>
          <a:prstGeom prst="line">
            <a:avLst/>
          </a:prstGeom>
          <a:ln w="38100">
            <a:solidFill>
              <a:srgbClr val="96CDDF"/>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1974195" y="3176270"/>
            <a:ext cx="0" cy="2041525"/>
          </a:xfrm>
          <a:prstGeom prst="line">
            <a:avLst/>
          </a:prstGeom>
          <a:ln w="38100">
            <a:solidFill>
              <a:srgbClr val="96CDD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789998" y="2829560"/>
            <a:ext cx="4606925" cy="1445260"/>
          </a:xfrm>
          <a:prstGeom prst="rect">
            <a:avLst/>
          </a:prstGeom>
          <a:noFill/>
        </p:spPr>
        <p:txBody>
          <a:bodyPr wrap="square" rtlCol="0">
            <a:spAutoFit/>
          </a:bodyPr>
          <a:p>
            <a:pPr algn="dist"/>
            <a:r>
              <a:rPr lang="zh-CN" altLang="en-US" sz="4400">
                <a:solidFill>
                  <a:schemeClr val="tx1"/>
                </a:solidFill>
                <a:latin typeface="Times New Roman" panose="02020603050405020304" charset="0"/>
                <a:ea typeface="汉仪晓波花月圆W" panose="00020600040101010101" charset="-122"/>
                <a:cs typeface="Times New Roman" panose="02020603050405020304" charset="0"/>
                <a:sym typeface="+mn-ea"/>
              </a:rPr>
              <a:t>Thanks for watching</a:t>
            </a:r>
            <a:endParaRPr lang="zh-CN" altLang="en-US" sz="4400">
              <a:solidFill>
                <a:schemeClr val="tx1"/>
              </a:solidFill>
              <a:latin typeface="Times New Roman" panose="02020603050405020304" charset="0"/>
              <a:ea typeface="汉仪晓波花月圆W" panose="00020600040101010101" charset="-122"/>
              <a:cs typeface="Times New Roman" panose="02020603050405020304" charset="0"/>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275.7,&quot;left&quot;:110.05,&quot;top&quot;:159.9,&quot;width&quot;:747.5}"/>
</p:tagLst>
</file>

<file path=ppt/tags/tag2.xml><?xml version="1.0" encoding="utf-8"?>
<p:tagLst xmlns:p="http://schemas.openxmlformats.org/presentationml/2006/main">
  <p:tag name="KSO_WM_DIAGRAM_VIRTUALLY_FRAME" val="{&quot;height&quot;:275.7,&quot;left&quot;:110.05,&quot;top&quot;:159.9,&quot;width&quot;:747.5}"/>
</p:tagLst>
</file>

<file path=ppt/tags/tag3.xml><?xml version="1.0" encoding="utf-8"?>
<p:tagLst xmlns:p="http://schemas.openxmlformats.org/presentationml/2006/main">
  <p:tag name="KSO_WM_DIAGRAM_VIRTUALLY_FRAME" val="{&quot;height&quot;:275.7,&quot;left&quot;:110.05,&quot;top&quot;:159.9,&quot;width&quot;:747.5}"/>
</p:tagLst>
</file>

<file path=ppt/tags/tag4.xml><?xml version="1.0" encoding="utf-8"?>
<p:tagLst xmlns:p="http://schemas.openxmlformats.org/presentationml/2006/main">
  <p:tag name="KSO_WM_DIAGRAM_VIRTUALLY_FRAME" val="{&quot;height&quot;:275.7,&quot;left&quot;:110.05,&quot;top&quot;:159.9,&quot;width&quot;:747.5}"/>
</p:tagLst>
</file>

<file path=ppt/tags/tag5.xml><?xml version="1.0" encoding="utf-8"?>
<p:tagLst xmlns:p="http://schemas.openxmlformats.org/presentationml/2006/main">
  <p:tag name="KSO_WM_DIAGRAM_VIRTUALLY_FRAME" val="{&quot;height&quot;:275.7,&quot;left&quot;:110.05,&quot;top&quot;:159.9,&quot;width&quot;:747.5}"/>
</p:tagLst>
</file>

<file path=ppt/tags/tag6.xml><?xml version="1.0" encoding="utf-8"?>
<p:tagLst xmlns:p="http://schemas.openxmlformats.org/presentationml/2006/main">
  <p:tag name="KSO_WM_DIAGRAM_VIRTUALLY_FRAME" val="{&quot;height&quot;:275.7,&quot;left&quot;:110.05,&quot;top&quot;:159.9,&quot;width&quot;:747.5}"/>
</p:tagLst>
</file>

<file path=ppt/tags/tag7.xml><?xml version="1.0" encoding="utf-8"?>
<p:tagLst xmlns:p="http://schemas.openxmlformats.org/presentationml/2006/main">
  <p:tag name="KSO_WM_DIAGRAM_VIRTUALLY_FRAME" val="{&quot;height&quot;:275.7,&quot;left&quot;:110.05,&quot;top&quot;:159.9,&quot;width&quot;:747.5}"/>
</p:tagLst>
</file>

<file path=ppt/tags/tag8.xml><?xml version="1.0" encoding="utf-8"?>
<p:tagLst xmlns:p="http://schemas.openxmlformats.org/presentationml/2006/main">
  <p:tag name="KSO_WM_DIAGRAM_VIRTUALLY_FRAME" val="{&quot;height&quot;:275.7,&quot;left&quot;:110.05,&quot;top&quot;:159.9,&quot;width&quot;:747.5}"/>
</p:tagLst>
</file>

<file path=ppt/tags/tag9.xml><?xml version="1.0" encoding="utf-8"?>
<p:tagLst xmlns:p="http://schemas.openxmlformats.org/presentationml/2006/main">
  <p:tag name="KSO_WM_DIAGRAM_VIRTUALLY_FRAME" val="{&quot;height&quot;:275.7,&quot;left&quot;:110.05,&quot;top&quot;:159.9,&quot;width&quot;:747.5}"/>
</p:tagLst>
</file>

<file path=ppt/tags/tag10.xml><?xml version="1.0" encoding="utf-8"?>
<p:tagLst xmlns:p="http://schemas.openxmlformats.org/presentationml/2006/main">
  <p:tag name="KSO_WM_DIAGRAM_VIRTUALLY_FRAME" val="{&quot;height&quot;:275.7,&quot;left&quot;:110.05,&quot;top&quot;:159.9,&quot;width&quot;:747.5}"/>
</p:tagLst>
</file>

<file path=ppt/tags/tag11.xml><?xml version="1.0" encoding="utf-8"?>
<p:tagLst xmlns:p="http://schemas.openxmlformats.org/presentationml/2006/main">
  <p:tag name="KSO_WM_DIAGRAM_VIRTUALLY_FRAME" val="{&quot;height&quot;:275.7,&quot;left&quot;:110.05,&quot;top&quot;:159.9,&quot;width&quot;:747.5}"/>
</p:tagLst>
</file>

<file path=ppt/tags/tag12.xml><?xml version="1.0" encoding="utf-8"?>
<p:tagLst xmlns:p="http://schemas.openxmlformats.org/presentationml/2006/main">
  <p:tag name="KSO_WM_DIAGRAM_VIRTUALLY_FRAME" val="{&quot;height&quot;:275.7,&quot;left&quot;:110.05,&quot;top&quot;:159.9,&quot;width&quot;:747.5}"/>
</p:tagLst>
</file>

<file path=ppt/tags/tag13.xml><?xml version="1.0" encoding="utf-8"?>
<p:tagLst xmlns:p="http://schemas.openxmlformats.org/presentationml/2006/main">
  <p:tag name="KSO_WM_DIAGRAM_VIRTUALLY_FRAME" val="{&quot;height&quot;:275.7,&quot;left&quot;:110.05,&quot;top&quot;:159.9,&quot;width&quot;:747.5}"/>
</p:tagLst>
</file>

<file path=ppt/tags/tag14.xml><?xml version="1.0" encoding="utf-8"?>
<p:tagLst xmlns:p="http://schemas.openxmlformats.org/presentationml/2006/main">
  <p:tag name="KSO_WM_DIAGRAM_VIRTUALLY_FRAME" val="{&quot;height&quot;:275.7,&quot;left&quot;:110.05,&quot;top&quot;:159.9,&quot;width&quot;:747.5}"/>
</p:tagLst>
</file>

<file path=ppt/tags/tag15.xml><?xml version="1.0" encoding="utf-8"?>
<p:tagLst xmlns:p="http://schemas.openxmlformats.org/presentationml/2006/main">
  <p:tag name="KSO_WM_DIAGRAM_VIRTUALLY_FRAME" val="{&quot;height&quot;:275.7,&quot;left&quot;:110.05,&quot;top&quot;:159.9,&quot;width&quot;:747.5}"/>
</p:tagLst>
</file>

<file path=ppt/tags/tag16.xml><?xml version="1.0" encoding="utf-8"?>
<p:tagLst xmlns:p="http://schemas.openxmlformats.org/presentationml/2006/main">
  <p:tag name="KSO_WM_DIAGRAM_VIRTUALLY_FRAME" val="{&quot;height&quot;:275.7,&quot;left&quot;:110.05,&quot;top&quot;:159.9,&quot;width&quot;:747.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3775</Words>
  <Application>WPS 演示</Application>
  <PresentationFormat>宽屏</PresentationFormat>
  <Paragraphs>187</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Arial</vt:lpstr>
      <vt:lpstr>SimSun</vt:lpstr>
      <vt:lpstr>Wingdings</vt:lpstr>
      <vt:lpstr>Times New Roman</vt:lpstr>
      <vt:lpstr>汉仪晓波花月圆W</vt:lpstr>
      <vt:lpstr>汉仪雅酷黑 45W</vt:lpstr>
      <vt:lpstr>Microsoft YaHei</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程雪垠</cp:lastModifiedBy>
  <cp:revision>10</cp:revision>
  <dcterms:created xsi:type="dcterms:W3CDTF">2020-02-27T06:46:00Z</dcterms:created>
  <dcterms:modified xsi:type="dcterms:W3CDTF">2026-08-16T14:43:21Z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KSOTemplateUUID">
    <vt:lpwstr>v1.0_mb_YIqu5gXhv80TirNp1fnrEQ==</vt:lpwstr>
  </property>
  <property fmtid="{D5CDD505-2E9C-101B-9397-08002B2CF9AE}" pid="4" name="ICV">
    <vt:lpwstr>5E0F15D943434008832CB69128640586_11</vt:lpwstr>
  </property>
</Properties>
</file>