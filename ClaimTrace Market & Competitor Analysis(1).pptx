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2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08"/>
        <p:guide pos="284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① </a:t>
            </a:r>
            <a:r>
              <a:rPr lang="en-US" altLang="zh-CN"/>
              <a:t>What is the market?</a:t>
            </a:r>
            <a:endParaRPr lang="en-US" altLang="zh-CN"/>
          </a:p>
          <a:p>
            <a:r>
              <a:rPr lang="en-US" altLang="zh-CN"/>
              <a:t>Our market is academic writing. Overleaf reports more than 20 million users, and 5.7 million papers were published in 2024, 46 percent more than in 2019. All of this work depends on reliable citations.② How serious is the problem?</a:t>
            </a:r>
            <a:endParaRPr lang="en-US" altLang="zh-CN"/>
          </a:p>
          <a:p>
            <a:r>
              <a:rPr lang="en-US" altLang="zh-CN"/>
              <a:t>Citation errors are common. A 2025 review by Baethge and Jergas covered 46 studies and more than 32,000 quotations. It found that 16.9 percent were inaccurate, including 8 percent with major errors, where the source means something different from the author</a:t>
            </a:r>
            <a:r>
              <a:rPr lang="zh-CN" altLang="en-US"/>
              <a:t>’</a:t>
            </a:r>
            <a:r>
              <a:rPr lang="en-US" altLang="zh-CN"/>
              <a:t>s claim. The review found no clear improvement over 40 years.④ Market size and the gap</a:t>
            </a:r>
            <a:endParaRPr lang="en-US" altLang="zh-CN"/>
          </a:p>
          <a:p>
            <a:r>
              <a:rPr lang="en-US" altLang="zh-CN"/>
              <a:t>The market is difficult to size precisely. Three commercial estimates for the same year range from $371 million to $1.15 billion, almost three times apart. Clarivate reported $1.266 billion in audited revenue for its broader Academia and Government segment. We show that figure with its scope, rather than present it as the size of our specific market.</a:t>
            </a:r>
            <a:endParaRPr lang="en-US" altLang="zh-CN"/>
          </a:p>
          <a:p>
            <a:r>
              <a:rPr lang="en-US" altLang="zh-CN"/>
              <a:t>Existing tools address related tasks. Reference managers organise citations. Turnitin checks text similarity. Reference checkers confirm that a record exists, while scite shows how other papers cite a source. But these established tools do not directly answer our question: Does my source support my sentence? ReciteWorks says it does not currently offer that check. That is the gap ClaimTrace aims to fill.</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2" name="Rectangle 1"/>
          <p:cNvSpPr/>
          <p:nvPr/>
        </p:nvSpPr>
        <p:spPr>
          <a:xfrm>
            <a:off x="685800" y="5619750"/>
            <a:ext cx="10820400" cy="6286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3" name="Rounded Rectangle 2"/>
          <p:cNvSpPr/>
          <p:nvPr/>
        </p:nvSpPr>
        <p:spPr>
          <a:xfrm>
            <a:off x="685800" y="661987"/>
            <a:ext cx="95250" cy="95250"/>
          </a:xfrm>
          <a:prstGeom prst="roundRect">
            <a:avLst>
              <a:gd name="adj" fmla="val 2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4" name="Rectangle 3"/>
          <p:cNvSpPr/>
          <p:nvPr/>
        </p:nvSpPr>
        <p:spPr>
          <a:xfrm>
            <a:off x="685800" y="3810892"/>
            <a:ext cx="53340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5" name="Rectangle 4"/>
          <p:cNvSpPr/>
          <p:nvPr/>
        </p:nvSpPr>
        <p:spPr>
          <a:xfrm>
            <a:off x="685800" y="5619750"/>
            <a:ext cx="1082040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6" name="TextBox 5"/>
          <p:cNvSpPr txBox="1"/>
          <p:nvPr/>
        </p:nvSpPr>
        <p:spPr>
          <a:xfrm>
            <a:off x="895350" y="609600"/>
            <a:ext cx="3500437" cy="200025"/>
          </a:xfrm>
          <a:prstGeom prst="rect">
            <a:avLst/>
          </a:prstGeom>
          <a:noFill/>
        </p:spPr>
        <p:txBody>
          <a:bodyPr wrap="none" lIns="0" tIns="0" rIns="0" bIns="0" anchor="t">
            <a:spAutoFit/>
          </a:bodyPr>
          <a:lstStyle/>
          <a:p>
            <a:pPr algn="l"/>
            <a:r>
              <a:rPr sz="1200" b="1" i="0" u="none">
                <a:solidFill>
                  <a:srgbClr val="94A3B8"/>
                </a:solidFill>
                <a:latin typeface="Times New Roman Regular" panose="02020503050405090304" charset="0"/>
                <a:cs typeface="Times New Roman Regular" panose="02020503050405090304" charset="0"/>
              </a:rPr>
              <a:t>SOFTWARE INNOVATION STUDIO</a:t>
            </a:r>
            <a:endParaRPr sz="1200" b="1" i="0" u="none">
              <a:solidFill>
                <a:srgbClr val="94A3B8"/>
              </a:solidFill>
              <a:latin typeface="Times New Roman Regular" panose="02020503050405090304" charset="0"/>
              <a:cs typeface="Times New Roman Regular" panose="02020503050405090304" charset="0"/>
            </a:endParaRPr>
          </a:p>
        </p:txBody>
      </p:sp>
      <p:sp>
        <p:nvSpPr>
          <p:cNvPr id="7" name="TextBox 6"/>
          <p:cNvSpPr txBox="1"/>
          <p:nvPr/>
        </p:nvSpPr>
        <p:spPr>
          <a:xfrm>
            <a:off x="685800" y="2589907"/>
            <a:ext cx="11506200" cy="525660"/>
          </a:xfrm>
          <a:prstGeom prst="rect">
            <a:avLst/>
          </a:prstGeom>
          <a:noFill/>
        </p:spPr>
        <p:txBody>
          <a:bodyPr wrap="none" lIns="0" tIns="0" rIns="0" bIns="0" anchor="t">
            <a:spAutoFit/>
          </a:bodyPr>
          <a:lstStyle/>
          <a:p>
            <a:pPr algn="l">
              <a:lnSpc>
                <a:spcPts val="4140"/>
              </a:lnSpc>
            </a:pPr>
            <a:r>
              <a:rPr sz="3450" b="1" i="0" u="none">
                <a:solidFill>
                  <a:srgbClr val="F8FAFC"/>
                </a:solidFill>
                <a:latin typeface="Times New Roman Regular" panose="02020503050405090304" charset="0"/>
                <a:cs typeface="Times New Roman Regular" panose="02020503050405090304" charset="0"/>
              </a:rPr>
              <a:t>ClaimTrace — the academic citation audit engine</a:t>
            </a:r>
            <a:endParaRPr sz="3450" b="1" i="0" u="none">
              <a:solidFill>
                <a:srgbClr val="F8FAFC"/>
              </a:solidFill>
              <a:latin typeface="Times New Roman Regular" panose="02020503050405090304" charset="0"/>
              <a:cs typeface="Times New Roman Regular" panose="02020503050405090304" charset="0"/>
            </a:endParaRPr>
          </a:p>
        </p:txBody>
      </p:sp>
      <p:sp>
        <p:nvSpPr>
          <p:cNvPr id="8" name="TextBox 7"/>
          <p:cNvSpPr txBox="1"/>
          <p:nvPr/>
        </p:nvSpPr>
        <p:spPr>
          <a:xfrm>
            <a:off x="685800" y="3267967"/>
            <a:ext cx="11506200" cy="314325"/>
          </a:xfrm>
          <a:prstGeom prst="rect">
            <a:avLst/>
          </a:prstGeom>
          <a:noFill/>
        </p:spPr>
        <p:txBody>
          <a:bodyPr wrap="none" lIns="0" tIns="0" rIns="0" bIns="0" anchor="t">
            <a:spAutoFit/>
          </a:bodyPr>
          <a:lstStyle/>
          <a:p>
            <a:pPr algn="l"/>
            <a:r>
              <a:rPr sz="1950" b="1" i="0" u="none">
                <a:solidFill>
                  <a:srgbClr val="38BDF8"/>
                </a:solidFill>
                <a:latin typeface="Times New Roman Regular" panose="02020503050405090304" charset="0"/>
                <a:cs typeface="Times New Roman Regular" panose="02020503050405090304" charset="0"/>
              </a:rPr>
              <a:t>Market &amp; Competitor Analysis</a:t>
            </a:r>
            <a:endParaRPr sz="1950" b="1" i="0" u="none">
              <a:solidFill>
                <a:srgbClr val="38BDF8"/>
              </a:solidFill>
              <a:latin typeface="Times New Roman Regular" panose="02020503050405090304" charset="0"/>
              <a:cs typeface="Times New Roman Regular" panose="02020503050405090304" charset="0"/>
            </a:endParaRPr>
          </a:p>
        </p:txBody>
      </p:sp>
      <p:sp>
        <p:nvSpPr>
          <p:cNvPr id="9" name="TextBox 8"/>
          <p:cNvSpPr txBox="1"/>
          <p:nvPr/>
        </p:nvSpPr>
        <p:spPr>
          <a:xfrm>
            <a:off x="685800" y="5819775"/>
            <a:ext cx="5776595" cy="173355"/>
          </a:xfrm>
          <a:prstGeom prst="rect">
            <a:avLst/>
          </a:prstGeom>
          <a:noFill/>
        </p:spPr>
        <p:txBody>
          <a:bodyPr wrap="none" lIns="0" tIns="0" rIns="0" bIns="0" anchor="t">
            <a:spAutoFit/>
          </a:bodyPr>
          <a:lstStyle/>
          <a:p>
            <a:pPr algn="l"/>
            <a:r>
              <a:rPr sz="1125" b="0" i="0" u="none">
                <a:solidFill>
                  <a:srgbClr val="CBD5E1"/>
                </a:solidFill>
                <a:latin typeface="Times New Roman Regular" panose="02020503050405090304" charset="0"/>
                <a:cs typeface="Times New Roman Regular" panose="02020503050405090304" charset="0"/>
              </a:rPr>
              <a:t>Group 18 · Sichen Liu · Hongyang Chen · Siyuan Sun · Jun Li · Yi Jiang · Zheng Fu · </a:t>
            </a:r>
            <a:r>
              <a:rPr lang="en-US" sz="1125" b="0" i="0" u="none">
                <a:solidFill>
                  <a:srgbClr val="CBD5E1"/>
                </a:solidFill>
                <a:latin typeface="Times New Roman Regular" panose="02020503050405090304" charset="0"/>
                <a:cs typeface="Times New Roman Regular" panose="02020503050405090304" charset="0"/>
              </a:rPr>
              <a:t>Yiyang </a:t>
            </a:r>
            <a:r>
              <a:rPr lang="en-US" sz="1125" b="0" i="0" u="none">
                <a:solidFill>
                  <a:srgbClr val="CBD5E1"/>
                </a:solidFill>
                <a:latin typeface="Times New Roman Regular" panose="02020503050405090304" charset="0"/>
                <a:cs typeface="Times New Roman Regular" panose="02020503050405090304" charset="0"/>
              </a:rPr>
              <a:t>Yuan</a:t>
            </a:r>
            <a:endParaRPr lang="en-US" sz="1125" b="0" i="0" u="none">
              <a:solidFill>
                <a:srgbClr val="CBD5E1"/>
              </a:solidFill>
              <a:latin typeface="Times New Roman Regular" panose="02020503050405090304" charset="0"/>
              <a:cs typeface="Times New Roman Regular" panose="0202050305040509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ounded Rectangle 1"/>
          <p:cNvSpPr/>
          <p:nvPr/>
        </p:nvSpPr>
        <p:spPr>
          <a:xfrm>
            <a:off x="533400" y="6069508"/>
            <a:ext cx="11125200" cy="445591"/>
          </a:xfrm>
          <a:prstGeom prst="roundRect">
            <a:avLst>
              <a:gd name="adj" fmla="val 1282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3" name="Rounded Rectangle 2"/>
          <p:cNvSpPr/>
          <p:nvPr/>
        </p:nvSpPr>
        <p:spPr>
          <a:xfrm>
            <a:off x="533400" y="942975"/>
            <a:ext cx="5476875" cy="2451050"/>
          </a:xfrm>
          <a:prstGeom prst="roundRect">
            <a:avLst>
              <a:gd name="adj" fmla="val 310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4" name="Rounded Rectangle 3"/>
          <p:cNvSpPr/>
          <p:nvPr/>
        </p:nvSpPr>
        <p:spPr>
          <a:xfrm>
            <a:off x="6181725" y="942975"/>
            <a:ext cx="5476875" cy="2451050"/>
          </a:xfrm>
          <a:prstGeom prst="roundRect">
            <a:avLst>
              <a:gd name="adj" fmla="val 310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5" name="Rounded Rectangle 4"/>
          <p:cNvSpPr/>
          <p:nvPr/>
        </p:nvSpPr>
        <p:spPr>
          <a:xfrm>
            <a:off x="533400" y="3565475"/>
            <a:ext cx="5476875" cy="2389733"/>
          </a:xfrm>
          <a:prstGeom prst="roundRect">
            <a:avLst>
              <a:gd name="adj" fmla="val 318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6" name="Rounded Rectangle 5"/>
          <p:cNvSpPr/>
          <p:nvPr/>
        </p:nvSpPr>
        <p:spPr>
          <a:xfrm>
            <a:off x="6181725" y="3565475"/>
            <a:ext cx="5476875" cy="2389733"/>
          </a:xfrm>
          <a:prstGeom prst="roundRect">
            <a:avLst>
              <a:gd name="adj" fmla="val 3188"/>
            </a:avLst>
          </a:prstGeom>
          <a:solidFill>
            <a:srgbClr val="FFF1F2"/>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7" name="Rectangle 6"/>
          <p:cNvSpPr/>
          <p:nvPr/>
        </p:nvSpPr>
        <p:spPr>
          <a:xfrm>
            <a:off x="533400" y="6069508"/>
            <a:ext cx="28575" cy="44559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8" name="Rounded Rectangle 7"/>
          <p:cNvSpPr/>
          <p:nvPr/>
        </p:nvSpPr>
        <p:spPr>
          <a:xfrm>
            <a:off x="733425" y="1123950"/>
            <a:ext cx="200025" cy="209550"/>
          </a:xfrm>
          <a:prstGeom prst="roundRect">
            <a:avLst>
              <a:gd name="adj" fmla="val 19047"/>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9" name="Rounded Rectangle 8"/>
          <p:cNvSpPr/>
          <p:nvPr/>
        </p:nvSpPr>
        <p:spPr>
          <a:xfrm>
            <a:off x="6381750" y="1123950"/>
            <a:ext cx="228600" cy="209550"/>
          </a:xfrm>
          <a:prstGeom prst="roundRect">
            <a:avLst>
              <a:gd name="adj" fmla="val 18181"/>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0" name="Rounded Rectangle 9"/>
          <p:cNvSpPr/>
          <p:nvPr/>
        </p:nvSpPr>
        <p:spPr>
          <a:xfrm>
            <a:off x="733425" y="3746450"/>
            <a:ext cx="228600" cy="209550"/>
          </a:xfrm>
          <a:prstGeom prst="roundRect">
            <a:avLst>
              <a:gd name="adj" fmla="val 18181"/>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1" name="Rounded Rectangle 10"/>
          <p:cNvSpPr/>
          <p:nvPr/>
        </p:nvSpPr>
        <p:spPr>
          <a:xfrm>
            <a:off x="6381750" y="3746450"/>
            <a:ext cx="238125" cy="209550"/>
          </a:xfrm>
          <a:prstGeom prst="roundRect">
            <a:avLst>
              <a:gd name="adj" fmla="val 18181"/>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2" name="TextBox 11"/>
          <p:cNvSpPr txBox="1"/>
          <p:nvPr/>
        </p:nvSpPr>
        <p:spPr>
          <a:xfrm>
            <a:off x="533400" y="342900"/>
            <a:ext cx="3369171" cy="333375"/>
          </a:xfrm>
          <a:prstGeom prst="rect">
            <a:avLst/>
          </a:prstGeom>
          <a:noFill/>
        </p:spPr>
        <p:txBody>
          <a:bodyPr wrap="none" lIns="0" tIns="0" rIns="0" bIns="0" anchor="t">
            <a:spAutoFit/>
          </a:bodyPr>
          <a:lstStyle/>
          <a:p>
            <a:pPr algn="l"/>
            <a:r>
              <a:rPr sz="2100" b="1" i="0" u="none">
                <a:solidFill>
                  <a:srgbClr val="0F172A"/>
                </a:solidFill>
                <a:latin typeface="Times New Roman Regular" panose="02020503050405090304" charset="0"/>
                <a:cs typeface="Times New Roman Regular" panose="02020503050405090304" charset="0"/>
              </a:rPr>
              <a:t>The targeted market</a:t>
            </a:r>
            <a:endParaRPr sz="2100" b="1" i="0" u="none">
              <a:solidFill>
                <a:srgbClr val="0F172A"/>
              </a:solidFill>
              <a:latin typeface="Times New Roman Regular" panose="02020503050405090304" charset="0"/>
              <a:cs typeface="Times New Roman Regular" panose="02020503050405090304" charset="0"/>
            </a:endParaRPr>
          </a:p>
        </p:txBody>
      </p:sp>
      <p:sp>
        <p:nvSpPr>
          <p:cNvPr id="13" name="TextBox 12"/>
          <p:cNvSpPr txBox="1"/>
          <p:nvPr/>
        </p:nvSpPr>
        <p:spPr>
          <a:xfrm>
            <a:off x="9525000" y="514350"/>
            <a:ext cx="2667000" cy="161925"/>
          </a:xfrm>
          <a:prstGeom prst="rect">
            <a:avLst/>
          </a:prstGeom>
          <a:noFill/>
        </p:spPr>
        <p:txBody>
          <a:bodyPr wrap="none" lIns="0" tIns="0" rIns="0" bIns="0" anchor="t">
            <a:spAutoFit/>
          </a:bodyPr>
          <a:lstStyle/>
          <a:p>
            <a:pPr algn="l"/>
            <a:r>
              <a:rPr sz="975" b="1" i="0" u="none">
                <a:solidFill>
                  <a:srgbClr val="64748B"/>
                </a:solidFill>
                <a:latin typeface="Times New Roman Regular" panose="02020503050405090304" charset="0"/>
                <a:cs typeface="Times New Roman Regular" panose="02020503050405090304" charset="0"/>
              </a:rPr>
              <a:t>MARKET FOUNDATION &amp; CORE GAP</a:t>
            </a:r>
            <a:endParaRPr sz="975" b="1" i="0" u="none">
              <a:solidFill>
                <a:srgbClr val="64748B"/>
              </a:solidFill>
              <a:latin typeface="Times New Roman Regular" panose="02020503050405090304" charset="0"/>
              <a:cs typeface="Times New Roman Regular" panose="02020503050405090304" charset="0"/>
            </a:endParaRPr>
          </a:p>
        </p:txBody>
      </p:sp>
      <p:sp>
        <p:nvSpPr>
          <p:cNvPr id="14" name="TextBox 13"/>
          <p:cNvSpPr txBox="1"/>
          <p:nvPr/>
        </p:nvSpPr>
        <p:spPr>
          <a:xfrm>
            <a:off x="695325" y="6145708"/>
            <a:ext cx="10925175" cy="293191"/>
          </a:xfrm>
          <a:prstGeom prst="rect">
            <a:avLst/>
          </a:prstGeom>
          <a:noFill/>
        </p:spPr>
        <p:txBody>
          <a:bodyPr wrap="square" lIns="0" tIns="0" rIns="0" bIns="0" anchor="t">
            <a:spAutoFit/>
          </a:bodyPr>
          <a:lstStyle/>
          <a:p>
            <a:pPr algn="l">
              <a:lnSpc>
                <a:spcPts val="1155"/>
              </a:lnSpc>
            </a:pPr>
            <a:r>
              <a:rPr sz="825" b="1" i="0" u="none">
                <a:solidFill>
                  <a:srgbClr val="475569"/>
                </a:solidFill>
                <a:latin typeface="Times New Roman Regular" panose="02020503050405090304" charset="0"/>
                <a:cs typeface="Times New Roman Regular" panose="02020503050405090304" charset="0"/>
              </a:rPr>
              <a:t>Sources:</a:t>
            </a:r>
            <a:r>
              <a:rPr sz="825" b="0" i="0" u="none">
                <a:solidFill>
                  <a:srgbClr val="475569"/>
                </a:solidFill>
                <a:latin typeface="Times New Roman Regular" panose="02020503050405090304" charset="0"/>
                <a:cs typeface="Times New Roman Regular" panose="02020503050405090304" charset="0"/>
              </a:rPr>
              <a:t> Overleaf (20M+ users); Dimensions/STM Report (5.7M papers 2024); Baethge &amp; Jergas (2025) </a:t>
            </a:r>
            <a:r>
              <a:rPr sz="825" b="0" i="1" u="none">
                <a:solidFill>
                  <a:srgbClr val="475569"/>
                </a:solidFill>
                <a:latin typeface="Times New Roman Regular" panose="02020503050405090304" charset="0"/>
                <a:cs typeface="Times New Roman Regular" panose="02020503050405090304" charset="0"/>
              </a:rPr>
              <a:t>Res Integr Peer Rev</a:t>
            </a:r>
            <a:r>
              <a:rPr sz="825" b="0" i="0" u="none">
                <a:solidFill>
                  <a:srgbClr val="475569"/>
                </a:solidFill>
                <a:latin typeface="Times New Roman Regular" panose="02020503050405090304" charset="0"/>
                <a:cs typeface="Times New Roman Regular" panose="02020503050405090304" charset="0"/>
              </a:rPr>
              <a:t> (16.9% err, p=0.85); SEC Form 10-K Clarivate FY2025 ($1,266.0M); Zotero Annual Report 2024 (14.4M); </a:t>
            </a:r>
            <a:r>
              <a:rPr sz="825" b="0" i="1" u="none">
                <a:solidFill>
                  <a:srgbClr val="475569"/>
                </a:solidFill>
                <a:latin typeface="Times New Roman Regular" panose="02020503050405090304" charset="0"/>
                <a:cs typeface="Times New Roman Regular" panose="02020503050405090304" charset="0"/>
              </a:rPr>
              <a:t>Lancet</a:t>
            </a:r>
            <a:r>
              <a:rPr sz="825" b="0" i="0" u="none">
                <a:solidFill>
                  <a:srgbClr val="475569"/>
                </a:solidFill>
                <a:latin typeface="Times New Roman Regular" panose="02020503050405090304" charset="0"/>
                <a:cs typeface="Times New Roman Regular" panose="02020503050405090304" charset="0"/>
              </a:rPr>
              <a:t>/</a:t>
            </a:r>
            <a:r>
              <a:rPr sz="825" b="0" i="1" u="none">
                <a:solidFill>
                  <a:srgbClr val="475569"/>
                </a:solidFill>
                <a:latin typeface="Times New Roman Regular" panose="02020503050405090304" charset="0"/>
                <a:cs typeface="Times New Roman Regular" panose="02020503050405090304" charset="0"/>
              </a:rPr>
              <a:t>Nature</a:t>
            </a:r>
            <a:r>
              <a:rPr sz="825" b="0" i="0" u="none">
                <a:solidFill>
                  <a:srgbClr val="475569"/>
                </a:solidFill>
                <a:latin typeface="Times New Roman Regular" panose="02020503050405090304" charset="0"/>
                <a:cs typeface="Times New Roman Regular" panose="02020503050405090304" charset="0"/>
              </a:rPr>
              <a:t> 2026 PMC Audit (12× phantom citation growth).</a:t>
            </a:r>
            <a:endParaRPr sz="825" b="0" i="0" u="none">
              <a:solidFill>
                <a:srgbClr val="475569"/>
              </a:solidFill>
              <a:latin typeface="Times New Roman Regular" panose="02020503050405090304" charset="0"/>
              <a:cs typeface="Times New Roman Regular" panose="02020503050405090304" charset="0"/>
            </a:endParaRPr>
          </a:p>
        </p:txBody>
      </p:sp>
      <p:sp>
        <p:nvSpPr>
          <p:cNvPr id="15" name="TextBox 14"/>
          <p:cNvSpPr txBox="1"/>
          <p:nvPr/>
        </p:nvSpPr>
        <p:spPr>
          <a:xfrm>
            <a:off x="809625" y="1152525"/>
            <a:ext cx="142875" cy="152400"/>
          </a:xfrm>
          <a:prstGeom prst="rect">
            <a:avLst/>
          </a:prstGeom>
          <a:noFill/>
        </p:spPr>
        <p:txBody>
          <a:bodyPr wrap="square" lIns="0" tIns="0" rIns="0" bIns="0" anchor="t">
            <a:spAutoFit/>
          </a:bodyPr>
          <a:lstStyle/>
          <a:p>
            <a:pPr algn="l"/>
            <a:r>
              <a:rPr sz="975" b="1" i="0" u="none">
                <a:solidFill>
                  <a:srgbClr val="2563EB"/>
                </a:solidFill>
                <a:latin typeface="Times New Roman Regular" panose="02020503050405090304" charset="0"/>
                <a:cs typeface="Times New Roman Regular" panose="02020503050405090304" charset="0"/>
              </a:rPr>
              <a:t>1</a:t>
            </a:r>
            <a:endParaRPr sz="975" b="1" i="0" u="none">
              <a:solidFill>
                <a:srgbClr val="2563EB"/>
              </a:solidFill>
              <a:latin typeface="Times New Roman Regular" panose="02020503050405090304" charset="0"/>
              <a:cs typeface="Times New Roman Regular" panose="02020503050405090304" charset="0"/>
            </a:endParaRPr>
          </a:p>
        </p:txBody>
      </p:sp>
      <p:sp>
        <p:nvSpPr>
          <p:cNvPr id="16" name="TextBox 15"/>
          <p:cNvSpPr txBox="1"/>
          <p:nvPr/>
        </p:nvSpPr>
        <p:spPr>
          <a:xfrm>
            <a:off x="1028700" y="1128712"/>
            <a:ext cx="2000250" cy="200025"/>
          </a:xfrm>
          <a:prstGeom prst="rect">
            <a:avLst/>
          </a:prstGeom>
          <a:noFill/>
        </p:spPr>
        <p:txBody>
          <a:bodyPr wrap="none" lIns="0" tIns="0" rIns="0" bIns="0" anchor="t">
            <a:spAutoFit/>
          </a:bodyPr>
          <a:lstStyle/>
          <a:p>
            <a:pPr algn="l"/>
            <a:r>
              <a:rPr sz="1200" b="1" i="0" u="none">
                <a:solidFill>
                  <a:srgbClr val="0F172A"/>
                </a:solidFill>
                <a:latin typeface="Times New Roman Regular" panose="02020503050405090304" charset="0"/>
                <a:cs typeface="Times New Roman Regular" panose="02020503050405090304" charset="0"/>
              </a:rPr>
              <a:t>The targeted market</a:t>
            </a:r>
            <a:endParaRPr sz="1200" b="1" i="0" u="none">
              <a:solidFill>
                <a:srgbClr val="0F172A"/>
              </a:solidFill>
              <a:latin typeface="Times New Roman Regular" panose="02020503050405090304" charset="0"/>
              <a:cs typeface="Times New Roman Regular" panose="02020503050405090304" charset="0"/>
            </a:endParaRPr>
          </a:p>
        </p:txBody>
      </p:sp>
      <p:sp>
        <p:nvSpPr>
          <p:cNvPr id="17" name="TextBox 16"/>
          <p:cNvSpPr txBox="1"/>
          <p:nvPr/>
        </p:nvSpPr>
        <p:spPr>
          <a:xfrm>
            <a:off x="733425" y="1329055"/>
            <a:ext cx="5172075" cy="738505"/>
          </a:xfrm>
          <a:prstGeom prst="rect">
            <a:avLst/>
          </a:prstGeom>
          <a:noFill/>
        </p:spPr>
        <p:txBody>
          <a:bodyPr wrap="square" lIns="0" tIns="0" rIns="0" bIns="0" anchor="t">
            <a:sp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Academic writing:</a:t>
            </a:r>
            <a:r>
              <a:rPr sz="1600" b="0" i="0" u="none">
                <a:solidFill>
                  <a:srgbClr val="000000"/>
                </a:solidFill>
                <a:latin typeface="Times New Roman Regular" panose="02020503050405090304" charset="0"/>
                <a:cs typeface="Times New Roman Regular" panose="02020503050405090304" charset="0"/>
              </a:rPr>
              <a:t> </a:t>
            </a:r>
            <a:endParaRPr sz="1600" b="0" i="0" u="none">
              <a:solidFill>
                <a:srgbClr val="000000"/>
              </a:solidFill>
              <a:latin typeface="Times New Roman Regular" panose="02020503050405090304" charset="0"/>
              <a:cs typeface="Times New Roman Regular" panose="02020503050405090304" charset="0"/>
            </a:endParaRPr>
          </a:p>
          <a:p>
            <a:pPr algn="l">
              <a:lnSpc>
                <a:spcPct val="100000"/>
              </a:lnSpc>
            </a:pPr>
            <a:r>
              <a:rPr sz="1600" b="0" i="0" u="none">
                <a:solidFill>
                  <a:srgbClr val="000000"/>
                </a:solidFill>
                <a:latin typeface="Times New Roman Regular" panose="02020503050405090304" charset="0"/>
                <a:cs typeface="Times New Roman Regular" panose="02020503050405090304" charset="0"/>
              </a:rPr>
              <a:t>Overleaf reports 20M+ users; 5.7M papers published in 2024 (+46% from 3.9M in 2019). Every claim cites a source.</a:t>
            </a:r>
            <a:endParaRPr sz="1600" b="0" i="0" u="none">
              <a:solidFill>
                <a:srgbClr val="000000"/>
              </a:solidFill>
              <a:latin typeface="Times New Roman Regular" panose="02020503050405090304" charset="0"/>
              <a:cs typeface="Times New Roman Regular" panose="02020503050405090304" charset="0"/>
            </a:endParaRPr>
          </a:p>
        </p:txBody>
      </p:sp>
      <p:sp>
        <p:nvSpPr>
          <p:cNvPr id="18" name="TextBox 17"/>
          <p:cNvSpPr txBox="1"/>
          <p:nvPr/>
        </p:nvSpPr>
        <p:spPr>
          <a:xfrm>
            <a:off x="733425" y="2388115"/>
            <a:ext cx="5172075" cy="680720"/>
          </a:xfrm>
          <a:prstGeom prst="rect">
            <a:avLst/>
          </a:prstGeom>
          <a:noFill/>
        </p:spPr>
        <p:txBody>
          <a:bodyPr wrap="square" lIns="0" tIns="0" rIns="0" bIns="0" anchor="t">
            <a:spAutoFit/>
          </a:bodyPr>
          <a:lstStyle/>
          <a:p>
            <a:pPr algn="l">
              <a:lnSpc>
                <a:spcPts val="1470"/>
              </a:lnSpc>
            </a:pPr>
            <a:r>
              <a:rPr sz="1600" b="1" i="0" u="none">
                <a:solidFill>
                  <a:srgbClr val="DC2626"/>
                </a:solidFill>
                <a:latin typeface="Times New Roman Regular" panose="02020503050405090304" charset="0"/>
                <a:cs typeface="Times New Roman Regular" panose="02020503050405090304" charset="0"/>
              </a:rPr>
              <a:t>Citation integrity crisis:</a:t>
            </a:r>
            <a:r>
              <a:rPr sz="1600" b="0" i="0" u="none">
                <a:solidFill>
                  <a:srgbClr val="334155"/>
                </a:solidFill>
                <a:latin typeface="Times New Roman Regular" panose="02020503050405090304" charset="0"/>
                <a:cs typeface="Times New Roman Regular" panose="02020503050405090304" charset="0"/>
              </a:rPr>
              <a:t> </a:t>
            </a:r>
            <a:endParaRPr sz="1600" b="0" i="0" u="none">
              <a:solidFill>
                <a:srgbClr val="334155"/>
              </a:solidFill>
              <a:latin typeface="Times New Roman Regular" panose="02020503050405090304" charset="0"/>
              <a:cs typeface="Times New Roman Regular" panose="02020503050405090304" charset="0"/>
            </a:endParaRPr>
          </a:p>
          <a:p>
            <a:pPr algn="l">
              <a:lnSpc>
                <a:spcPct val="100000"/>
              </a:lnSpc>
            </a:pPr>
            <a:r>
              <a:rPr sz="1600" b="0" i="0" u="none">
                <a:solidFill>
                  <a:srgbClr val="334155"/>
                </a:solidFill>
                <a:latin typeface="Times New Roman Regular" panose="02020503050405090304" charset="0"/>
                <a:cs typeface="Times New Roman Regular" panose="02020503050405090304" charset="0"/>
              </a:rPr>
              <a:t>1</a:t>
            </a:r>
            <a:r>
              <a:rPr sz="1600" b="0" i="0" u="none">
                <a:solidFill>
                  <a:srgbClr val="000000"/>
                </a:solidFill>
                <a:latin typeface="Times New Roman Regular" panose="02020503050405090304" charset="0"/>
                <a:cs typeface="Times New Roman Regular" panose="02020503050405090304" charset="0"/>
              </a:rPr>
              <a:t>6.9% of quotations incorrect, 8.0% major errors across 46 studies (32,074 quotations, no improvement in 40 years).</a:t>
            </a:r>
            <a:endParaRPr sz="1600" b="0" i="0" u="none">
              <a:solidFill>
                <a:srgbClr val="000000"/>
              </a:solidFill>
              <a:latin typeface="Times New Roman Regular" panose="02020503050405090304" charset="0"/>
              <a:cs typeface="Times New Roman Regular" panose="02020503050405090304" charset="0"/>
            </a:endParaRPr>
          </a:p>
        </p:txBody>
      </p:sp>
      <p:sp>
        <p:nvSpPr>
          <p:cNvPr id="19" name="TextBox 18"/>
          <p:cNvSpPr txBox="1"/>
          <p:nvPr/>
        </p:nvSpPr>
        <p:spPr>
          <a:xfrm>
            <a:off x="6457950" y="1152525"/>
            <a:ext cx="171450" cy="152400"/>
          </a:xfrm>
          <a:prstGeom prst="rect">
            <a:avLst/>
          </a:prstGeom>
          <a:noFill/>
        </p:spPr>
        <p:txBody>
          <a:bodyPr wrap="square" lIns="0" tIns="0" rIns="0" bIns="0" anchor="t">
            <a:spAutoFit/>
          </a:bodyPr>
          <a:lstStyle/>
          <a:p>
            <a:pPr algn="l"/>
            <a:r>
              <a:rPr sz="975" b="1" i="0" u="none">
                <a:solidFill>
                  <a:srgbClr val="2563EB"/>
                </a:solidFill>
                <a:latin typeface="Times New Roman Regular" panose="02020503050405090304" charset="0"/>
                <a:cs typeface="Times New Roman Regular" panose="02020503050405090304" charset="0"/>
              </a:rPr>
              <a:t>2</a:t>
            </a:r>
            <a:endParaRPr sz="975" b="1" i="0" u="none">
              <a:solidFill>
                <a:srgbClr val="2563EB"/>
              </a:solidFill>
              <a:latin typeface="Times New Roman Regular" panose="02020503050405090304" charset="0"/>
              <a:cs typeface="Times New Roman Regular" panose="02020503050405090304" charset="0"/>
            </a:endParaRPr>
          </a:p>
        </p:txBody>
      </p:sp>
      <p:sp>
        <p:nvSpPr>
          <p:cNvPr id="20" name="TextBox 19"/>
          <p:cNvSpPr txBox="1"/>
          <p:nvPr/>
        </p:nvSpPr>
        <p:spPr>
          <a:xfrm>
            <a:off x="6705600" y="1128712"/>
            <a:ext cx="2387798" cy="200025"/>
          </a:xfrm>
          <a:prstGeom prst="rect">
            <a:avLst/>
          </a:prstGeom>
          <a:noFill/>
        </p:spPr>
        <p:txBody>
          <a:bodyPr wrap="none" lIns="0" tIns="0" rIns="0" bIns="0" anchor="t">
            <a:spAutoFit/>
          </a:bodyPr>
          <a:lstStyle/>
          <a:p>
            <a:pPr algn="l"/>
            <a:r>
              <a:rPr sz="1200" b="1" i="0" u="none">
                <a:solidFill>
                  <a:srgbClr val="0F172A"/>
                </a:solidFill>
                <a:latin typeface="Times New Roman Regular" panose="02020503050405090304" charset="0"/>
                <a:cs typeface="Times New Roman Regular" panose="02020503050405090304" charset="0"/>
              </a:rPr>
              <a:t>How large, and the trend</a:t>
            </a:r>
            <a:endParaRPr sz="1200" b="1" i="0" u="none">
              <a:solidFill>
                <a:srgbClr val="0F172A"/>
              </a:solidFill>
              <a:latin typeface="Times New Roman Regular" panose="02020503050405090304" charset="0"/>
              <a:cs typeface="Times New Roman Regular" panose="02020503050405090304" charset="0"/>
            </a:endParaRPr>
          </a:p>
        </p:txBody>
      </p:sp>
      <p:sp>
        <p:nvSpPr>
          <p:cNvPr id="21" name="TextBox 20"/>
          <p:cNvSpPr txBox="1"/>
          <p:nvPr/>
        </p:nvSpPr>
        <p:spPr>
          <a:xfrm>
            <a:off x="6381750" y="1409700"/>
            <a:ext cx="5172075" cy="738505"/>
          </a:xfrm>
          <a:prstGeom prst="rect">
            <a:avLst/>
          </a:prstGeom>
          <a:noFill/>
        </p:spPr>
        <p:txBody>
          <a:bodyPr wrap="square" lIns="0" tIns="0" rIns="0" bIns="0" anchor="t">
            <a:sp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Fragmented commercial sizing:</a:t>
            </a:r>
            <a:r>
              <a:rPr sz="1600" b="0" i="0" u="none">
                <a:solidFill>
                  <a:srgbClr val="000000"/>
                </a:solidFill>
                <a:latin typeface="Times New Roman Regular" panose="02020503050405090304" charset="0"/>
                <a:cs typeface="Times New Roman Regular" panose="02020503050405090304" charset="0"/>
              </a:rPr>
              <a:t> </a:t>
            </a:r>
            <a:endParaRPr sz="1600" b="0" i="0" u="none">
              <a:solidFill>
                <a:srgbClr val="000000"/>
              </a:solidFill>
              <a:latin typeface="Times New Roman Regular" panose="02020503050405090304" charset="0"/>
              <a:cs typeface="Times New Roman Regular" panose="02020503050405090304" charset="0"/>
            </a:endParaRPr>
          </a:p>
          <a:p>
            <a:pPr algn="l">
              <a:lnSpc>
                <a:spcPct val="100000"/>
              </a:lnSpc>
            </a:pPr>
            <a:r>
              <a:rPr sz="1600" b="0" i="0" u="none">
                <a:solidFill>
                  <a:srgbClr val="000000"/>
                </a:solidFill>
                <a:latin typeface="Times New Roman Regular" panose="02020503050405090304" charset="0"/>
                <a:cs typeface="Times New Roman Regular" panose="02020503050405090304" charset="0"/>
              </a:rPr>
              <a:t>Tooling market sized 3× apart by vendors ($371M–$1,150M for the same year).</a:t>
            </a:r>
            <a:endParaRPr sz="1600" b="0" i="0" u="none">
              <a:solidFill>
                <a:srgbClr val="000000"/>
              </a:solidFill>
              <a:latin typeface="Times New Roman Regular" panose="02020503050405090304" charset="0"/>
              <a:cs typeface="Times New Roman Regular" panose="02020503050405090304" charset="0"/>
            </a:endParaRPr>
          </a:p>
        </p:txBody>
      </p:sp>
      <p:sp>
        <p:nvSpPr>
          <p:cNvPr id="22" name="TextBox 21"/>
          <p:cNvSpPr txBox="1"/>
          <p:nvPr/>
        </p:nvSpPr>
        <p:spPr>
          <a:xfrm>
            <a:off x="6381750" y="2170945"/>
            <a:ext cx="5172075" cy="73850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Single audited benchmark:</a:t>
            </a:r>
            <a:r>
              <a:rPr sz="1600" b="0" i="0" u="none">
                <a:solidFill>
                  <a:srgbClr val="334155"/>
                </a:solidFill>
                <a:latin typeface="Times New Roman Regular" panose="02020503050405090304" charset="0"/>
                <a:cs typeface="Times New Roman Regular" panose="02020503050405090304" charset="0"/>
              </a:rPr>
              <a:t> </a:t>
            </a:r>
            <a:endParaRPr sz="1600" b="0" i="0" u="none">
              <a:solidFill>
                <a:srgbClr val="334155"/>
              </a:solidFill>
              <a:latin typeface="Times New Roman Regular" panose="02020503050405090304" charset="0"/>
              <a:cs typeface="Times New Roman Regular" panose="02020503050405090304" charset="0"/>
            </a:endParaRPr>
          </a:p>
          <a:p>
            <a:pPr algn="l">
              <a:lnSpc>
                <a:spcPct val="100000"/>
              </a:lnSpc>
            </a:pPr>
            <a:r>
              <a:rPr sz="1600" b="0" i="0" u="none">
                <a:solidFill>
                  <a:srgbClr val="334155"/>
                </a:solidFill>
                <a:latin typeface="Times New Roman Regular" panose="02020503050405090304" charset="0"/>
                <a:cs typeface="Times New Roman Regular" panose="02020503050405090304" charset="0"/>
              </a:rPr>
              <a:t>Clarivate Academia &amp; Govt segment (Web of Science + EndNote) is $1,266.0M FY2025 (SEC Form 10-K).</a:t>
            </a:r>
            <a:endParaRPr sz="1600" b="0" i="0" u="none">
              <a:solidFill>
                <a:srgbClr val="334155"/>
              </a:solidFill>
              <a:latin typeface="Times New Roman Regular" panose="02020503050405090304" charset="0"/>
              <a:cs typeface="Times New Roman Regular" panose="02020503050405090304" charset="0"/>
            </a:endParaRPr>
          </a:p>
        </p:txBody>
      </p:sp>
      <p:sp>
        <p:nvSpPr>
          <p:cNvPr id="23" name="TextBox 22"/>
          <p:cNvSpPr txBox="1"/>
          <p:nvPr/>
        </p:nvSpPr>
        <p:spPr>
          <a:xfrm>
            <a:off x="6327140" y="3053476"/>
            <a:ext cx="4933315" cy="245745"/>
          </a:xfrm>
          <a:prstGeom prst="rect">
            <a:avLst/>
          </a:prstGeom>
          <a:noFill/>
        </p:spPr>
        <p:txBody>
          <a:bodyPr wrap="none" lIns="0" tIns="0" rIns="0" bIns="0" anchor="t">
            <a:spAutoFit/>
          </a:bodyPr>
          <a:lstStyle/>
          <a:p>
            <a:pPr algn="l">
              <a:lnSpc>
                <a:spcPct val="100000"/>
              </a:lnSpc>
            </a:pPr>
            <a:r>
              <a:rPr sz="1600" b="0" i="0" u="none">
                <a:solidFill>
                  <a:srgbClr val="000000"/>
                </a:solidFill>
                <a:latin typeface="Times New Roman Regular" panose="02020503050405090304" charset="0"/>
                <a:cs typeface="Times New Roman Regular" panose="02020503050405090304" charset="0"/>
              </a:rPr>
              <a:t>→ Quote report scope &amp; CAGR, or cite audited SEC filings.</a:t>
            </a:r>
            <a:endParaRPr sz="1600" b="0" i="0" u="none">
              <a:solidFill>
                <a:srgbClr val="000000"/>
              </a:solidFill>
              <a:latin typeface="Times New Roman Regular" panose="02020503050405090304" charset="0"/>
              <a:cs typeface="Times New Roman Regular" panose="02020503050405090304" charset="0"/>
            </a:endParaRPr>
          </a:p>
        </p:txBody>
      </p:sp>
      <p:sp>
        <p:nvSpPr>
          <p:cNvPr id="24" name="TextBox 23"/>
          <p:cNvSpPr txBox="1"/>
          <p:nvPr/>
        </p:nvSpPr>
        <p:spPr>
          <a:xfrm>
            <a:off x="809625" y="3775025"/>
            <a:ext cx="171450" cy="152400"/>
          </a:xfrm>
          <a:prstGeom prst="rect">
            <a:avLst/>
          </a:prstGeom>
          <a:noFill/>
        </p:spPr>
        <p:txBody>
          <a:bodyPr wrap="square" lIns="0" tIns="0" rIns="0" bIns="0" anchor="t">
            <a:spAutoFit/>
          </a:bodyPr>
          <a:lstStyle/>
          <a:p>
            <a:pPr algn="l"/>
            <a:r>
              <a:rPr sz="975" b="1" i="0" u="none">
                <a:solidFill>
                  <a:srgbClr val="2563EB"/>
                </a:solidFill>
                <a:latin typeface="Times New Roman Regular" panose="02020503050405090304" charset="0"/>
                <a:cs typeface="Times New Roman Regular" panose="02020503050405090304" charset="0"/>
              </a:rPr>
              <a:t>3</a:t>
            </a:r>
            <a:endParaRPr sz="975" b="1" i="0" u="none">
              <a:solidFill>
                <a:srgbClr val="2563EB"/>
              </a:solidFill>
              <a:latin typeface="Times New Roman Regular" panose="02020503050405090304" charset="0"/>
              <a:cs typeface="Times New Roman Regular" panose="02020503050405090304" charset="0"/>
            </a:endParaRPr>
          </a:p>
        </p:txBody>
      </p:sp>
      <p:sp>
        <p:nvSpPr>
          <p:cNvPr id="25" name="TextBox 24"/>
          <p:cNvSpPr txBox="1"/>
          <p:nvPr/>
        </p:nvSpPr>
        <p:spPr>
          <a:xfrm>
            <a:off x="1057275" y="3751212"/>
            <a:ext cx="1887735" cy="200025"/>
          </a:xfrm>
          <a:prstGeom prst="rect">
            <a:avLst/>
          </a:prstGeom>
          <a:noFill/>
        </p:spPr>
        <p:txBody>
          <a:bodyPr wrap="none" lIns="0" tIns="0" rIns="0" bIns="0" anchor="t">
            <a:spAutoFit/>
          </a:bodyPr>
          <a:lstStyle/>
          <a:p>
            <a:pPr algn="l"/>
            <a:r>
              <a:rPr sz="1200" b="1" i="0" u="none">
                <a:solidFill>
                  <a:srgbClr val="0F172A"/>
                </a:solidFill>
                <a:latin typeface="Times New Roman Regular" panose="02020503050405090304" charset="0"/>
                <a:cs typeface="Times New Roman Regular" panose="02020503050405090304" charset="0"/>
              </a:rPr>
              <a:t>What already exists</a:t>
            </a:r>
            <a:endParaRPr sz="1200" b="1" i="0" u="none">
              <a:solidFill>
                <a:srgbClr val="0F172A"/>
              </a:solidFill>
              <a:latin typeface="Times New Roman Regular" panose="02020503050405090304" charset="0"/>
              <a:cs typeface="Times New Roman Regular" panose="02020503050405090304" charset="0"/>
            </a:endParaRPr>
          </a:p>
        </p:txBody>
      </p:sp>
      <p:sp>
        <p:nvSpPr>
          <p:cNvPr id="26" name="TextBox 25"/>
          <p:cNvSpPr txBox="1"/>
          <p:nvPr/>
        </p:nvSpPr>
        <p:spPr>
          <a:xfrm>
            <a:off x="733425" y="4024630"/>
            <a:ext cx="5168265" cy="245745"/>
          </a:xfrm>
          <a:prstGeom prst="rect">
            <a:avLst/>
          </a:prstGeom>
          <a:noFill/>
        </p:spPr>
        <p:txBody>
          <a:bodyPr wrap="none" lIns="0" tIns="0" rIns="0" bIns="0" anchor="t">
            <a:no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Reference managers:</a:t>
            </a:r>
            <a:r>
              <a:rPr sz="1600" b="0" i="0" u="none">
                <a:solidFill>
                  <a:srgbClr val="000000"/>
                </a:solidFill>
                <a:latin typeface="Times New Roman Regular" panose="02020503050405090304" charset="0"/>
                <a:cs typeface="Times New Roman Regular" panose="02020503050405090304" charset="0"/>
              </a:rPr>
              <a:t> Zotero (14.4M users), Mendeley, </a:t>
            </a:r>
            <a:endParaRPr sz="1600" b="0" i="0" u="none">
              <a:solidFill>
                <a:srgbClr val="000000"/>
              </a:solidFill>
              <a:latin typeface="Times New Roman Regular" panose="02020503050405090304" charset="0"/>
              <a:cs typeface="Times New Roman Regular" panose="02020503050405090304" charset="0"/>
            </a:endParaRPr>
          </a:p>
          <a:p>
            <a:pPr algn="l">
              <a:lnSpc>
                <a:spcPct val="100000"/>
              </a:lnSpc>
            </a:pPr>
            <a:r>
              <a:rPr sz="1600" b="0" i="0" u="none">
                <a:solidFill>
                  <a:srgbClr val="000000"/>
                </a:solidFill>
                <a:latin typeface="Times New Roman Regular" panose="02020503050405090304" charset="0"/>
                <a:cs typeface="Times New Roman Regular" panose="02020503050405090304" charset="0"/>
              </a:rPr>
              <a:t>EndNote (format metadata).</a:t>
            </a:r>
            <a:endParaRPr sz="1600" b="0" i="0" u="none">
              <a:solidFill>
                <a:srgbClr val="000000"/>
              </a:solidFill>
              <a:latin typeface="Times New Roman Regular" panose="02020503050405090304" charset="0"/>
              <a:cs typeface="Times New Roman Regular" panose="02020503050405090304" charset="0"/>
            </a:endParaRPr>
          </a:p>
        </p:txBody>
      </p:sp>
      <p:sp>
        <p:nvSpPr>
          <p:cNvPr id="27" name="TextBox 26"/>
          <p:cNvSpPr txBox="1"/>
          <p:nvPr/>
        </p:nvSpPr>
        <p:spPr>
          <a:xfrm>
            <a:off x="733425" y="4494609"/>
            <a:ext cx="3516630" cy="492125"/>
          </a:xfrm>
          <a:prstGeom prst="rect">
            <a:avLst/>
          </a:prstGeom>
          <a:noFill/>
        </p:spPr>
        <p:txBody>
          <a:bodyPr wrap="none" lIns="0" tIns="0" rIns="0" bIns="0" anchor="t">
            <a:sp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Similarity checkers:</a:t>
            </a:r>
            <a:r>
              <a:rPr sz="1600" b="0" i="0" u="none">
                <a:solidFill>
                  <a:srgbClr val="000000"/>
                </a:solidFill>
                <a:latin typeface="Times New Roman Regular" panose="02020503050405090304" charset="0"/>
                <a:cs typeface="Times New Roman Regular" panose="02020503050405090304" charset="0"/>
              </a:rPr>
              <a:t> Turnitin, iThenticate </a:t>
            </a:r>
            <a:endParaRPr sz="1600" b="0" i="0" u="none">
              <a:solidFill>
                <a:srgbClr val="000000"/>
              </a:solidFill>
              <a:latin typeface="Times New Roman Regular" panose="02020503050405090304" charset="0"/>
              <a:cs typeface="Times New Roman Regular" panose="02020503050405090304" charset="0"/>
            </a:endParaRPr>
          </a:p>
          <a:p>
            <a:pPr algn="l">
              <a:lnSpc>
                <a:spcPct val="100000"/>
              </a:lnSpc>
            </a:pPr>
            <a:r>
              <a:rPr sz="1600" b="0" i="0" u="none">
                <a:solidFill>
                  <a:srgbClr val="000000"/>
                </a:solidFill>
                <a:latin typeface="Times New Roman Regular" panose="02020503050405090304" charset="0"/>
                <a:cs typeface="Times New Roman Regular" panose="02020503050405090304" charset="0"/>
              </a:rPr>
              <a:t>(match text; not plagiarism).</a:t>
            </a:r>
            <a:endParaRPr sz="1600" b="0" i="0" u="none">
              <a:solidFill>
                <a:srgbClr val="000000"/>
              </a:solidFill>
              <a:latin typeface="Times New Roman Regular" panose="02020503050405090304" charset="0"/>
              <a:cs typeface="Times New Roman Regular" panose="02020503050405090304" charset="0"/>
            </a:endParaRPr>
          </a:p>
        </p:txBody>
      </p:sp>
      <p:sp>
        <p:nvSpPr>
          <p:cNvPr id="28" name="TextBox 27"/>
          <p:cNvSpPr txBox="1"/>
          <p:nvPr/>
        </p:nvSpPr>
        <p:spPr>
          <a:xfrm>
            <a:off x="729615" y="4981148"/>
            <a:ext cx="3546475" cy="492125"/>
          </a:xfrm>
          <a:prstGeom prst="rect">
            <a:avLst/>
          </a:prstGeom>
          <a:noFill/>
        </p:spPr>
        <p:txBody>
          <a:bodyPr wrap="none" lIns="0" tIns="0" rIns="0" bIns="0" anchor="t">
            <a:sp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Reference checkers:</a:t>
            </a:r>
            <a:r>
              <a:rPr sz="1600" b="0" i="0" u="none">
                <a:solidFill>
                  <a:srgbClr val="000000"/>
                </a:solidFill>
                <a:latin typeface="Times New Roman Regular" panose="02020503050405090304" charset="0"/>
                <a:cs typeface="Times New Roman Regular" panose="02020503050405090304" charset="0"/>
              </a:rPr>
              <a:t> ReciteWorks, Edifix, </a:t>
            </a:r>
            <a:endParaRPr sz="1600" b="0" i="0" u="none">
              <a:solidFill>
                <a:srgbClr val="000000"/>
              </a:solidFill>
              <a:latin typeface="Times New Roman Regular" panose="02020503050405090304" charset="0"/>
              <a:cs typeface="Times New Roman Regular" panose="02020503050405090304" charset="0"/>
            </a:endParaRPr>
          </a:p>
          <a:p>
            <a:pPr algn="l">
              <a:lnSpc>
                <a:spcPct val="100000"/>
              </a:lnSpc>
            </a:pPr>
            <a:r>
              <a:rPr sz="1600" b="0" i="0" u="none">
                <a:solidFill>
                  <a:srgbClr val="000000"/>
                </a:solidFill>
                <a:latin typeface="Times New Roman Regular" panose="02020503050405090304" charset="0"/>
                <a:cs typeface="Times New Roman Regular" panose="02020503050405090304" charset="0"/>
              </a:rPr>
              <a:t>CiteTrue (confirm record exists).</a:t>
            </a:r>
            <a:endParaRPr sz="1600" b="0" i="0" u="none">
              <a:solidFill>
                <a:srgbClr val="000000"/>
              </a:solidFill>
              <a:latin typeface="Times New Roman Regular" panose="02020503050405090304" charset="0"/>
              <a:cs typeface="Times New Roman Regular" panose="02020503050405090304" charset="0"/>
            </a:endParaRPr>
          </a:p>
        </p:txBody>
      </p:sp>
      <p:sp>
        <p:nvSpPr>
          <p:cNvPr id="29" name="TextBox 28"/>
          <p:cNvSpPr txBox="1"/>
          <p:nvPr/>
        </p:nvSpPr>
        <p:spPr>
          <a:xfrm>
            <a:off x="729615" y="5424805"/>
            <a:ext cx="5172075" cy="523240"/>
          </a:xfrm>
          <a:prstGeom prst="rect">
            <a:avLst/>
          </a:prstGeom>
          <a:noFill/>
        </p:spPr>
        <p:txBody>
          <a:bodyPr wrap="square" lIns="0" tIns="0" rIns="0" bIns="0" anchor="t">
            <a:no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Citation intent:</a:t>
            </a:r>
            <a:r>
              <a:rPr sz="1600" b="0" i="0" u="none">
                <a:solidFill>
                  <a:srgbClr val="000000"/>
                </a:solidFill>
                <a:latin typeface="Times New Roman Regular" panose="02020503050405090304" charset="0"/>
                <a:cs typeface="Times New Roman Regular" panose="02020503050405090304" charset="0"/>
              </a:rPr>
              <a:t> scite (1.6B Smart Citations), Semantic Scholar (classify third-party citations).</a:t>
            </a:r>
            <a:endParaRPr sz="1600" b="0" i="0" u="none">
              <a:solidFill>
                <a:srgbClr val="000000"/>
              </a:solidFill>
              <a:latin typeface="Times New Roman Regular" panose="02020503050405090304" charset="0"/>
              <a:cs typeface="Times New Roman Regular" panose="02020503050405090304" charset="0"/>
            </a:endParaRPr>
          </a:p>
        </p:txBody>
      </p:sp>
      <p:sp>
        <p:nvSpPr>
          <p:cNvPr id="30" name="TextBox 29"/>
          <p:cNvSpPr txBox="1"/>
          <p:nvPr/>
        </p:nvSpPr>
        <p:spPr>
          <a:xfrm>
            <a:off x="6457950" y="3775025"/>
            <a:ext cx="180975" cy="152400"/>
          </a:xfrm>
          <a:prstGeom prst="rect">
            <a:avLst/>
          </a:prstGeom>
          <a:noFill/>
        </p:spPr>
        <p:txBody>
          <a:bodyPr wrap="square" lIns="0" tIns="0" rIns="0" bIns="0" anchor="t">
            <a:spAutoFit/>
          </a:bodyPr>
          <a:lstStyle/>
          <a:p>
            <a:pPr algn="l"/>
            <a:r>
              <a:rPr sz="975" b="1" i="0" u="none">
                <a:solidFill>
                  <a:srgbClr val="FFFFFF"/>
                </a:solidFill>
                <a:latin typeface="Times New Roman Regular" panose="02020503050405090304" charset="0"/>
                <a:cs typeface="Times New Roman Regular" panose="02020503050405090304" charset="0"/>
              </a:rPr>
              <a:t>4</a:t>
            </a:r>
            <a:endParaRPr sz="975" b="1" i="0" u="none">
              <a:solidFill>
                <a:srgbClr val="FFFFFF"/>
              </a:solidFill>
              <a:latin typeface="Times New Roman Regular" panose="02020503050405090304" charset="0"/>
              <a:cs typeface="Times New Roman Regular" panose="02020503050405090304" charset="0"/>
            </a:endParaRPr>
          </a:p>
        </p:txBody>
      </p:sp>
      <p:sp>
        <p:nvSpPr>
          <p:cNvPr id="31" name="TextBox 30"/>
          <p:cNvSpPr txBox="1"/>
          <p:nvPr/>
        </p:nvSpPr>
        <p:spPr>
          <a:xfrm>
            <a:off x="6715125" y="3751212"/>
            <a:ext cx="910113" cy="200025"/>
          </a:xfrm>
          <a:prstGeom prst="rect">
            <a:avLst/>
          </a:prstGeom>
          <a:noFill/>
        </p:spPr>
        <p:txBody>
          <a:bodyPr wrap="none" lIns="0" tIns="0" rIns="0" bIns="0" anchor="t">
            <a:spAutoFit/>
          </a:bodyPr>
          <a:lstStyle/>
          <a:p>
            <a:pPr algn="l"/>
            <a:r>
              <a:rPr sz="1200" b="1" i="0" u="none">
                <a:solidFill>
                  <a:srgbClr val="991B1B"/>
                </a:solidFill>
                <a:latin typeface="Times New Roman Regular" panose="02020503050405090304" charset="0"/>
                <a:cs typeface="Times New Roman Regular" panose="02020503050405090304" charset="0"/>
              </a:rPr>
              <a:t>The gap</a:t>
            </a:r>
            <a:endParaRPr sz="1200" b="1" i="0" u="none">
              <a:solidFill>
                <a:srgbClr val="991B1B"/>
              </a:solidFill>
              <a:latin typeface="Times New Roman Regular" panose="02020503050405090304" charset="0"/>
              <a:cs typeface="Times New Roman Regular" panose="02020503050405090304" charset="0"/>
            </a:endParaRPr>
          </a:p>
        </p:txBody>
      </p:sp>
      <p:sp>
        <p:nvSpPr>
          <p:cNvPr id="32" name="TextBox 31"/>
          <p:cNvSpPr txBox="1"/>
          <p:nvPr/>
        </p:nvSpPr>
        <p:spPr>
          <a:xfrm>
            <a:off x="6381750" y="4032200"/>
            <a:ext cx="5172075" cy="738505"/>
          </a:xfrm>
          <a:prstGeom prst="rect">
            <a:avLst/>
          </a:prstGeom>
          <a:noFill/>
        </p:spPr>
        <p:txBody>
          <a:bodyPr wrap="square" lIns="0" tIns="0" rIns="0" bIns="0" anchor="t">
            <a:sp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Zero claim validation</a:t>
            </a:r>
            <a:r>
              <a:rPr sz="1600" i="0" u="none">
                <a:solidFill>
                  <a:srgbClr val="000000"/>
                </a:solidFill>
                <a:latin typeface="Times New Roman Regular" panose="02020503050405090304" charset="0"/>
                <a:cs typeface="Times New Roman Regular" panose="02020503050405090304" charset="0"/>
              </a:rPr>
              <a:t>: No tool checks: “</a:t>
            </a:r>
            <a:r>
              <a:rPr lang="en-US" altLang="zh-CN" sz="1600" i="0" u="none">
                <a:solidFill>
                  <a:srgbClr val="000000"/>
                </a:solidFill>
                <a:latin typeface="Times New Roman Regular" panose="02020503050405090304" charset="0"/>
                <a:cs typeface="Times New Roman Regular" panose="02020503050405090304" charset="0"/>
              </a:rPr>
              <a:t>D</a:t>
            </a:r>
            <a:r>
              <a:rPr sz="1600" i="0" u="none">
                <a:solidFill>
                  <a:srgbClr val="000000"/>
                </a:solidFill>
                <a:latin typeface="Times New Roman Regular" panose="02020503050405090304" charset="0"/>
                <a:cs typeface="Times New Roman Regular" panose="02020503050405090304" charset="0"/>
              </a:rPr>
              <a:t>oes </a:t>
            </a:r>
            <a:r>
              <a:rPr lang="en-US" altLang="zh-CN" sz="1600" i="0" u="none">
                <a:solidFill>
                  <a:srgbClr val="000000"/>
                </a:solidFill>
                <a:latin typeface="Times New Roman Regular" panose="02020503050405090304" charset="0"/>
                <a:cs typeface="Times New Roman Regular" panose="02020503050405090304" charset="0"/>
              </a:rPr>
              <a:t>my</a:t>
            </a:r>
            <a:r>
              <a:rPr sz="1600" i="0" u="none">
                <a:solidFill>
                  <a:srgbClr val="000000"/>
                </a:solidFill>
                <a:latin typeface="Times New Roman Regular" panose="02020503050405090304" charset="0"/>
                <a:cs typeface="Times New Roman Regular" panose="02020503050405090304" charset="0"/>
              </a:rPr>
              <a:t> cited source support </a:t>
            </a:r>
            <a:r>
              <a:rPr lang="en-US" altLang="zh-CN" sz="1600" i="0" u="none">
                <a:solidFill>
                  <a:srgbClr val="000000"/>
                </a:solidFill>
                <a:latin typeface="Times New Roman Regular" panose="02020503050405090304" charset="0"/>
                <a:cs typeface="Times New Roman Regular" panose="02020503050405090304" charset="0"/>
              </a:rPr>
              <a:t>my</a:t>
            </a:r>
            <a:r>
              <a:rPr sz="1600" i="0" u="none">
                <a:solidFill>
                  <a:srgbClr val="000000"/>
                </a:solidFill>
                <a:latin typeface="Times New Roman Regular" panose="02020503050405090304" charset="0"/>
                <a:cs typeface="Times New Roman Regular" panose="02020503050405090304" charset="0"/>
              </a:rPr>
              <a:t> sentence?” ReciteWorks FAQ: “No, not currently”. $175 buys metadata, $125 buys similarity.</a:t>
            </a:r>
            <a:endParaRPr sz="1600" i="0" u="none">
              <a:solidFill>
                <a:srgbClr val="000000"/>
              </a:solidFill>
              <a:latin typeface="Times New Roman Regular" panose="02020503050405090304" charset="0"/>
              <a:cs typeface="Times New Roman Regular" panose="02020503050405090304" charset="0"/>
            </a:endParaRPr>
          </a:p>
        </p:txBody>
      </p:sp>
      <p:sp>
        <p:nvSpPr>
          <p:cNvPr id="33" name="TextBox 32"/>
          <p:cNvSpPr txBox="1"/>
          <p:nvPr/>
        </p:nvSpPr>
        <p:spPr>
          <a:xfrm>
            <a:off x="6381750" y="5089098"/>
            <a:ext cx="5172075" cy="738505"/>
          </a:xfrm>
          <a:prstGeom prst="rect">
            <a:avLst/>
          </a:prstGeom>
          <a:noFill/>
        </p:spPr>
        <p:txBody>
          <a:bodyPr wrap="square" lIns="0" tIns="0" rIns="0" bIns="0" anchor="t">
            <a:spAutoFit/>
          </a:bodyPr>
          <a:lstStyle/>
          <a:p>
            <a:pPr algn="l">
              <a:lnSpc>
                <a:spcPct val="100000"/>
              </a:lnSpc>
            </a:pPr>
            <a:r>
              <a:rPr sz="1600" b="1" i="0" u="none">
                <a:solidFill>
                  <a:srgbClr val="000000"/>
                </a:solidFill>
                <a:latin typeface="Times New Roman Regular" panose="02020503050405090304" charset="0"/>
                <a:cs typeface="Times New Roman Regular" panose="02020503050405090304" charset="0"/>
              </a:rPr>
              <a:t>Rapidly escalating severity:</a:t>
            </a:r>
            <a:r>
              <a:rPr sz="1600" b="0" i="0" u="none">
                <a:solidFill>
                  <a:srgbClr val="000000"/>
                </a:solidFill>
                <a:latin typeface="Times New Roman Regular" panose="02020503050405090304" charset="0"/>
                <a:cs typeface="Times New Roman Regular" panose="02020503050405090304" charset="0"/>
              </a:rPr>
              <a:t> Fabricated citations grew 12-fold from 1 in 2,828 (2023) to 1 in 277 (early 2026); 98.4% of affected papers had no publisher action.</a:t>
            </a:r>
            <a:endParaRPr sz="1600" b="0" i="0" u="none">
              <a:solidFill>
                <a:srgbClr val="000000"/>
              </a:solidFill>
              <a:latin typeface="Times New Roman Regular" panose="02020503050405090304" charset="0"/>
              <a:cs typeface="Times New Roman Regular" panose="0202050305040509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ounded Rectangle 1"/>
          <p:cNvSpPr/>
          <p:nvPr/>
        </p:nvSpPr>
        <p:spPr>
          <a:xfrm>
            <a:off x="533400" y="6069508"/>
            <a:ext cx="11125200" cy="445591"/>
          </a:xfrm>
          <a:prstGeom prst="roundRect">
            <a:avLst>
              <a:gd name="adj" fmla="val 1282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3" name="Rounded Rectangle 2"/>
          <p:cNvSpPr/>
          <p:nvPr/>
        </p:nvSpPr>
        <p:spPr>
          <a:xfrm>
            <a:off x="533400" y="942975"/>
            <a:ext cx="3429000" cy="5012233"/>
          </a:xfrm>
          <a:prstGeom prst="roundRect">
            <a:avLst>
              <a:gd name="adj" fmla="val 222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4" name="Rectangle 3"/>
          <p:cNvSpPr/>
          <p:nvPr/>
        </p:nvSpPr>
        <p:spPr>
          <a:xfrm>
            <a:off x="533400" y="6069508"/>
            <a:ext cx="28575" cy="44559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5" name="Rounded Rectangle 4"/>
          <p:cNvSpPr/>
          <p:nvPr/>
        </p:nvSpPr>
        <p:spPr>
          <a:xfrm>
            <a:off x="714375" y="4412793"/>
            <a:ext cx="3067050" cy="600075"/>
          </a:xfrm>
          <a:prstGeom prst="roundRect">
            <a:avLst>
              <a:gd name="adj" fmla="val 9523"/>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6" name="Rounded Rectangle 5"/>
          <p:cNvSpPr/>
          <p:nvPr/>
        </p:nvSpPr>
        <p:spPr>
          <a:xfrm>
            <a:off x="4152900" y="942975"/>
            <a:ext cx="7505700" cy="1409700"/>
          </a:xfrm>
          <a:prstGeom prst="roundRect">
            <a:avLst>
              <a:gd name="adj" fmla="val 540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7" name="Rounded Rectangle 6"/>
          <p:cNvSpPr/>
          <p:nvPr/>
        </p:nvSpPr>
        <p:spPr>
          <a:xfrm>
            <a:off x="4152900" y="2486025"/>
            <a:ext cx="7505700" cy="3469640"/>
          </a:xfrm>
          <a:prstGeom prst="roundRect">
            <a:avLst>
              <a:gd name="adj" fmla="val 35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8" name="Rounded Rectangle 7"/>
          <p:cNvSpPr/>
          <p:nvPr/>
        </p:nvSpPr>
        <p:spPr>
          <a:xfrm>
            <a:off x="714375" y="3191916"/>
            <a:ext cx="3067050" cy="19050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9" name="Rounded Rectangle 8"/>
          <p:cNvSpPr/>
          <p:nvPr/>
        </p:nvSpPr>
        <p:spPr>
          <a:xfrm>
            <a:off x="714375" y="3734841"/>
            <a:ext cx="3067050" cy="190500"/>
          </a:xfrm>
          <a:prstGeom prst="roundRect">
            <a:avLst>
              <a:gd name="adj" fmla="val 2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1" name="Rounded Rectangle 10"/>
          <p:cNvSpPr/>
          <p:nvPr/>
        </p:nvSpPr>
        <p:spPr>
          <a:xfrm>
            <a:off x="4352925" y="1562100"/>
            <a:ext cx="1585912" cy="628650"/>
          </a:xfrm>
          <a:prstGeom prst="roundRect">
            <a:avLst>
              <a:gd name="adj" fmla="val 909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2" name="Rounded Rectangle 11"/>
          <p:cNvSpPr/>
          <p:nvPr/>
        </p:nvSpPr>
        <p:spPr>
          <a:xfrm>
            <a:off x="6034087" y="1562100"/>
            <a:ext cx="1586061" cy="628650"/>
          </a:xfrm>
          <a:prstGeom prst="roundRect">
            <a:avLst>
              <a:gd name="adj" fmla="val 909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3" name="Rounded Rectangle 12"/>
          <p:cNvSpPr/>
          <p:nvPr/>
        </p:nvSpPr>
        <p:spPr>
          <a:xfrm>
            <a:off x="7715398" y="1562100"/>
            <a:ext cx="1586061" cy="628650"/>
          </a:xfrm>
          <a:prstGeom prst="roundRect">
            <a:avLst>
              <a:gd name="adj" fmla="val 909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4" name="Rounded Rectangle 13"/>
          <p:cNvSpPr/>
          <p:nvPr/>
        </p:nvSpPr>
        <p:spPr>
          <a:xfrm>
            <a:off x="9396710" y="1562100"/>
            <a:ext cx="2061716" cy="628650"/>
          </a:xfrm>
          <a:prstGeom prst="roundRect">
            <a:avLst>
              <a:gd name="adj" fmla="val 909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5" name="Rounded Rectangle 14"/>
          <p:cNvSpPr/>
          <p:nvPr/>
        </p:nvSpPr>
        <p:spPr>
          <a:xfrm>
            <a:off x="714375" y="3734841"/>
            <a:ext cx="61317" cy="19050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pic>
        <p:nvPicPr>
          <p:cNvPr id="16" name="Picture 15" descr="image.png"/>
          <p:cNvPicPr>
            <a:picLocks noChangeAspect="1"/>
          </p:cNvPicPr>
          <p:nvPr/>
        </p:nvPicPr>
        <p:blipFill>
          <a:blip r:embed="rId1"/>
          <a:stretch>
            <a:fillRect/>
          </a:stretch>
        </p:blipFill>
        <p:spPr>
          <a:xfrm>
            <a:off x="7902922" y="4298156"/>
            <a:ext cx="104775" cy="114300"/>
          </a:xfrm>
          <a:prstGeom prst="rect">
            <a:avLst/>
          </a:prstGeom>
        </p:spPr>
      </p:pic>
      <p:pic>
        <p:nvPicPr>
          <p:cNvPr id="17" name="Picture 16" descr="image.png"/>
          <p:cNvPicPr>
            <a:picLocks noChangeAspect="1"/>
          </p:cNvPicPr>
          <p:nvPr/>
        </p:nvPicPr>
        <p:blipFill>
          <a:blip r:embed="rId2"/>
          <a:stretch>
            <a:fillRect/>
          </a:stretch>
        </p:blipFill>
        <p:spPr>
          <a:xfrm>
            <a:off x="6924675" y="3462337"/>
            <a:ext cx="104775" cy="114300"/>
          </a:xfrm>
          <a:prstGeom prst="rect">
            <a:avLst/>
          </a:prstGeom>
        </p:spPr>
      </p:pic>
      <p:pic>
        <p:nvPicPr>
          <p:cNvPr id="18" name="Picture 17" descr="image.png"/>
          <p:cNvPicPr>
            <a:picLocks noChangeAspect="1"/>
          </p:cNvPicPr>
          <p:nvPr/>
        </p:nvPicPr>
        <p:blipFill>
          <a:blip r:embed="rId3"/>
          <a:stretch>
            <a:fillRect/>
          </a:stretch>
        </p:blipFill>
        <p:spPr>
          <a:xfrm>
            <a:off x="8952458" y="4029075"/>
            <a:ext cx="104775" cy="114300"/>
          </a:xfrm>
          <a:prstGeom prst="rect">
            <a:avLst/>
          </a:prstGeom>
        </p:spPr>
      </p:pic>
      <p:pic>
        <p:nvPicPr>
          <p:cNvPr id="19" name="Picture 18" descr="image.png"/>
          <p:cNvPicPr>
            <a:picLocks noChangeAspect="1"/>
          </p:cNvPicPr>
          <p:nvPr/>
        </p:nvPicPr>
        <p:blipFill>
          <a:blip r:embed="rId4"/>
          <a:stretch>
            <a:fillRect/>
          </a:stretch>
        </p:blipFill>
        <p:spPr>
          <a:xfrm>
            <a:off x="7902922" y="3781425"/>
            <a:ext cx="104775" cy="114300"/>
          </a:xfrm>
          <a:prstGeom prst="rect">
            <a:avLst/>
          </a:prstGeom>
        </p:spPr>
      </p:pic>
      <p:pic>
        <p:nvPicPr>
          <p:cNvPr id="20" name="Picture 19" descr="image.png"/>
          <p:cNvPicPr>
            <a:picLocks noChangeAspect="1"/>
          </p:cNvPicPr>
          <p:nvPr/>
        </p:nvPicPr>
        <p:blipFill>
          <a:blip r:embed="rId1"/>
          <a:stretch>
            <a:fillRect/>
          </a:stretch>
        </p:blipFill>
        <p:spPr>
          <a:xfrm>
            <a:off x="6924675" y="4298156"/>
            <a:ext cx="104775" cy="114300"/>
          </a:xfrm>
          <a:prstGeom prst="rect">
            <a:avLst/>
          </a:prstGeom>
        </p:spPr>
      </p:pic>
      <p:pic>
        <p:nvPicPr>
          <p:cNvPr id="21" name="Picture 20" descr="image.png"/>
          <p:cNvPicPr>
            <a:picLocks noChangeAspect="1"/>
          </p:cNvPicPr>
          <p:nvPr/>
        </p:nvPicPr>
        <p:blipFill>
          <a:blip r:embed="rId4"/>
          <a:stretch>
            <a:fillRect/>
          </a:stretch>
        </p:blipFill>
        <p:spPr>
          <a:xfrm>
            <a:off x="6924675" y="4029075"/>
            <a:ext cx="104775" cy="114300"/>
          </a:xfrm>
          <a:prstGeom prst="rect">
            <a:avLst/>
          </a:prstGeom>
        </p:spPr>
      </p:pic>
      <p:pic>
        <p:nvPicPr>
          <p:cNvPr id="22" name="Picture 21" descr="image.png"/>
          <p:cNvPicPr>
            <a:picLocks noChangeAspect="1"/>
          </p:cNvPicPr>
          <p:nvPr/>
        </p:nvPicPr>
        <p:blipFill>
          <a:blip r:embed="rId2"/>
          <a:stretch>
            <a:fillRect/>
          </a:stretch>
        </p:blipFill>
        <p:spPr>
          <a:xfrm>
            <a:off x="6924675" y="3462337"/>
            <a:ext cx="104775" cy="114300"/>
          </a:xfrm>
          <a:prstGeom prst="rect">
            <a:avLst/>
          </a:prstGeom>
        </p:spPr>
      </p:pic>
      <p:pic>
        <p:nvPicPr>
          <p:cNvPr id="23" name="Picture 22" descr="image.png"/>
          <p:cNvPicPr>
            <a:picLocks noChangeAspect="1"/>
          </p:cNvPicPr>
          <p:nvPr/>
        </p:nvPicPr>
        <p:blipFill>
          <a:blip r:embed="rId4"/>
          <a:stretch>
            <a:fillRect/>
          </a:stretch>
        </p:blipFill>
        <p:spPr>
          <a:xfrm>
            <a:off x="7902922" y="3781425"/>
            <a:ext cx="104775" cy="114300"/>
          </a:xfrm>
          <a:prstGeom prst="rect">
            <a:avLst/>
          </a:prstGeom>
        </p:spPr>
      </p:pic>
      <p:pic>
        <p:nvPicPr>
          <p:cNvPr id="24" name="Picture 23" descr="image.png"/>
          <p:cNvPicPr>
            <a:picLocks noChangeAspect="1"/>
          </p:cNvPicPr>
          <p:nvPr/>
        </p:nvPicPr>
        <p:blipFill>
          <a:blip r:embed="rId4"/>
          <a:stretch>
            <a:fillRect/>
          </a:stretch>
        </p:blipFill>
        <p:spPr>
          <a:xfrm>
            <a:off x="6924675" y="4029075"/>
            <a:ext cx="104775" cy="114300"/>
          </a:xfrm>
          <a:prstGeom prst="rect">
            <a:avLst/>
          </a:prstGeom>
        </p:spPr>
      </p:pic>
      <p:pic>
        <p:nvPicPr>
          <p:cNvPr id="25" name="Picture 24" descr="image.png"/>
          <p:cNvPicPr>
            <a:picLocks noChangeAspect="1"/>
          </p:cNvPicPr>
          <p:nvPr/>
        </p:nvPicPr>
        <p:blipFill>
          <a:blip r:embed="rId3"/>
          <a:stretch>
            <a:fillRect/>
          </a:stretch>
        </p:blipFill>
        <p:spPr>
          <a:xfrm>
            <a:off x="8952458" y="4029075"/>
            <a:ext cx="104775" cy="114300"/>
          </a:xfrm>
          <a:prstGeom prst="rect">
            <a:avLst/>
          </a:prstGeom>
        </p:spPr>
      </p:pic>
      <p:pic>
        <p:nvPicPr>
          <p:cNvPr id="26" name="Picture 25" descr="image.png"/>
          <p:cNvPicPr>
            <a:picLocks noChangeAspect="1"/>
          </p:cNvPicPr>
          <p:nvPr/>
        </p:nvPicPr>
        <p:blipFill>
          <a:blip r:embed="rId1"/>
          <a:stretch>
            <a:fillRect/>
          </a:stretch>
        </p:blipFill>
        <p:spPr>
          <a:xfrm>
            <a:off x="6924675" y="4298156"/>
            <a:ext cx="104775" cy="114300"/>
          </a:xfrm>
          <a:prstGeom prst="rect">
            <a:avLst/>
          </a:prstGeom>
        </p:spPr>
      </p:pic>
      <p:pic>
        <p:nvPicPr>
          <p:cNvPr id="27" name="Picture 26" descr="image.png"/>
          <p:cNvPicPr>
            <a:picLocks noChangeAspect="1"/>
          </p:cNvPicPr>
          <p:nvPr/>
        </p:nvPicPr>
        <p:blipFill>
          <a:blip r:embed="rId1"/>
          <a:stretch>
            <a:fillRect/>
          </a:stretch>
        </p:blipFill>
        <p:spPr>
          <a:xfrm>
            <a:off x="7902922" y="4298156"/>
            <a:ext cx="104775" cy="114300"/>
          </a:xfrm>
          <a:prstGeom prst="rect">
            <a:avLst/>
          </a:prstGeom>
        </p:spPr>
      </p:pic>
      <p:graphicFrame>
        <p:nvGraphicFramePr>
          <p:cNvPr id="28" name="Table 27"/>
          <p:cNvGraphicFramePr>
            <a:graphicFrameLocks noGrp="1"/>
          </p:cNvGraphicFramePr>
          <p:nvPr>
            <p:custDataLst>
              <p:tags r:id="rId5"/>
            </p:custDataLst>
          </p:nvPr>
        </p:nvGraphicFramePr>
        <p:xfrm>
          <a:off x="4333875" y="2905125"/>
          <a:ext cx="7138670" cy="2590800"/>
        </p:xfrm>
        <a:graphic>
          <a:graphicData uri="http://schemas.openxmlformats.org/drawingml/2006/table">
            <a:tbl>
              <a:tblPr/>
              <a:tblGrid>
                <a:gridCol w="2230755"/>
                <a:gridCol w="1034415"/>
                <a:gridCol w="922020"/>
                <a:gridCol w="1177290"/>
                <a:gridCol w="1774190"/>
              </a:tblGrid>
              <a:tr h="518160">
                <a:tc>
                  <a:txBody>
                    <a:bodyPr/>
                    <a:lstStyle/>
                    <a:p>
                      <a:pPr algn="l"/>
                      <a:r>
                        <a:rPr sz="1400" b="1" i="0" u="none">
                          <a:solidFill>
                            <a:srgbClr val="475569"/>
                          </a:solidFill>
                          <a:latin typeface="Times New Roman Regular" panose="02020503050405090304" charset="0"/>
                          <a:cs typeface="Times New Roman Regular" panose="02020503050405090304" charset="0"/>
                        </a:rPr>
                        <a:t>Tool Class &amp; Representative</a:t>
                      </a:r>
                      <a:endParaRPr sz="1400" b="1" i="0" u="none">
                        <a:solidFill>
                          <a:srgbClr val="475569"/>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475569"/>
                          </a:solidFill>
                          <a:latin typeface="Times New Roman Regular" panose="02020503050405090304" charset="0"/>
                          <a:cs typeface="Times New Roman Regular" panose="02020503050405090304" charset="0"/>
                        </a:rPr>
                        <a:t>1. Record Exists?</a:t>
                      </a:r>
                      <a:endParaRPr sz="1400" b="1" i="0" u="none">
                        <a:solidFill>
                          <a:srgbClr val="475569"/>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475569"/>
                          </a:solidFill>
                          <a:latin typeface="Times New Roman Regular" panose="02020503050405090304" charset="0"/>
                          <a:cs typeface="Times New Roman Regular" panose="02020503050405090304" charset="0"/>
                        </a:rPr>
                        <a:t>2. Text Match?</a:t>
                      </a:r>
                      <a:endParaRPr sz="1400" b="1" i="0" u="none">
                        <a:solidFill>
                          <a:srgbClr val="475569"/>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475569"/>
                          </a:solidFill>
                          <a:latin typeface="Times New Roman Regular" panose="02020503050405090304" charset="0"/>
                          <a:cs typeface="Times New Roman Regular" panose="02020503050405090304" charset="0"/>
                        </a:rPr>
                        <a:t>3. Cited by Others?</a:t>
                      </a:r>
                      <a:endParaRPr sz="1400" b="1" i="0" u="none">
                        <a:solidFill>
                          <a:srgbClr val="475569"/>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991B1B"/>
                          </a:solidFill>
                          <a:latin typeface="Times New Roman Regular" panose="02020503050405090304" charset="0"/>
                          <a:cs typeface="Times New Roman Regular" panose="02020503050405090304" charset="0"/>
                        </a:rPr>
                        <a:t>4. Source Supports MY Claim?</a:t>
                      </a:r>
                      <a:endParaRPr sz="1400" b="1" i="0" u="none">
                        <a:solidFill>
                          <a:srgbClr val="991B1B"/>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1F2"/>
                    </a:solidFill>
                  </a:tcPr>
                </a:tc>
              </a:tr>
              <a:tr h="518160">
                <a:tc>
                  <a:txBody>
                    <a:bodyPr/>
                    <a:lstStyle/>
                    <a:p>
                      <a:pPr algn="l"/>
                      <a:r>
                        <a:rPr sz="1400" b="1" i="0" u="none">
                          <a:solidFill>
                            <a:srgbClr val="0F172A"/>
                          </a:solidFill>
                          <a:latin typeface="Times New Roman Regular" panose="02020503050405090304" charset="0"/>
                          <a:cs typeface="Times New Roman Regular" panose="02020503050405090304" charset="0"/>
                        </a:rPr>
                        <a:t>Reference Managers (Zotero, EndNote)</a:t>
                      </a:r>
                      <a:endParaRPr sz="1400" b="1"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059669"/>
                          </a:solidFill>
                          <a:latin typeface="Times New Roman Regular" panose="02020503050405090304" charset="0"/>
                          <a:cs typeface="Times New Roman Regular" panose="02020503050405090304" charset="0"/>
                        </a:rPr>
                        <a:t>Yes</a:t>
                      </a:r>
                      <a:endParaRPr sz="1400" b="1" i="0" u="none">
                        <a:solidFill>
                          <a:srgbClr val="059669"/>
                        </a:solidFill>
                        <a:latin typeface="Times New Roman Regular" panose="02020503050405090304" charset="0"/>
                        <a:cs typeface="Times New Roman Regular" panose="02020503050405090304" charset="0"/>
                      </a:endParaRPr>
                    </a:p>
                  </a:txBody>
                  <a:tcPr marL="219075" marR="63500" marT="25400" marB="25400" anchor="ctr">
                    <a:lnL>
                      <a:noFill/>
                    </a:lnL>
                    <a:lnR>
                      <a:noFill/>
                    </a:lnR>
                    <a:lnT>
                      <a:noFill/>
                    </a:lnT>
                    <a:lnB>
                      <a:noFill/>
                    </a:lnB>
                    <a:solidFill>
                      <a:srgbClr val="FFFFFF"/>
                    </a:solidFill>
                  </a:tcPr>
                </a:tc>
                <a:tc>
                  <a:txBody>
                    <a:bodyPr/>
                    <a:lstStyle/>
                    <a:p>
                      <a:pPr algn="ctr"/>
                      <a:r>
                        <a:rPr sz="1400" b="0" i="0" u="none">
                          <a:solidFill>
                            <a:srgbClr val="0F172A"/>
                          </a:solidFill>
                          <a:latin typeface="Times New Roman Regular" panose="02020503050405090304" charset="0"/>
                          <a:cs typeface="Times New Roman Regular" panose="02020503050405090304" charset="0"/>
                        </a:rPr>
                        <a:t>No</a:t>
                      </a:r>
                      <a:endParaRPr sz="1400" b="0"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0" i="0" u="none">
                          <a:solidFill>
                            <a:srgbClr val="0F172A"/>
                          </a:solidFill>
                          <a:latin typeface="Times New Roman Regular" panose="02020503050405090304" charset="0"/>
                          <a:cs typeface="Times New Roman Regular" panose="02020503050405090304" charset="0"/>
                        </a:rPr>
                        <a:t>No</a:t>
                      </a:r>
                      <a:endParaRPr sz="1400" b="0"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DC2626"/>
                          </a:solidFill>
                          <a:latin typeface="Times New Roman Regular" panose="02020503050405090304" charset="0"/>
                          <a:cs typeface="Times New Roman Regular" panose="02020503050405090304" charset="0"/>
                        </a:rPr>
                        <a:t>No</a:t>
                      </a:r>
                      <a:endParaRPr sz="1400" b="1" i="0" u="none">
                        <a:solidFill>
                          <a:srgbClr val="DC2626"/>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1F2"/>
                    </a:solidFill>
                  </a:tcPr>
                </a:tc>
              </a:tr>
              <a:tr h="518160">
                <a:tc>
                  <a:txBody>
                    <a:bodyPr/>
                    <a:lstStyle/>
                    <a:p>
                      <a:pPr algn="l"/>
                      <a:r>
                        <a:rPr sz="1400" b="1" i="0" u="none">
                          <a:solidFill>
                            <a:srgbClr val="0F172A"/>
                          </a:solidFill>
                          <a:latin typeface="Times New Roman Regular" panose="02020503050405090304" charset="0"/>
                          <a:cs typeface="Times New Roman Regular" panose="02020503050405090304" charset="0"/>
                        </a:rPr>
                        <a:t>Similarity Tools (Turnitin, iThenticate)</a:t>
                      </a:r>
                      <a:endParaRPr sz="1400" b="1"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0" i="0" u="none">
                          <a:solidFill>
                            <a:srgbClr val="0F172A"/>
                          </a:solidFill>
                          <a:latin typeface="Times New Roman Regular" panose="02020503050405090304" charset="0"/>
                          <a:cs typeface="Times New Roman Regular" panose="02020503050405090304" charset="0"/>
                        </a:rPr>
                        <a:t>No</a:t>
                      </a:r>
                      <a:endParaRPr sz="1400" b="0"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059669"/>
                          </a:solidFill>
                          <a:latin typeface="Times New Roman Regular" panose="02020503050405090304" charset="0"/>
                          <a:cs typeface="Times New Roman Regular" panose="02020503050405090304" charset="0"/>
                        </a:rPr>
                        <a:t>Yes</a:t>
                      </a:r>
                      <a:endParaRPr sz="1400" b="1" i="0" u="none">
                        <a:solidFill>
                          <a:srgbClr val="059669"/>
                        </a:solidFill>
                        <a:latin typeface="Times New Roman Regular" panose="02020503050405090304" charset="0"/>
                        <a:cs typeface="Times New Roman Regular" panose="02020503050405090304" charset="0"/>
                      </a:endParaRPr>
                    </a:p>
                  </a:txBody>
                  <a:tcPr marL="219075" marR="63500" marT="25400" marB="25400" anchor="ctr">
                    <a:lnL>
                      <a:noFill/>
                    </a:lnL>
                    <a:lnR>
                      <a:noFill/>
                    </a:lnR>
                    <a:lnT>
                      <a:noFill/>
                    </a:lnT>
                    <a:lnB>
                      <a:noFill/>
                    </a:lnB>
                    <a:solidFill>
                      <a:srgbClr val="FFFFFF"/>
                    </a:solidFill>
                  </a:tcPr>
                </a:tc>
                <a:tc>
                  <a:txBody>
                    <a:bodyPr/>
                    <a:lstStyle/>
                    <a:p>
                      <a:pPr algn="ctr"/>
                      <a:r>
                        <a:rPr sz="1400" b="0" i="0" u="none">
                          <a:solidFill>
                            <a:srgbClr val="0F172A"/>
                          </a:solidFill>
                          <a:latin typeface="Times New Roman Regular" panose="02020503050405090304" charset="0"/>
                          <a:cs typeface="Times New Roman Regular" panose="02020503050405090304" charset="0"/>
                        </a:rPr>
                        <a:t>No</a:t>
                      </a:r>
                      <a:endParaRPr sz="1400" b="0"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DC2626"/>
                          </a:solidFill>
                          <a:latin typeface="Times New Roman Regular" panose="02020503050405090304" charset="0"/>
                          <a:cs typeface="Times New Roman Regular" panose="02020503050405090304" charset="0"/>
                        </a:rPr>
                        <a:t>No</a:t>
                      </a:r>
                      <a:endParaRPr sz="1400" b="1" i="0" u="none">
                        <a:solidFill>
                          <a:srgbClr val="DC2626"/>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1F2"/>
                    </a:solidFill>
                  </a:tcPr>
                </a:tc>
              </a:tr>
              <a:tr h="518160">
                <a:tc>
                  <a:txBody>
                    <a:bodyPr/>
                    <a:lstStyle/>
                    <a:p>
                      <a:pPr algn="l"/>
                      <a:r>
                        <a:rPr sz="1400" b="1" i="0" u="none">
                          <a:solidFill>
                            <a:srgbClr val="0F172A"/>
                          </a:solidFill>
                          <a:latin typeface="Times New Roman Regular" panose="02020503050405090304" charset="0"/>
                          <a:cs typeface="Times New Roman Regular" panose="02020503050405090304" charset="0"/>
                        </a:rPr>
                        <a:t>Citation Intent (scite.ai, Sem. Scholar)</a:t>
                      </a:r>
                      <a:endParaRPr sz="1400" b="1"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059669"/>
                          </a:solidFill>
                          <a:latin typeface="Times New Roman Regular" panose="02020503050405090304" charset="0"/>
                          <a:cs typeface="Times New Roman Regular" panose="02020503050405090304" charset="0"/>
                        </a:rPr>
                        <a:t>Yes</a:t>
                      </a:r>
                      <a:endParaRPr sz="1400" b="1" i="0" u="none">
                        <a:solidFill>
                          <a:srgbClr val="059669"/>
                        </a:solidFill>
                        <a:latin typeface="Times New Roman Regular" panose="02020503050405090304" charset="0"/>
                        <a:cs typeface="Times New Roman Regular" panose="02020503050405090304" charset="0"/>
                      </a:endParaRPr>
                    </a:p>
                  </a:txBody>
                  <a:tcPr marL="219075" marR="63500" marT="25400" marB="25400" anchor="ctr">
                    <a:lnL>
                      <a:noFill/>
                    </a:lnL>
                    <a:lnR>
                      <a:noFill/>
                    </a:lnR>
                    <a:lnT>
                      <a:noFill/>
                    </a:lnT>
                    <a:lnB>
                      <a:noFill/>
                    </a:lnB>
                    <a:solidFill>
                      <a:srgbClr val="FFFFFF"/>
                    </a:solidFill>
                  </a:tcPr>
                </a:tc>
                <a:tc>
                  <a:txBody>
                    <a:bodyPr/>
                    <a:lstStyle/>
                    <a:p>
                      <a:pPr algn="ctr"/>
                      <a:r>
                        <a:rPr sz="1400" b="0" i="0" u="none">
                          <a:solidFill>
                            <a:srgbClr val="0F172A"/>
                          </a:solidFill>
                          <a:latin typeface="Times New Roman Regular" panose="02020503050405090304" charset="0"/>
                          <a:cs typeface="Times New Roman Regular" panose="02020503050405090304" charset="0"/>
                        </a:rPr>
                        <a:t>No</a:t>
                      </a:r>
                      <a:endParaRPr sz="1400" b="0" i="0" u="none">
                        <a:solidFill>
                          <a:srgbClr val="0F172A"/>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FFF"/>
                    </a:solidFill>
                  </a:tcPr>
                </a:tc>
                <a:tc>
                  <a:txBody>
                    <a:bodyPr/>
                    <a:lstStyle/>
                    <a:p>
                      <a:pPr algn="ctr"/>
                      <a:r>
                        <a:rPr sz="1400" b="1" i="0" u="none">
                          <a:solidFill>
                            <a:srgbClr val="059669"/>
                          </a:solidFill>
                          <a:latin typeface="Times New Roman Regular" panose="02020503050405090304" charset="0"/>
                          <a:cs typeface="Times New Roman Regular" panose="02020503050405090304" charset="0"/>
                        </a:rPr>
                        <a:t>Yes</a:t>
                      </a:r>
                      <a:endParaRPr sz="1400" b="1" i="0" u="none">
                        <a:solidFill>
                          <a:srgbClr val="059669"/>
                        </a:solidFill>
                        <a:latin typeface="Times New Roman Regular" panose="02020503050405090304" charset="0"/>
                        <a:cs typeface="Times New Roman Regular" panose="02020503050405090304" charset="0"/>
                      </a:endParaRPr>
                    </a:p>
                  </a:txBody>
                  <a:tcPr marL="219075" marR="63500" marT="25400" marB="25400" anchor="ctr">
                    <a:lnL>
                      <a:noFill/>
                    </a:lnL>
                    <a:lnR>
                      <a:noFill/>
                    </a:lnR>
                    <a:lnT>
                      <a:noFill/>
                    </a:lnT>
                    <a:lnB>
                      <a:noFill/>
                    </a:lnB>
                    <a:solidFill>
                      <a:srgbClr val="FFFFFF"/>
                    </a:solidFill>
                  </a:tcPr>
                </a:tc>
                <a:tc>
                  <a:txBody>
                    <a:bodyPr/>
                    <a:lstStyle/>
                    <a:p>
                      <a:pPr algn="ctr"/>
                      <a:r>
                        <a:rPr sz="1400" b="1" i="0" u="none">
                          <a:solidFill>
                            <a:srgbClr val="DC2626"/>
                          </a:solidFill>
                          <a:latin typeface="Times New Roman Regular" panose="02020503050405090304" charset="0"/>
                          <a:cs typeface="Times New Roman Regular" panose="02020503050405090304" charset="0"/>
                        </a:rPr>
                        <a:t>No</a:t>
                      </a:r>
                      <a:endParaRPr sz="1400" b="1" i="0" u="none">
                        <a:solidFill>
                          <a:srgbClr val="DC2626"/>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FF1F2"/>
                    </a:solidFill>
                  </a:tcPr>
                </a:tc>
              </a:tr>
              <a:tr h="518160">
                <a:tc>
                  <a:txBody>
                    <a:bodyPr/>
                    <a:lstStyle/>
                    <a:p>
                      <a:pPr algn="l"/>
                      <a:r>
                        <a:rPr sz="1400" b="1" i="0" u="none">
                          <a:solidFill>
                            <a:srgbClr val="1E40AF"/>
                          </a:solidFill>
                          <a:latin typeface="Times New Roman Regular" panose="02020503050405090304" charset="0"/>
                          <a:cs typeface="Times New Roman Regular" panose="02020503050405090304" charset="0"/>
                        </a:rPr>
                        <a:t>ClaimTrace (Audit Engine)</a:t>
                      </a:r>
                      <a:endParaRPr sz="1400" b="1" i="0" u="none">
                        <a:solidFill>
                          <a:srgbClr val="1E40AF"/>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EFF6FF"/>
                    </a:solidFill>
                  </a:tcPr>
                </a:tc>
                <a:tc>
                  <a:txBody>
                    <a:bodyPr/>
                    <a:lstStyle/>
                    <a:p>
                      <a:pPr algn="ctr"/>
                      <a:r>
                        <a:rPr sz="1400" b="1" i="0" u="none">
                          <a:solidFill>
                            <a:srgbClr val="059669"/>
                          </a:solidFill>
                          <a:latin typeface="Times New Roman Regular" panose="02020503050405090304" charset="0"/>
                          <a:cs typeface="Times New Roman Regular" panose="02020503050405090304" charset="0"/>
                        </a:rPr>
                        <a:t>Yes</a:t>
                      </a:r>
                      <a:endParaRPr sz="1400" b="1" i="0" u="none">
                        <a:solidFill>
                          <a:srgbClr val="059669"/>
                        </a:solidFill>
                        <a:latin typeface="Times New Roman Regular" panose="02020503050405090304" charset="0"/>
                        <a:cs typeface="Times New Roman Regular" panose="02020503050405090304" charset="0"/>
                      </a:endParaRPr>
                    </a:p>
                  </a:txBody>
                  <a:tcPr marL="219075" marR="63500" marT="25400" marB="25400" anchor="ctr">
                    <a:lnL>
                      <a:noFill/>
                    </a:lnL>
                    <a:lnR>
                      <a:noFill/>
                    </a:lnR>
                    <a:lnT>
                      <a:noFill/>
                    </a:lnT>
                    <a:lnB>
                      <a:noFill/>
                    </a:lnB>
                    <a:solidFill>
                      <a:srgbClr val="EFF6FF"/>
                    </a:solidFill>
                  </a:tcPr>
                </a:tc>
                <a:tc>
                  <a:txBody>
                    <a:bodyPr/>
                    <a:lstStyle/>
                    <a:p>
                      <a:pPr algn="ctr"/>
                      <a:r>
                        <a:rPr sz="1400" b="1" i="0" u="none">
                          <a:solidFill>
                            <a:srgbClr val="059669"/>
                          </a:solidFill>
                          <a:latin typeface="Times New Roman Regular" panose="02020503050405090304" charset="0"/>
                          <a:cs typeface="Times New Roman Regular" panose="02020503050405090304" charset="0"/>
                        </a:rPr>
                        <a:t>Yes</a:t>
                      </a:r>
                      <a:endParaRPr sz="1400" b="1" i="0" u="none">
                        <a:solidFill>
                          <a:srgbClr val="059669"/>
                        </a:solidFill>
                        <a:latin typeface="Times New Roman Regular" panose="02020503050405090304" charset="0"/>
                        <a:cs typeface="Times New Roman Regular" panose="02020503050405090304" charset="0"/>
                      </a:endParaRPr>
                    </a:p>
                  </a:txBody>
                  <a:tcPr marL="219075" marR="63500" marT="25400" marB="25400" anchor="ctr">
                    <a:lnL>
                      <a:noFill/>
                    </a:lnL>
                    <a:lnR>
                      <a:noFill/>
                    </a:lnR>
                    <a:lnT>
                      <a:noFill/>
                    </a:lnT>
                    <a:lnB>
                      <a:noFill/>
                    </a:lnB>
                    <a:solidFill>
                      <a:srgbClr val="EFF6FF"/>
                    </a:solidFill>
                  </a:tcPr>
                </a:tc>
                <a:tc>
                  <a:txBody>
                    <a:bodyPr/>
                    <a:lstStyle/>
                    <a:p>
                      <a:pPr algn="ctr"/>
                      <a:r>
                        <a:rPr sz="1400" b="0" i="0" u="none">
                          <a:solidFill>
                            <a:srgbClr val="64748B"/>
                          </a:solidFill>
                          <a:latin typeface="Times New Roman Regular" panose="02020503050405090304" charset="0"/>
                          <a:cs typeface="Times New Roman Regular" panose="02020503050405090304" charset="0"/>
                        </a:rPr>
                        <a:t>(Fallback)</a:t>
                      </a:r>
                      <a:endParaRPr sz="1400" b="0" i="0" u="none">
                        <a:solidFill>
                          <a:srgbClr val="64748B"/>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EFF6FF"/>
                    </a:solidFill>
                  </a:tcPr>
                </a:tc>
                <a:tc>
                  <a:txBody>
                    <a:bodyPr/>
                    <a:lstStyle/>
                    <a:p>
                      <a:pPr algn="ctr"/>
                      <a:r>
                        <a:rPr sz="1400" b="1" i="0" u="none">
                          <a:solidFill>
                            <a:srgbClr val="991B1B"/>
                          </a:solidFill>
                          <a:latin typeface="Times New Roman Regular" panose="02020503050405090304" charset="0"/>
                          <a:cs typeface="Times New Roman Regular" panose="02020503050405090304" charset="0"/>
                        </a:rPr>
                        <a:t>★ SOLE FOCUS</a:t>
                      </a:r>
                      <a:endParaRPr sz="1400" b="1" i="0" u="none">
                        <a:solidFill>
                          <a:srgbClr val="991B1B"/>
                        </a:solidFill>
                        <a:latin typeface="Times New Roman Regular" panose="02020503050405090304" charset="0"/>
                        <a:cs typeface="Times New Roman Regular" panose="02020503050405090304" charset="0"/>
                      </a:endParaRPr>
                    </a:p>
                  </a:txBody>
                  <a:tcPr marL="63500" marR="63500" marT="25400" marB="25400" anchor="ctr">
                    <a:lnL>
                      <a:noFill/>
                    </a:lnL>
                    <a:lnR>
                      <a:noFill/>
                    </a:lnR>
                    <a:lnT>
                      <a:noFill/>
                    </a:lnT>
                    <a:lnB>
                      <a:noFill/>
                    </a:lnB>
                    <a:solidFill>
                      <a:srgbClr val="FEE2E2"/>
                    </a:solidFill>
                  </a:tcPr>
                </a:tc>
              </a:tr>
            </a:tbl>
          </a:graphicData>
        </a:graphic>
      </p:graphicFrame>
      <p:sp>
        <p:nvSpPr>
          <p:cNvPr id="29" name="TextBox 28"/>
          <p:cNvSpPr txBox="1"/>
          <p:nvPr/>
        </p:nvSpPr>
        <p:spPr>
          <a:xfrm>
            <a:off x="533400" y="342900"/>
            <a:ext cx="6925865" cy="333375"/>
          </a:xfrm>
          <a:prstGeom prst="rect">
            <a:avLst/>
          </a:prstGeom>
          <a:noFill/>
        </p:spPr>
        <p:txBody>
          <a:bodyPr wrap="none" lIns="0" tIns="0" rIns="0" bIns="0" anchor="t">
            <a:spAutoFit/>
          </a:bodyPr>
          <a:lstStyle/>
          <a:p>
            <a:pPr algn="l"/>
            <a:r>
              <a:rPr sz="2100" b="1" i="0" u="none">
                <a:solidFill>
                  <a:srgbClr val="0F172A"/>
                </a:solidFill>
                <a:latin typeface="Times New Roman Regular" panose="02020503050405090304" charset="0"/>
                <a:cs typeface="Times New Roman Regular" panose="02020503050405090304" charset="0"/>
              </a:rPr>
              <a:t>The targeted market — Empirical Evidence</a:t>
            </a:r>
            <a:endParaRPr sz="2100" b="1" i="0" u="none">
              <a:solidFill>
                <a:srgbClr val="0F172A"/>
              </a:solidFill>
              <a:latin typeface="Times New Roman Regular" panose="02020503050405090304" charset="0"/>
              <a:cs typeface="Times New Roman Regular" panose="02020503050405090304" charset="0"/>
            </a:endParaRPr>
          </a:p>
        </p:txBody>
      </p:sp>
      <p:sp>
        <p:nvSpPr>
          <p:cNvPr id="30" name="TextBox 29"/>
          <p:cNvSpPr txBox="1"/>
          <p:nvPr/>
        </p:nvSpPr>
        <p:spPr>
          <a:xfrm>
            <a:off x="8305800" y="514350"/>
            <a:ext cx="3886200" cy="161925"/>
          </a:xfrm>
          <a:prstGeom prst="rect">
            <a:avLst/>
          </a:prstGeom>
          <a:noFill/>
        </p:spPr>
        <p:txBody>
          <a:bodyPr wrap="none" lIns="0" tIns="0" rIns="0" bIns="0" anchor="t">
            <a:spAutoFit/>
          </a:bodyPr>
          <a:lstStyle/>
          <a:p>
            <a:pPr algn="l"/>
            <a:r>
              <a:rPr sz="975" b="1" i="0" u="none">
                <a:solidFill>
                  <a:srgbClr val="64748B"/>
                </a:solidFill>
                <a:latin typeface="Times New Roman Regular" panose="02020503050405090304" charset="0"/>
                <a:cs typeface="Times New Roman Regular" panose="02020503050405090304" charset="0"/>
              </a:rPr>
              <a:t>SURFACE RATIO · MARKET VARIANCE · GAP MATRIX</a:t>
            </a:r>
            <a:endParaRPr sz="975" b="1" i="0" u="none">
              <a:solidFill>
                <a:srgbClr val="64748B"/>
              </a:solidFill>
              <a:latin typeface="Times New Roman Regular" panose="02020503050405090304" charset="0"/>
              <a:cs typeface="Times New Roman Regular" panose="02020503050405090304" charset="0"/>
            </a:endParaRPr>
          </a:p>
        </p:txBody>
      </p:sp>
      <p:sp>
        <p:nvSpPr>
          <p:cNvPr id="31" name="TextBox 30"/>
          <p:cNvSpPr txBox="1"/>
          <p:nvPr/>
        </p:nvSpPr>
        <p:spPr>
          <a:xfrm>
            <a:off x="695325" y="6145708"/>
            <a:ext cx="10925175" cy="293191"/>
          </a:xfrm>
          <a:prstGeom prst="rect">
            <a:avLst/>
          </a:prstGeom>
          <a:noFill/>
        </p:spPr>
        <p:txBody>
          <a:bodyPr wrap="square" lIns="0" tIns="0" rIns="0" bIns="0" anchor="t">
            <a:spAutoFit/>
          </a:bodyPr>
          <a:lstStyle/>
          <a:p>
            <a:pPr algn="l">
              <a:lnSpc>
                <a:spcPts val="1155"/>
              </a:lnSpc>
            </a:pPr>
            <a:r>
              <a:rPr sz="825" b="1" i="0" u="none">
                <a:solidFill>
                  <a:srgbClr val="475569"/>
                </a:solidFill>
                <a:latin typeface="Times New Roman Regular" panose="02020503050405090304" charset="0"/>
                <a:cs typeface="Times New Roman Regular" panose="02020503050405090304" charset="0"/>
              </a:rPr>
              <a:t>Sources:</a:t>
            </a:r>
            <a:r>
              <a:rPr sz="825" b="0" i="0" u="none">
                <a:solidFill>
                  <a:srgbClr val="475569"/>
                </a:solidFill>
                <a:latin typeface="Times New Roman Regular" panose="02020503050405090304" charset="0"/>
                <a:cs typeface="Times New Roman Regular" panose="02020503050405090304" charset="0"/>
              </a:rPr>
              <a:t> Surface: Overleaf about page (20M+ users) vs scite acquisition disclosures (~21k subscribers, 950:1); Market: Dimensions STM (3.9M→5.7M, +46%), Clarivate 10-K FY25 ($1,266.0M); Matrix: 13 vendor documentation audits.</a:t>
            </a:r>
            <a:endParaRPr sz="825" b="0" i="0" u="none">
              <a:solidFill>
                <a:srgbClr val="475569"/>
              </a:solidFill>
              <a:latin typeface="Times New Roman Regular" panose="02020503050405090304" charset="0"/>
              <a:cs typeface="Times New Roman Regular" panose="02020503050405090304" charset="0"/>
            </a:endParaRPr>
          </a:p>
        </p:txBody>
      </p:sp>
      <p:sp>
        <p:nvSpPr>
          <p:cNvPr id="32" name="TextBox 31"/>
          <p:cNvSpPr txBox="1"/>
          <p:nvPr/>
        </p:nvSpPr>
        <p:spPr>
          <a:xfrm>
            <a:off x="714375" y="1123950"/>
            <a:ext cx="3162300" cy="368935"/>
          </a:xfrm>
          <a:prstGeom prst="rect">
            <a:avLst/>
          </a:prstGeom>
          <a:noFill/>
        </p:spPr>
        <p:txBody>
          <a:bodyPr wrap="square" lIns="0" tIns="0" rIns="0" bIns="0" anchor="t">
            <a:spAutoFit/>
          </a:bodyPr>
          <a:lstStyle/>
          <a:p>
            <a:pPr algn="l"/>
            <a:r>
              <a:rPr sz="2400" b="1" i="0" u="none">
                <a:solidFill>
                  <a:srgbClr val="2563EB"/>
                </a:solidFill>
                <a:latin typeface="Times New Roman Regular" panose="02020503050405090304" charset="0"/>
                <a:cs typeface="Times New Roman Regular" panose="02020503050405090304" charset="0"/>
              </a:rPr>
              <a:t>User Disparity</a:t>
            </a:r>
            <a:endParaRPr sz="2400" b="1" i="0" u="none">
              <a:solidFill>
                <a:srgbClr val="2563EB"/>
              </a:solidFill>
              <a:latin typeface="Times New Roman Regular" panose="02020503050405090304" charset="0"/>
              <a:cs typeface="Times New Roman Regular" panose="02020503050405090304" charset="0"/>
            </a:endParaRPr>
          </a:p>
        </p:txBody>
      </p:sp>
      <p:sp>
        <p:nvSpPr>
          <p:cNvPr id="33" name="TextBox 32"/>
          <p:cNvSpPr txBox="1"/>
          <p:nvPr/>
        </p:nvSpPr>
        <p:spPr>
          <a:xfrm>
            <a:off x="695325" y="1711960"/>
            <a:ext cx="4025503" cy="200025"/>
          </a:xfrm>
          <a:prstGeom prst="rect">
            <a:avLst/>
          </a:prstGeom>
          <a:noFill/>
        </p:spPr>
        <p:txBody>
          <a:bodyPr wrap="none" lIns="0" tIns="0" rIns="0" bIns="0" anchor="t">
            <a:spAutoFit/>
          </a:bodyPr>
          <a:lstStyle/>
          <a:p>
            <a:pPr algn="l"/>
            <a:r>
              <a:rPr sz="1200" b="1" i="0" u="none">
                <a:solidFill>
                  <a:srgbClr val="0F172A"/>
                </a:solidFill>
                <a:latin typeface="Times New Roman Regular" panose="02020503050405090304" charset="0"/>
                <a:cs typeface="Times New Roman Regular" panose="02020503050405090304" charset="0"/>
              </a:rPr>
              <a:t>Writing Surface vs. Paying Surface</a:t>
            </a:r>
            <a:endParaRPr sz="1200" b="1" i="0" u="none">
              <a:solidFill>
                <a:srgbClr val="0F172A"/>
              </a:solidFill>
              <a:latin typeface="Times New Roman Regular" panose="02020503050405090304" charset="0"/>
              <a:cs typeface="Times New Roman Regular" panose="02020503050405090304" charset="0"/>
            </a:endParaRPr>
          </a:p>
        </p:txBody>
      </p:sp>
      <p:sp>
        <p:nvSpPr>
          <p:cNvPr id="34" name="TextBox 33"/>
          <p:cNvSpPr txBox="1"/>
          <p:nvPr/>
        </p:nvSpPr>
        <p:spPr>
          <a:xfrm>
            <a:off x="695325" y="2012315"/>
            <a:ext cx="3162935" cy="553720"/>
          </a:xfrm>
          <a:prstGeom prst="rect">
            <a:avLst/>
          </a:prstGeom>
          <a:noFill/>
        </p:spPr>
        <p:txBody>
          <a:bodyPr wrap="square" lIns="0" tIns="0" rIns="0" bIns="0" anchor="t">
            <a:spAutoFit/>
          </a:bodyPr>
          <a:lstStyle/>
          <a:p>
            <a:pPr algn="l"/>
            <a:r>
              <a:rPr b="0" i="0" u="none">
                <a:solidFill>
                  <a:srgbClr val="64748B"/>
                </a:solidFill>
                <a:latin typeface="Times New Roman Regular" panose="02020503050405090304" charset="0"/>
                <a:cs typeface="Times New Roman Regular" panose="02020503050405090304" charset="0"/>
              </a:rPr>
              <a:t>The mass writing citations vs. the niche currently paying.</a:t>
            </a:r>
            <a:endParaRPr b="0" i="0" u="none">
              <a:solidFill>
                <a:srgbClr val="64748B"/>
              </a:solidFill>
              <a:latin typeface="Times New Roman Regular" panose="02020503050405090304" charset="0"/>
              <a:cs typeface="Times New Roman Regular" panose="02020503050405090304" charset="0"/>
            </a:endParaRPr>
          </a:p>
        </p:txBody>
      </p:sp>
      <p:sp>
        <p:nvSpPr>
          <p:cNvPr id="35" name="TextBox 34"/>
          <p:cNvSpPr txBox="1"/>
          <p:nvPr/>
        </p:nvSpPr>
        <p:spPr>
          <a:xfrm>
            <a:off x="461962" y="4525823"/>
            <a:ext cx="3571875" cy="228600"/>
          </a:xfrm>
          <a:prstGeom prst="rect">
            <a:avLst/>
          </a:prstGeom>
          <a:noFill/>
        </p:spPr>
        <p:txBody>
          <a:bodyPr wrap="none" lIns="0" tIns="0" rIns="0" bIns="0" anchor="t">
            <a:spAutoFit/>
          </a:bodyPr>
          <a:lstStyle/>
          <a:p>
            <a:pPr algn="ctr">
              <a:lnSpc>
                <a:spcPts val="1800"/>
              </a:lnSpc>
            </a:pPr>
            <a:r>
              <a:rPr sz="1800" b="1" i="0" u="none">
                <a:solidFill>
                  <a:srgbClr val="1E40AF"/>
                </a:solidFill>
                <a:latin typeface="Times New Roman Regular" panose="02020503050405090304" charset="0"/>
                <a:cs typeface="Times New Roman Regular" panose="02020503050405090304" charset="0"/>
              </a:rPr>
              <a:t>~950 : 1</a:t>
            </a:r>
            <a:endParaRPr sz="1800" b="1" i="0" u="none">
              <a:solidFill>
                <a:srgbClr val="1E40AF"/>
              </a:solidFill>
              <a:latin typeface="Times New Roman Regular" panose="02020503050405090304" charset="0"/>
              <a:cs typeface="Times New Roman Regular" panose="02020503050405090304" charset="0"/>
            </a:endParaRPr>
          </a:p>
        </p:txBody>
      </p:sp>
      <p:sp>
        <p:nvSpPr>
          <p:cNvPr id="36" name="TextBox 35"/>
          <p:cNvSpPr txBox="1"/>
          <p:nvPr/>
        </p:nvSpPr>
        <p:spPr>
          <a:xfrm>
            <a:off x="461962" y="4792523"/>
            <a:ext cx="3571875" cy="123825"/>
          </a:xfrm>
          <a:prstGeom prst="rect">
            <a:avLst/>
          </a:prstGeom>
          <a:noFill/>
        </p:spPr>
        <p:txBody>
          <a:bodyPr wrap="none" lIns="0" tIns="0" rIns="0" bIns="0" anchor="t">
            <a:spAutoFit/>
          </a:bodyPr>
          <a:lstStyle/>
          <a:p>
            <a:pPr algn="ctr"/>
            <a:r>
              <a:rPr sz="825" b="1" i="0" u="none">
                <a:solidFill>
                  <a:srgbClr val="3B82F6"/>
                </a:solidFill>
                <a:latin typeface="Times New Roman Regular" panose="02020503050405090304" charset="0"/>
                <a:cs typeface="Times New Roman Regular" panose="02020503050405090304" charset="0"/>
              </a:rPr>
              <a:t>Writing surface to monetised validation ratio</a:t>
            </a:r>
            <a:endParaRPr sz="825" b="1" i="0" u="none">
              <a:solidFill>
                <a:srgbClr val="3B82F6"/>
              </a:solidFill>
              <a:latin typeface="Times New Roman Regular" panose="02020503050405090304" charset="0"/>
              <a:cs typeface="Times New Roman Regular" panose="02020503050405090304" charset="0"/>
            </a:endParaRPr>
          </a:p>
        </p:txBody>
      </p:sp>
      <p:sp>
        <p:nvSpPr>
          <p:cNvPr id="37" name="TextBox 36"/>
          <p:cNvSpPr txBox="1"/>
          <p:nvPr/>
        </p:nvSpPr>
        <p:spPr>
          <a:xfrm>
            <a:off x="4333875" y="2628900"/>
            <a:ext cx="1893570" cy="184150"/>
          </a:xfrm>
          <a:prstGeom prst="rect">
            <a:avLst/>
          </a:prstGeom>
          <a:noFill/>
        </p:spPr>
        <p:txBody>
          <a:bodyPr wrap="none" lIns="0" tIns="0" rIns="0" bIns="0" anchor="t">
            <a:spAutoFit/>
          </a:bodyPr>
          <a:lstStyle/>
          <a:p>
            <a:pPr algn="l"/>
            <a:r>
              <a:rPr sz="1200" b="1" i="0" u="none">
                <a:solidFill>
                  <a:srgbClr val="2563EB"/>
                </a:solidFill>
                <a:latin typeface="Times New Roman Regular" panose="02020503050405090304" charset="0"/>
                <a:cs typeface="Times New Roman Regular" panose="02020503050405090304" charset="0"/>
              </a:rPr>
              <a:t>Figure 3 · Capability Matrix </a:t>
            </a:r>
            <a:endParaRPr sz="1200" b="1" i="0" u="none">
              <a:solidFill>
                <a:srgbClr val="2563EB"/>
              </a:solidFill>
              <a:latin typeface="Times New Roman Regular" panose="02020503050405090304" charset="0"/>
              <a:cs typeface="Times New Roman Regular" panose="02020503050405090304" charset="0"/>
            </a:endParaRPr>
          </a:p>
        </p:txBody>
      </p:sp>
      <p:sp>
        <p:nvSpPr>
          <p:cNvPr id="38" name="TextBox 37"/>
          <p:cNvSpPr txBox="1"/>
          <p:nvPr/>
        </p:nvSpPr>
        <p:spPr>
          <a:xfrm>
            <a:off x="4352925" y="1104900"/>
            <a:ext cx="4210050" cy="215265"/>
          </a:xfrm>
          <a:prstGeom prst="rect">
            <a:avLst/>
          </a:prstGeom>
          <a:noFill/>
        </p:spPr>
        <p:txBody>
          <a:bodyPr wrap="square" lIns="0" tIns="0" rIns="0" bIns="0" anchor="t">
            <a:spAutoFit/>
          </a:bodyPr>
          <a:lstStyle/>
          <a:p>
            <a:pPr algn="l"/>
            <a:r>
              <a:rPr sz="1400" b="1" i="0" u="none">
                <a:solidFill>
                  <a:srgbClr val="2563EB"/>
                </a:solidFill>
                <a:latin typeface="Times New Roman Regular" panose="02020503050405090304" charset="0"/>
                <a:cs typeface="Times New Roman Regular" panose="02020503050405090304" charset="0"/>
              </a:rPr>
              <a:t>Market Divergence</a:t>
            </a:r>
            <a:endParaRPr sz="1400" b="1" i="0" u="none">
              <a:solidFill>
                <a:srgbClr val="2563EB"/>
              </a:solidFill>
              <a:latin typeface="Times New Roman Regular" panose="02020503050405090304" charset="0"/>
              <a:cs typeface="Times New Roman Regular" panose="02020503050405090304" charset="0"/>
            </a:endParaRPr>
          </a:p>
        </p:txBody>
      </p:sp>
      <p:sp>
        <p:nvSpPr>
          <p:cNvPr id="40" name="TextBox 39"/>
          <p:cNvSpPr txBox="1"/>
          <p:nvPr/>
        </p:nvSpPr>
        <p:spPr>
          <a:xfrm>
            <a:off x="4467225" y="1638300"/>
            <a:ext cx="1452562" cy="476250"/>
          </a:xfrm>
          <a:prstGeom prst="rect">
            <a:avLst/>
          </a:prstGeom>
          <a:noFill/>
        </p:spPr>
        <p:txBody>
          <a:bodyPr wrap="square" lIns="0" tIns="0" rIns="0" bIns="0" anchor="t">
            <a:spAutoFit/>
          </a:bodyPr>
          <a:lstStyle/>
          <a:p>
            <a:pPr algn="l"/>
            <a:r>
              <a:rPr sz="825" b="0" i="0" u="none">
                <a:solidFill>
                  <a:srgbClr val="64748B"/>
                </a:solidFill>
                <a:latin typeface="Times New Roman Regular" panose="02020503050405090304" charset="0"/>
                <a:cs typeface="Times New Roman Regular" panose="02020503050405090304" charset="0"/>
              </a:rPr>
              <a:t>GlobalInfo </a:t>
            </a:r>
            <a:r>
              <a:rPr sz="1200" b="1" i="0" u="none">
                <a:solidFill>
                  <a:srgbClr val="0F172A"/>
                </a:solidFill>
                <a:latin typeface="Times New Roman Regular" panose="02020503050405090304" charset="0"/>
                <a:cs typeface="Times New Roman Regular" panose="02020503050405090304" charset="0"/>
              </a:rPr>
              <a:t>$371M</a:t>
            </a:r>
            <a:r>
              <a:rPr sz="825" b="0" i="0" u="none">
                <a:solidFill>
                  <a:srgbClr val="64748B"/>
                </a:solidFill>
                <a:latin typeface="Times New Roman Regular" panose="02020503050405090304" charset="0"/>
                <a:cs typeface="Times New Roman Regular" panose="02020503050405090304" charset="0"/>
              </a:rPr>
              <a:t> </a:t>
            </a:r>
            <a:r>
              <a:rPr sz="825" b="0" i="0" u="none">
                <a:solidFill>
                  <a:srgbClr val="0F172A"/>
                </a:solidFill>
                <a:latin typeface="Times New Roman Regular" panose="02020503050405090304" charset="0"/>
                <a:cs typeface="Times New Roman Regular" panose="02020503050405090304" charset="0"/>
              </a:rPr>
              <a:t>2024 vendor</a:t>
            </a:r>
            <a:endParaRPr sz="825" b="0" i="0" u="none">
              <a:solidFill>
                <a:srgbClr val="0F172A"/>
              </a:solidFill>
              <a:latin typeface="Times New Roman Regular" panose="02020503050405090304" charset="0"/>
              <a:cs typeface="Times New Roman Regular" panose="02020503050405090304" charset="0"/>
            </a:endParaRPr>
          </a:p>
        </p:txBody>
      </p:sp>
      <p:sp>
        <p:nvSpPr>
          <p:cNvPr id="41" name="TextBox 40"/>
          <p:cNvSpPr txBox="1"/>
          <p:nvPr/>
        </p:nvSpPr>
        <p:spPr>
          <a:xfrm>
            <a:off x="6148387" y="1638300"/>
            <a:ext cx="1452711" cy="476250"/>
          </a:xfrm>
          <a:prstGeom prst="rect">
            <a:avLst/>
          </a:prstGeom>
          <a:noFill/>
        </p:spPr>
        <p:txBody>
          <a:bodyPr wrap="square" lIns="0" tIns="0" rIns="0" bIns="0" anchor="t">
            <a:spAutoFit/>
          </a:bodyPr>
          <a:lstStyle/>
          <a:p>
            <a:pPr algn="l"/>
            <a:r>
              <a:rPr sz="825" b="0" i="0" u="none">
                <a:solidFill>
                  <a:srgbClr val="64748B"/>
                </a:solidFill>
                <a:latin typeface="Times New Roman Regular" panose="02020503050405090304" charset="0"/>
                <a:cs typeface="Times New Roman Regular" panose="02020503050405090304" charset="0"/>
              </a:rPr>
              <a:t>YH Research </a:t>
            </a:r>
            <a:r>
              <a:rPr sz="1200" b="1" i="0" u="none">
                <a:solidFill>
                  <a:srgbClr val="0F172A"/>
                </a:solidFill>
                <a:latin typeface="Times New Roman Regular" panose="02020503050405090304" charset="0"/>
                <a:cs typeface="Times New Roman Regular" panose="02020503050405090304" charset="0"/>
              </a:rPr>
              <a:t>$385M</a:t>
            </a:r>
            <a:r>
              <a:rPr sz="825" b="0" i="0" u="none">
                <a:solidFill>
                  <a:srgbClr val="64748B"/>
                </a:solidFill>
                <a:latin typeface="Times New Roman Regular" panose="02020503050405090304" charset="0"/>
                <a:cs typeface="Times New Roman Regular" panose="02020503050405090304" charset="0"/>
              </a:rPr>
              <a:t> </a:t>
            </a:r>
            <a:r>
              <a:rPr sz="825" b="0" i="0" u="none">
                <a:solidFill>
                  <a:srgbClr val="0F172A"/>
                </a:solidFill>
                <a:latin typeface="Times New Roman Regular" panose="02020503050405090304" charset="0"/>
                <a:cs typeface="Times New Roman Regular" panose="02020503050405090304" charset="0"/>
              </a:rPr>
              <a:t>2024 vendor</a:t>
            </a:r>
            <a:endParaRPr sz="825" b="0" i="0" u="none">
              <a:solidFill>
                <a:srgbClr val="0F172A"/>
              </a:solidFill>
              <a:latin typeface="Times New Roman Regular" panose="02020503050405090304" charset="0"/>
              <a:cs typeface="Times New Roman Regular" panose="02020503050405090304" charset="0"/>
            </a:endParaRPr>
          </a:p>
        </p:txBody>
      </p:sp>
      <p:sp>
        <p:nvSpPr>
          <p:cNvPr id="42" name="TextBox 41"/>
          <p:cNvSpPr txBox="1"/>
          <p:nvPr/>
        </p:nvSpPr>
        <p:spPr>
          <a:xfrm>
            <a:off x="7829698" y="1638300"/>
            <a:ext cx="1452711" cy="476250"/>
          </a:xfrm>
          <a:prstGeom prst="rect">
            <a:avLst/>
          </a:prstGeom>
          <a:noFill/>
        </p:spPr>
        <p:txBody>
          <a:bodyPr wrap="square" lIns="0" tIns="0" rIns="0" bIns="0" anchor="t">
            <a:spAutoFit/>
          </a:bodyPr>
          <a:lstStyle/>
          <a:p>
            <a:pPr algn="l"/>
            <a:r>
              <a:rPr sz="825" b="0" i="0" u="none">
                <a:solidFill>
                  <a:srgbClr val="64748B"/>
                </a:solidFill>
                <a:latin typeface="Times New Roman Regular" panose="02020503050405090304" charset="0"/>
                <a:cs typeface="Times New Roman Regular" panose="02020503050405090304" charset="0"/>
              </a:rPr>
              <a:t>WiseGuy </a:t>
            </a:r>
            <a:r>
              <a:rPr sz="1200" b="1" i="0" u="none">
                <a:solidFill>
                  <a:srgbClr val="0F172A"/>
                </a:solidFill>
                <a:latin typeface="Times New Roman Regular" panose="02020503050405090304" charset="0"/>
                <a:cs typeface="Times New Roman Regular" panose="02020503050405090304" charset="0"/>
              </a:rPr>
              <a:t>$1,150M</a:t>
            </a:r>
            <a:r>
              <a:rPr sz="825" b="0" i="0" u="none">
                <a:solidFill>
                  <a:srgbClr val="64748B"/>
                </a:solidFill>
                <a:latin typeface="Times New Roman Regular" panose="02020503050405090304" charset="0"/>
                <a:cs typeface="Times New Roman Regular" panose="02020503050405090304" charset="0"/>
              </a:rPr>
              <a:t> </a:t>
            </a:r>
            <a:r>
              <a:rPr sz="825" b="0" i="0" u="none">
                <a:solidFill>
                  <a:srgbClr val="0F172A"/>
                </a:solidFill>
                <a:latin typeface="Times New Roman Regular" panose="02020503050405090304" charset="0"/>
                <a:cs typeface="Times New Roman Regular" panose="02020503050405090304" charset="0"/>
              </a:rPr>
              <a:t>2024 vendor</a:t>
            </a:r>
            <a:endParaRPr sz="825" b="0" i="0" u="none">
              <a:solidFill>
                <a:srgbClr val="0F172A"/>
              </a:solidFill>
              <a:latin typeface="Times New Roman Regular" panose="02020503050405090304" charset="0"/>
              <a:cs typeface="Times New Roman Regular" panose="02020503050405090304" charset="0"/>
            </a:endParaRPr>
          </a:p>
        </p:txBody>
      </p:sp>
      <p:sp>
        <p:nvSpPr>
          <p:cNvPr id="43" name="TextBox 42"/>
          <p:cNvSpPr txBox="1"/>
          <p:nvPr/>
        </p:nvSpPr>
        <p:spPr>
          <a:xfrm>
            <a:off x="9511010" y="1638300"/>
            <a:ext cx="1928366" cy="476250"/>
          </a:xfrm>
          <a:prstGeom prst="rect">
            <a:avLst/>
          </a:prstGeom>
          <a:noFill/>
        </p:spPr>
        <p:txBody>
          <a:bodyPr wrap="square" lIns="0" tIns="0" rIns="0" bIns="0" anchor="t">
            <a:spAutoFit/>
          </a:bodyPr>
          <a:lstStyle/>
          <a:p>
            <a:pPr algn="l"/>
            <a:r>
              <a:rPr sz="825" b="1" i="0" u="none">
                <a:solidFill>
                  <a:srgbClr val="1E40AF"/>
                </a:solidFill>
                <a:latin typeface="Times New Roman Regular" panose="02020503050405090304" charset="0"/>
                <a:cs typeface="Times New Roman Regular" panose="02020503050405090304" charset="0"/>
              </a:rPr>
              <a:t>Clarivate A&amp;G (SEC 10-K) </a:t>
            </a:r>
            <a:r>
              <a:rPr sz="1200" b="1" i="0" u="none">
                <a:solidFill>
                  <a:srgbClr val="1E40AF"/>
                </a:solidFill>
                <a:latin typeface="Times New Roman Regular" panose="02020503050405090304" charset="0"/>
                <a:cs typeface="Times New Roman Regular" panose="02020503050405090304" charset="0"/>
              </a:rPr>
              <a:t>$1,266.0M</a:t>
            </a:r>
            <a:r>
              <a:rPr sz="825" b="1" i="0" u="none">
                <a:solidFill>
                  <a:srgbClr val="1E40AF"/>
                </a:solidFill>
                <a:latin typeface="Times New Roman Regular" panose="02020503050405090304" charset="0"/>
                <a:cs typeface="Times New Roman Regular" panose="02020503050405090304" charset="0"/>
              </a:rPr>
              <a:t> </a:t>
            </a:r>
            <a:r>
              <a:rPr sz="825" b="1" i="0" u="none">
                <a:solidFill>
                  <a:srgbClr val="3B82F6"/>
                </a:solidFill>
                <a:latin typeface="Times New Roman Regular" panose="02020503050405090304" charset="0"/>
                <a:cs typeface="Times New Roman Regular" panose="02020503050405090304" charset="0"/>
              </a:rPr>
              <a:t>Audited FY2025</a:t>
            </a:r>
            <a:endParaRPr sz="825" b="1" i="0" u="none">
              <a:solidFill>
                <a:srgbClr val="3B82F6"/>
              </a:solidFill>
              <a:latin typeface="Times New Roman Regular" panose="02020503050405090304" charset="0"/>
              <a:cs typeface="Times New Roman Regular" panose="02020503050405090304" charset="0"/>
            </a:endParaRPr>
          </a:p>
        </p:txBody>
      </p:sp>
      <p:sp>
        <p:nvSpPr>
          <p:cNvPr id="44" name="TextBox 43"/>
          <p:cNvSpPr txBox="1"/>
          <p:nvPr/>
        </p:nvSpPr>
        <p:spPr>
          <a:xfrm>
            <a:off x="714375" y="2991891"/>
            <a:ext cx="1833562" cy="161925"/>
          </a:xfrm>
          <a:prstGeom prst="rect">
            <a:avLst/>
          </a:prstGeom>
          <a:noFill/>
        </p:spPr>
        <p:txBody>
          <a:bodyPr wrap="none" lIns="0" tIns="0" rIns="0" bIns="0" anchor="t">
            <a:spAutoFit/>
          </a:bodyPr>
          <a:lstStyle/>
          <a:p>
            <a:pPr algn="l"/>
            <a:r>
              <a:rPr sz="975" b="1" i="0" u="none">
                <a:solidFill>
                  <a:srgbClr val="1E293B"/>
                </a:solidFill>
                <a:latin typeface="Times New Roman Regular" panose="02020503050405090304" charset="0"/>
                <a:cs typeface="Times New Roman Regular" panose="02020503050405090304" charset="0"/>
              </a:rPr>
              <a:t>Overleaf Citation Writers</a:t>
            </a:r>
            <a:endParaRPr sz="975" b="1" i="0" u="none">
              <a:solidFill>
                <a:srgbClr val="1E293B"/>
              </a:solidFill>
              <a:latin typeface="Times New Roman Regular" panose="02020503050405090304" charset="0"/>
              <a:cs typeface="Times New Roman Regular" panose="02020503050405090304" charset="0"/>
            </a:endParaRPr>
          </a:p>
        </p:txBody>
      </p:sp>
      <p:sp>
        <p:nvSpPr>
          <p:cNvPr id="45" name="TextBox 44"/>
          <p:cNvSpPr txBox="1"/>
          <p:nvPr/>
        </p:nvSpPr>
        <p:spPr>
          <a:xfrm>
            <a:off x="2943225" y="2991891"/>
            <a:ext cx="1123950" cy="161925"/>
          </a:xfrm>
          <a:prstGeom prst="rect">
            <a:avLst/>
          </a:prstGeom>
          <a:noFill/>
        </p:spPr>
        <p:txBody>
          <a:bodyPr wrap="none" lIns="0" tIns="0" rIns="0" bIns="0" anchor="t">
            <a:spAutoFit/>
          </a:bodyPr>
          <a:lstStyle/>
          <a:p>
            <a:pPr algn="l"/>
            <a:r>
              <a:rPr sz="975" b="1" i="0" u="none">
                <a:solidFill>
                  <a:srgbClr val="0F172A"/>
                </a:solidFill>
                <a:latin typeface="Times New Roman Regular" panose="02020503050405090304" charset="0"/>
                <a:cs typeface="Times New Roman Regular" panose="02020503050405090304" charset="0"/>
              </a:rPr>
              <a:t>20,000,000+</a:t>
            </a:r>
            <a:endParaRPr sz="975" b="1" i="0" u="none">
              <a:solidFill>
                <a:srgbClr val="0F172A"/>
              </a:solidFill>
              <a:latin typeface="Times New Roman Regular" panose="02020503050405090304" charset="0"/>
              <a:cs typeface="Times New Roman Regular" panose="02020503050405090304" charset="0"/>
            </a:endParaRPr>
          </a:p>
        </p:txBody>
      </p:sp>
      <p:sp>
        <p:nvSpPr>
          <p:cNvPr id="46" name="TextBox 45"/>
          <p:cNvSpPr txBox="1"/>
          <p:nvPr/>
        </p:nvSpPr>
        <p:spPr>
          <a:xfrm>
            <a:off x="714375" y="3534816"/>
            <a:ext cx="2035968" cy="161925"/>
          </a:xfrm>
          <a:prstGeom prst="rect">
            <a:avLst/>
          </a:prstGeom>
          <a:noFill/>
        </p:spPr>
        <p:txBody>
          <a:bodyPr wrap="none" lIns="0" tIns="0" rIns="0" bIns="0" anchor="t">
            <a:spAutoFit/>
          </a:bodyPr>
          <a:lstStyle/>
          <a:p>
            <a:pPr algn="l"/>
            <a:r>
              <a:rPr sz="975" b="1" i="0" u="none">
                <a:solidFill>
                  <a:srgbClr val="1E293B"/>
                </a:solidFill>
                <a:latin typeface="Times New Roman Regular" panose="02020503050405090304" charset="0"/>
                <a:cs typeface="Times New Roman Regular" panose="02020503050405090304" charset="0"/>
              </a:rPr>
              <a:t>scite.ai Paying Subscribers</a:t>
            </a:r>
            <a:endParaRPr sz="975" b="1" i="0" u="none">
              <a:solidFill>
                <a:srgbClr val="1E293B"/>
              </a:solidFill>
              <a:latin typeface="Times New Roman Regular" panose="02020503050405090304" charset="0"/>
              <a:cs typeface="Times New Roman Regular" panose="02020503050405090304" charset="0"/>
            </a:endParaRPr>
          </a:p>
        </p:txBody>
      </p:sp>
      <p:sp>
        <p:nvSpPr>
          <p:cNvPr id="47" name="TextBox 46"/>
          <p:cNvSpPr txBox="1"/>
          <p:nvPr/>
        </p:nvSpPr>
        <p:spPr>
          <a:xfrm>
            <a:off x="3248025" y="3534816"/>
            <a:ext cx="819150" cy="161925"/>
          </a:xfrm>
          <a:prstGeom prst="rect">
            <a:avLst/>
          </a:prstGeom>
          <a:noFill/>
        </p:spPr>
        <p:txBody>
          <a:bodyPr wrap="none" lIns="0" tIns="0" rIns="0" bIns="0" anchor="t">
            <a:spAutoFit/>
          </a:bodyPr>
          <a:lstStyle/>
          <a:p>
            <a:pPr algn="l"/>
            <a:r>
              <a:rPr sz="975" b="1" i="0" u="none">
                <a:solidFill>
                  <a:srgbClr val="DC2626"/>
                </a:solidFill>
                <a:latin typeface="Times New Roman Regular" panose="02020503050405090304" charset="0"/>
                <a:cs typeface="Times New Roman Regular" panose="02020503050405090304" charset="0"/>
              </a:rPr>
              <a:t>~21,000</a:t>
            </a:r>
            <a:endParaRPr sz="975" b="1" i="0" u="none">
              <a:solidFill>
                <a:srgbClr val="DC2626"/>
              </a:solidFill>
              <a:latin typeface="Times New Roman Regular" panose="02020503050405090304" charset="0"/>
              <a:cs typeface="Times New Roman Regular" panose="02020503050405090304" charset="0"/>
            </a:endParaRPr>
          </a:p>
        </p:txBody>
      </p:sp>
      <p:sp>
        <p:nvSpPr>
          <p:cNvPr id="48" name="TextBox 47"/>
          <p:cNvSpPr txBox="1"/>
          <p:nvPr/>
        </p:nvSpPr>
        <p:spPr>
          <a:xfrm>
            <a:off x="4352925" y="1304925"/>
            <a:ext cx="5400675" cy="180975"/>
          </a:xfrm>
          <a:prstGeom prst="rect">
            <a:avLst/>
          </a:prstGeom>
          <a:noFill/>
        </p:spPr>
        <p:txBody>
          <a:bodyPr wrap="none" lIns="0" tIns="0" rIns="0" bIns="0" anchor="t">
            <a:spAutoFit/>
          </a:bodyPr>
          <a:lstStyle/>
          <a:p>
            <a:pPr algn="l"/>
            <a:r>
              <a:rPr sz="1125" b="1" i="0" u="none">
                <a:solidFill>
                  <a:srgbClr val="0F172A"/>
                </a:solidFill>
                <a:latin typeface="Times New Roman Regular" panose="02020503050405090304" charset="0"/>
                <a:cs typeface="Times New Roman Regular" panose="02020503050405090304" charset="0"/>
              </a:rPr>
              <a:t>Paper Volume (+46%) vs Tooling Sizing (3× Vendor Spread)</a:t>
            </a:r>
            <a:endParaRPr sz="1125" b="1" i="0" u="none">
              <a:solidFill>
                <a:srgbClr val="0F172A"/>
              </a:solidFill>
              <a:latin typeface="Times New Roman Regular" panose="02020503050405090304" charset="0"/>
              <a:cs typeface="Times New Roman Regular" panose="0202050305040509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ounded Rectangle 1"/>
          <p:cNvSpPr/>
          <p:nvPr/>
        </p:nvSpPr>
        <p:spPr>
          <a:xfrm>
            <a:off x="533400" y="923925"/>
            <a:ext cx="11125200" cy="390525"/>
          </a:xfrm>
          <a:prstGeom prst="roundRect">
            <a:avLst>
              <a:gd name="adj" fmla="val 1463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3" name="Rounded Rectangle 2"/>
          <p:cNvSpPr/>
          <p:nvPr/>
        </p:nvSpPr>
        <p:spPr>
          <a:xfrm>
            <a:off x="533400" y="5578078"/>
            <a:ext cx="11125200" cy="415230"/>
          </a:xfrm>
          <a:prstGeom prst="roundRect">
            <a:avLst>
              <a:gd name="adj" fmla="val 13763"/>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4" name="Rounded Rectangle 3"/>
          <p:cNvSpPr/>
          <p:nvPr/>
        </p:nvSpPr>
        <p:spPr>
          <a:xfrm>
            <a:off x="533400" y="6069508"/>
            <a:ext cx="11125200" cy="445591"/>
          </a:xfrm>
          <a:prstGeom prst="roundRect">
            <a:avLst>
              <a:gd name="adj" fmla="val 1282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5" name="Rounded Rectangle 4"/>
          <p:cNvSpPr/>
          <p:nvPr/>
        </p:nvSpPr>
        <p:spPr>
          <a:xfrm>
            <a:off x="533400" y="1428750"/>
            <a:ext cx="5467350" cy="4035028"/>
          </a:xfrm>
          <a:prstGeom prst="roundRect">
            <a:avLst>
              <a:gd name="adj" fmla="val 188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6" name="Rounded Rectangle 5"/>
          <p:cNvSpPr/>
          <p:nvPr/>
        </p:nvSpPr>
        <p:spPr>
          <a:xfrm>
            <a:off x="6191250" y="1428750"/>
            <a:ext cx="5467350" cy="4035028"/>
          </a:xfrm>
          <a:prstGeom prst="roundRect">
            <a:avLst>
              <a:gd name="adj" fmla="val 188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7" name="Rectangle 6"/>
          <p:cNvSpPr/>
          <p:nvPr/>
        </p:nvSpPr>
        <p:spPr>
          <a:xfrm>
            <a:off x="533400" y="6069508"/>
            <a:ext cx="28575" cy="44559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pic>
        <p:nvPicPr>
          <p:cNvPr id="8" name="Picture 7" descr="image.png"/>
          <p:cNvPicPr>
            <a:picLocks noChangeAspect="1"/>
          </p:cNvPicPr>
          <p:nvPr/>
        </p:nvPicPr>
        <p:blipFill>
          <a:blip r:embed="rId1"/>
          <a:stretch>
            <a:fillRect/>
          </a:stretch>
        </p:blipFill>
        <p:spPr>
          <a:xfrm>
            <a:off x="733425" y="1652587"/>
            <a:ext cx="161925" cy="161925"/>
          </a:xfrm>
          <a:prstGeom prst="rect">
            <a:avLst/>
          </a:prstGeom>
        </p:spPr>
      </p:pic>
      <p:pic>
        <p:nvPicPr>
          <p:cNvPr id="9" name="Picture 8" descr="image.png"/>
          <p:cNvPicPr>
            <a:picLocks noChangeAspect="1"/>
          </p:cNvPicPr>
          <p:nvPr/>
        </p:nvPicPr>
        <p:blipFill>
          <a:blip r:embed="rId2"/>
          <a:stretch>
            <a:fillRect/>
          </a:stretch>
        </p:blipFill>
        <p:spPr>
          <a:xfrm>
            <a:off x="6391275" y="1652587"/>
            <a:ext cx="161925" cy="161925"/>
          </a:xfrm>
          <a:prstGeom prst="rect">
            <a:avLst/>
          </a:prstGeom>
        </p:spPr>
      </p:pic>
      <p:sp>
        <p:nvSpPr>
          <p:cNvPr id="10" name="TextBox 9"/>
          <p:cNvSpPr txBox="1"/>
          <p:nvPr/>
        </p:nvSpPr>
        <p:spPr>
          <a:xfrm>
            <a:off x="533400" y="342900"/>
            <a:ext cx="1900237" cy="333375"/>
          </a:xfrm>
          <a:prstGeom prst="rect">
            <a:avLst/>
          </a:prstGeom>
          <a:noFill/>
        </p:spPr>
        <p:txBody>
          <a:bodyPr wrap="none" lIns="0" tIns="0" rIns="0" bIns="0" anchor="t">
            <a:spAutoFit/>
          </a:bodyPr>
          <a:lstStyle/>
          <a:p>
            <a:pPr algn="l"/>
            <a:r>
              <a:rPr sz="2100" b="1" i="0" u="none">
                <a:solidFill>
                  <a:srgbClr val="0F172A"/>
                </a:solidFill>
                <a:latin typeface="Times New Roman Regular" panose="02020503050405090304" charset="0"/>
                <a:cs typeface="Times New Roman Regular" panose="02020503050405090304" charset="0"/>
              </a:rPr>
              <a:t>Case Study</a:t>
            </a:r>
            <a:endParaRPr sz="2100" b="1" i="0" u="none">
              <a:solidFill>
                <a:srgbClr val="0F172A"/>
              </a:solidFill>
              <a:latin typeface="Times New Roman Regular" panose="02020503050405090304" charset="0"/>
              <a:cs typeface="Times New Roman Regular" panose="02020503050405090304" charset="0"/>
            </a:endParaRPr>
          </a:p>
        </p:txBody>
      </p:sp>
      <p:sp>
        <p:nvSpPr>
          <p:cNvPr id="11" name="TextBox 10"/>
          <p:cNvSpPr txBox="1"/>
          <p:nvPr/>
        </p:nvSpPr>
        <p:spPr>
          <a:xfrm>
            <a:off x="9601200" y="514350"/>
            <a:ext cx="2571750" cy="161925"/>
          </a:xfrm>
          <a:prstGeom prst="rect">
            <a:avLst/>
          </a:prstGeom>
          <a:noFill/>
        </p:spPr>
        <p:txBody>
          <a:bodyPr wrap="none" lIns="0" tIns="0" rIns="0" bIns="0" anchor="t">
            <a:spAutoFit/>
          </a:bodyPr>
          <a:lstStyle/>
          <a:p>
            <a:pPr algn="l"/>
            <a:r>
              <a:rPr sz="975" b="1" i="0" u="none">
                <a:solidFill>
                  <a:srgbClr val="64748B"/>
                </a:solidFill>
                <a:latin typeface="Times New Roman Regular" panose="02020503050405090304" charset="0"/>
                <a:cs typeface="Times New Roman Regular" panose="02020503050405090304" charset="0"/>
              </a:rPr>
              <a:t>PRIMARY COMPETITOR ANALYSIS</a:t>
            </a:r>
            <a:endParaRPr sz="975" b="1" i="0" u="none">
              <a:solidFill>
                <a:srgbClr val="64748B"/>
              </a:solidFill>
              <a:latin typeface="Times New Roman Regular" panose="02020503050405090304" charset="0"/>
              <a:cs typeface="Times New Roman Regular" panose="02020503050405090304" charset="0"/>
            </a:endParaRPr>
          </a:p>
        </p:txBody>
      </p:sp>
      <p:sp>
        <p:nvSpPr>
          <p:cNvPr id="12" name="TextBox 11"/>
          <p:cNvSpPr txBox="1"/>
          <p:nvPr/>
        </p:nvSpPr>
        <p:spPr>
          <a:xfrm>
            <a:off x="695325" y="1028700"/>
            <a:ext cx="6284595" cy="245745"/>
          </a:xfrm>
          <a:prstGeom prst="rect">
            <a:avLst/>
          </a:prstGeom>
          <a:noFill/>
        </p:spPr>
        <p:txBody>
          <a:bodyPr wrap="none" lIns="0" tIns="0" rIns="0" bIns="0" anchor="t">
            <a:spAutoFit/>
          </a:bodyPr>
          <a:lstStyle/>
          <a:p>
            <a:pPr algn="l"/>
            <a:r>
              <a:rPr sz="1600" b="1" i="0" u="none">
                <a:solidFill>
                  <a:srgbClr val="1E40AF"/>
                </a:solidFill>
                <a:latin typeface="Times New Roman Regular" panose="02020503050405090304" charset="0"/>
                <a:cs typeface="Times New Roman Regular" panose="02020503050405090304" charset="0"/>
              </a:rPr>
              <a:t>scite.ai — the biggest competitor, and the one every reviewer names first</a:t>
            </a:r>
            <a:endParaRPr sz="1600" b="1" i="0" u="none">
              <a:solidFill>
                <a:srgbClr val="1E40AF"/>
              </a:solidFill>
              <a:latin typeface="Times New Roman Regular" panose="02020503050405090304" charset="0"/>
              <a:cs typeface="Times New Roman Regular" panose="02020503050405090304" charset="0"/>
            </a:endParaRPr>
          </a:p>
        </p:txBody>
      </p:sp>
      <p:sp>
        <p:nvSpPr>
          <p:cNvPr id="13" name="TextBox 12"/>
          <p:cNvSpPr txBox="1"/>
          <p:nvPr/>
        </p:nvSpPr>
        <p:spPr>
          <a:xfrm>
            <a:off x="704850" y="5692378"/>
            <a:ext cx="10230485" cy="187960"/>
          </a:xfrm>
          <a:prstGeom prst="rect">
            <a:avLst/>
          </a:prstGeom>
          <a:noFill/>
        </p:spPr>
        <p:txBody>
          <a:bodyPr wrap="none" lIns="0" tIns="0" rIns="0" bIns="0" anchor="t">
            <a:spAutoFit/>
          </a:bodyPr>
          <a:lstStyle/>
          <a:p>
            <a:pPr algn="l">
              <a:lnSpc>
                <a:spcPts val="1470"/>
              </a:lnSpc>
            </a:pPr>
            <a:r>
              <a:rPr sz="1200" b="1" i="0" u="none">
                <a:solidFill>
                  <a:srgbClr val="38BDF8"/>
                </a:solidFill>
                <a:latin typeface="Times New Roman Regular" panose="02020503050405090304" charset="0"/>
                <a:cs typeface="Times New Roman Regular" panose="02020503050405090304" charset="0"/>
              </a:rPr>
              <a:t>Takeaway:</a:t>
            </a:r>
            <a:r>
              <a:rPr sz="1200" b="1" i="0" u="none">
                <a:solidFill>
                  <a:srgbClr val="F8FAFC"/>
                </a:solidFill>
                <a:latin typeface="Times New Roman Regular" panose="02020503050405090304" charset="0"/>
                <a:cs typeface="Times New Roman Regular" panose="02020503050405090304" charset="0"/>
              </a:rPr>
              <a:t> The category is real and funded. But the market leader answers </a:t>
            </a:r>
            <a:r>
              <a:rPr sz="1200" b="1" i="1" u="none">
                <a:solidFill>
                  <a:srgbClr val="F8FAFC"/>
                </a:solidFill>
                <a:latin typeface="Times New Roman Regular" panose="02020503050405090304" charset="0"/>
                <a:cs typeface="Times New Roman Regular" panose="02020503050405090304" charset="0"/>
              </a:rPr>
              <a:t>“how have others cited this paper?”</a:t>
            </a:r>
            <a:r>
              <a:rPr sz="1200" b="1" i="0" u="none">
                <a:solidFill>
                  <a:srgbClr val="F8FAFC"/>
                </a:solidFill>
                <a:latin typeface="Times New Roman Regular" panose="02020503050405090304" charset="0"/>
                <a:cs typeface="Times New Roman Regular" panose="02020503050405090304" charset="0"/>
              </a:rPr>
              <a:t> — never </a:t>
            </a:r>
            <a:r>
              <a:rPr sz="1200" b="1" i="1" u="none">
                <a:solidFill>
                  <a:srgbClr val="F8FAFC"/>
                </a:solidFill>
                <a:latin typeface="Times New Roman Regular" panose="02020503050405090304" charset="0"/>
                <a:cs typeface="Times New Roman Regular" panose="02020503050405090304" charset="0"/>
              </a:rPr>
              <a:t>“does my sentence match my source?”</a:t>
            </a:r>
            <a:endParaRPr sz="1200" b="1" i="1" u="none">
              <a:solidFill>
                <a:srgbClr val="F8FAFC"/>
              </a:solidFill>
              <a:latin typeface="Times New Roman Regular" panose="02020503050405090304" charset="0"/>
              <a:cs typeface="Times New Roman Regular" panose="02020503050405090304" charset="0"/>
            </a:endParaRPr>
          </a:p>
        </p:txBody>
      </p:sp>
      <p:sp>
        <p:nvSpPr>
          <p:cNvPr id="14" name="TextBox 13"/>
          <p:cNvSpPr txBox="1"/>
          <p:nvPr/>
        </p:nvSpPr>
        <p:spPr>
          <a:xfrm>
            <a:off x="695325" y="6145708"/>
            <a:ext cx="10925175" cy="293191"/>
          </a:xfrm>
          <a:prstGeom prst="rect">
            <a:avLst/>
          </a:prstGeom>
          <a:noFill/>
        </p:spPr>
        <p:txBody>
          <a:bodyPr wrap="square" lIns="0" tIns="0" rIns="0" bIns="0" anchor="t">
            <a:spAutoFit/>
          </a:bodyPr>
          <a:lstStyle/>
          <a:p>
            <a:pPr algn="l">
              <a:lnSpc>
                <a:spcPts val="1155"/>
              </a:lnSpc>
            </a:pPr>
            <a:r>
              <a:rPr sz="825" b="1" i="0" u="none">
                <a:solidFill>
                  <a:srgbClr val="475569"/>
                </a:solidFill>
                <a:latin typeface="Times New Roman Regular" panose="02020503050405090304" charset="0"/>
                <a:cs typeface="Times New Roman Regular" panose="02020503050405090304" charset="0"/>
              </a:rPr>
              <a:t>Sources:</a:t>
            </a:r>
            <a:r>
              <a:rPr sz="825" b="0" i="0" u="none">
                <a:solidFill>
                  <a:srgbClr val="475569"/>
                </a:solidFill>
                <a:latin typeface="Times New Roman Regular" panose="02020503050405090304" charset="0"/>
                <a:cs typeface="Times New Roman Regular" panose="02020503050405090304" charset="0"/>
              </a:rPr>
              <a:t> scite.ai/features (2026-09-24 audit); Research Solutions (Nasdaq: RSSS) Form 10-K &amp; Press Releases (Initial consideration: $21.1M, earn-out: $15.4M settled Jul 2025, ~ $29M all-in; $20.9M net of cash acquired).</a:t>
            </a:r>
            <a:endParaRPr sz="825" b="0" i="0" u="none">
              <a:solidFill>
                <a:srgbClr val="475569"/>
              </a:solidFill>
              <a:latin typeface="Times New Roman Regular" panose="02020503050405090304" charset="0"/>
              <a:cs typeface="Times New Roman Regular" panose="02020503050405090304" charset="0"/>
            </a:endParaRPr>
          </a:p>
        </p:txBody>
      </p:sp>
      <p:sp>
        <p:nvSpPr>
          <p:cNvPr id="15" name="TextBox 14"/>
          <p:cNvSpPr txBox="1"/>
          <p:nvPr/>
        </p:nvSpPr>
        <p:spPr>
          <a:xfrm>
            <a:off x="971550" y="1610678"/>
            <a:ext cx="847725" cy="245745"/>
          </a:xfrm>
          <a:prstGeom prst="rect">
            <a:avLst/>
          </a:prstGeom>
          <a:noFill/>
        </p:spPr>
        <p:txBody>
          <a:bodyPr wrap="none" lIns="0" tIns="0" rIns="0" bIns="0" anchor="ctr">
            <a:spAutoFit/>
          </a:bodyPr>
          <a:lstStyle/>
          <a:p>
            <a:pPr algn="l"/>
            <a:r>
              <a:rPr sz="1600" b="1" i="0" u="none">
                <a:solidFill>
                  <a:srgbClr val="0F172A"/>
                </a:solidFill>
                <a:latin typeface="Times New Roman Regular" panose="02020503050405090304" charset="0"/>
                <a:cs typeface="Times New Roman Regular" panose="02020503050405090304" charset="0"/>
              </a:rPr>
              <a:t>What it is</a:t>
            </a:r>
            <a:endParaRPr sz="1600" b="1" i="0" u="none">
              <a:solidFill>
                <a:srgbClr val="0F172A"/>
              </a:solidFill>
              <a:latin typeface="Times New Roman Regular" panose="02020503050405090304" charset="0"/>
              <a:cs typeface="Times New Roman Regular" panose="02020503050405090304" charset="0"/>
            </a:endParaRPr>
          </a:p>
        </p:txBody>
      </p:sp>
      <p:sp>
        <p:nvSpPr>
          <p:cNvPr id="16" name="TextBox 15"/>
          <p:cNvSpPr txBox="1"/>
          <p:nvPr/>
        </p:nvSpPr>
        <p:spPr>
          <a:xfrm>
            <a:off x="6629400" y="1610678"/>
            <a:ext cx="2259965" cy="245745"/>
          </a:xfrm>
          <a:prstGeom prst="rect">
            <a:avLst/>
          </a:prstGeom>
          <a:noFill/>
        </p:spPr>
        <p:txBody>
          <a:bodyPr wrap="none" lIns="0" tIns="0" rIns="0" bIns="0" anchor="ctr">
            <a:spAutoFit/>
          </a:bodyPr>
          <a:lstStyle/>
          <a:p>
            <a:pPr algn="l"/>
            <a:r>
              <a:rPr sz="1600" b="1" i="0" u="none">
                <a:solidFill>
                  <a:srgbClr val="0F172A"/>
                </a:solidFill>
                <a:latin typeface="Times New Roman Regular" panose="02020503050405090304" charset="0"/>
                <a:cs typeface="Times New Roman Regular" panose="02020503050405090304" charset="0"/>
              </a:rPr>
              <a:t>Why it is the case to study</a:t>
            </a:r>
            <a:endParaRPr sz="1600" b="1" i="0" u="none">
              <a:solidFill>
                <a:srgbClr val="0F172A"/>
              </a:solidFill>
              <a:latin typeface="Times New Roman Regular" panose="02020503050405090304" charset="0"/>
              <a:cs typeface="Times New Roman Regular" panose="02020503050405090304" charset="0"/>
            </a:endParaRPr>
          </a:p>
        </p:txBody>
      </p:sp>
      <p:sp>
        <p:nvSpPr>
          <p:cNvPr id="17" name="TextBox 16"/>
          <p:cNvSpPr txBox="1"/>
          <p:nvPr/>
        </p:nvSpPr>
        <p:spPr>
          <a:xfrm>
            <a:off x="733425" y="1952625"/>
            <a:ext cx="4251325" cy="492125"/>
          </a:xfrm>
          <a:prstGeom prst="rect">
            <a:avLst/>
          </a:prstGeom>
          <a:noFill/>
        </p:spPr>
        <p:txBody>
          <a:bodyPr wrap="non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Origin &amp; Leadership:</a:t>
            </a:r>
            <a:r>
              <a:rPr sz="1600" b="0" i="0" u="none">
                <a:solidFill>
                  <a:srgbClr val="334155"/>
                </a:solidFill>
                <a:latin typeface="Times New Roman Regular" panose="02020503050405090304" charset="0"/>
                <a:cs typeface="Times New Roman Regular" panose="02020503050405090304" charset="0"/>
              </a:rPr>
              <a:t> Founded 2018 in Brooklyn; </a:t>
            </a:r>
            <a:endParaRPr sz="1600" b="0" i="0" u="none">
              <a:solidFill>
                <a:srgbClr val="334155"/>
              </a:solidFill>
              <a:latin typeface="Times New Roman Regular" panose="02020503050405090304" charset="0"/>
              <a:cs typeface="Times New Roman Regular" panose="02020503050405090304" charset="0"/>
            </a:endParaRPr>
          </a:p>
          <a:p>
            <a:pPr algn="l">
              <a:lnSpc>
                <a:spcPct val="100000"/>
              </a:lnSpc>
            </a:pPr>
            <a:r>
              <a:rPr sz="1600" b="0" i="0" u="none">
                <a:solidFill>
                  <a:srgbClr val="334155"/>
                </a:solidFill>
                <a:latin typeface="Times New Roman Regular" panose="02020503050405090304" charset="0"/>
                <a:cs typeface="Times New Roman Regular" panose="02020503050405090304" charset="0"/>
              </a:rPr>
              <a:t>co-founder &amp; CEO Josh Nicholson.</a:t>
            </a:r>
            <a:endParaRPr sz="1600" b="0" i="0" u="none">
              <a:solidFill>
                <a:srgbClr val="334155"/>
              </a:solidFill>
              <a:latin typeface="Times New Roman Regular" panose="02020503050405090304" charset="0"/>
              <a:cs typeface="Times New Roman Regular" panose="02020503050405090304" charset="0"/>
            </a:endParaRPr>
          </a:p>
        </p:txBody>
      </p:sp>
      <p:sp>
        <p:nvSpPr>
          <p:cNvPr id="18" name="TextBox 17"/>
          <p:cNvSpPr txBox="1"/>
          <p:nvPr/>
        </p:nvSpPr>
        <p:spPr>
          <a:xfrm>
            <a:off x="733425" y="2405380"/>
            <a:ext cx="5162550" cy="73850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Core Mechanism:</a:t>
            </a:r>
            <a:r>
              <a:rPr sz="1600" b="0" i="0" u="none">
                <a:solidFill>
                  <a:srgbClr val="334155"/>
                </a:solidFill>
                <a:latin typeface="Times New Roman Regular" panose="02020503050405090304" charset="0"/>
                <a:cs typeface="Times New Roman Regular" panose="02020503050405090304" charset="0"/>
              </a:rPr>
              <a:t> Smart Citations label how a paper has been cited — supporting, contrasting, or mentioning — one label per citation statement.</a:t>
            </a:r>
            <a:endParaRPr sz="1600" b="0" i="0" u="none">
              <a:solidFill>
                <a:srgbClr val="334155"/>
              </a:solidFill>
              <a:latin typeface="Times New Roman Regular" panose="02020503050405090304" charset="0"/>
              <a:cs typeface="Times New Roman Regular" panose="02020503050405090304" charset="0"/>
            </a:endParaRPr>
          </a:p>
        </p:txBody>
      </p:sp>
      <p:sp>
        <p:nvSpPr>
          <p:cNvPr id="19" name="TextBox 18"/>
          <p:cNvSpPr txBox="1"/>
          <p:nvPr/>
        </p:nvSpPr>
        <p:spPr>
          <a:xfrm>
            <a:off x="704850" y="3235325"/>
            <a:ext cx="5162550" cy="49212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Indexed Scale:</a:t>
            </a:r>
            <a:r>
              <a:rPr sz="1600" b="0" i="0" u="none">
                <a:solidFill>
                  <a:srgbClr val="334155"/>
                </a:solidFill>
                <a:latin typeface="Times New Roman Regular" panose="02020503050405090304" charset="0"/>
                <a:cs typeface="Times New Roman Regular" panose="02020503050405090304" charset="0"/>
              </a:rPr>
              <a:t> 1.6B+ Smart Citations, 317M+ articles indexed, 44+ publisher partners.</a:t>
            </a:r>
            <a:endParaRPr sz="1600" b="0" i="0" u="none">
              <a:solidFill>
                <a:srgbClr val="334155"/>
              </a:solidFill>
              <a:latin typeface="Times New Roman Regular" panose="02020503050405090304" charset="0"/>
              <a:cs typeface="Times New Roman Regular" panose="02020503050405090304" charset="0"/>
            </a:endParaRPr>
          </a:p>
        </p:txBody>
      </p:sp>
      <p:sp>
        <p:nvSpPr>
          <p:cNvPr id="20" name="TextBox 19"/>
          <p:cNvSpPr txBox="1"/>
          <p:nvPr/>
        </p:nvSpPr>
        <p:spPr>
          <a:xfrm>
            <a:off x="733425" y="3876675"/>
            <a:ext cx="5162550" cy="73850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Acquisition Event:</a:t>
            </a:r>
            <a:r>
              <a:rPr sz="1600" b="0" i="0" u="none">
                <a:solidFill>
                  <a:srgbClr val="334155"/>
                </a:solidFill>
                <a:latin typeface="Times New Roman Regular" panose="02020503050405090304" charset="0"/>
                <a:cs typeface="Times New Roman Regular" panose="02020503050405090304" charset="0"/>
              </a:rPr>
              <a:t> Acquired by Research Solutions (NASDAQ: RSSS) announced 27 Nov 2023, closed 1 Dec 2023.</a:t>
            </a:r>
            <a:endParaRPr sz="1600" b="0" i="0" u="none">
              <a:solidFill>
                <a:srgbClr val="334155"/>
              </a:solidFill>
              <a:latin typeface="Times New Roman Regular" panose="02020503050405090304" charset="0"/>
              <a:cs typeface="Times New Roman Regular" panose="02020503050405090304" charset="0"/>
            </a:endParaRPr>
          </a:p>
        </p:txBody>
      </p:sp>
      <p:sp>
        <p:nvSpPr>
          <p:cNvPr id="21" name="TextBox 20"/>
          <p:cNvSpPr txBox="1"/>
          <p:nvPr/>
        </p:nvSpPr>
        <p:spPr>
          <a:xfrm>
            <a:off x="733425" y="4706620"/>
            <a:ext cx="5162550" cy="73850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Financial Baseline:</a:t>
            </a:r>
            <a:r>
              <a:rPr sz="1600" b="0" i="0" u="none">
                <a:solidFill>
                  <a:srgbClr val="334155"/>
                </a:solidFill>
                <a:latin typeface="Times New Roman Regular" panose="02020503050405090304" charset="0"/>
                <a:cs typeface="Times New Roman Regular" panose="02020503050405090304" charset="0"/>
              </a:rPr>
              <a:t> ~21,000 paying subscribers, $3.6M annualised subscription revenue, $1.1M FY2023 revenue at acquisition.</a:t>
            </a:r>
            <a:endParaRPr sz="1600" b="0" i="0" u="none">
              <a:solidFill>
                <a:srgbClr val="334155"/>
              </a:solidFill>
              <a:latin typeface="Times New Roman Regular" panose="02020503050405090304" charset="0"/>
              <a:cs typeface="Times New Roman Regular" panose="02020503050405090304" charset="0"/>
            </a:endParaRPr>
          </a:p>
        </p:txBody>
      </p:sp>
      <p:sp>
        <p:nvSpPr>
          <p:cNvPr id="22" name="TextBox 21"/>
          <p:cNvSpPr txBox="1"/>
          <p:nvPr/>
        </p:nvSpPr>
        <p:spPr>
          <a:xfrm>
            <a:off x="6391275" y="2094230"/>
            <a:ext cx="5162550" cy="73850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Comparable Engineering Pipeline:</a:t>
            </a:r>
            <a:r>
              <a:rPr sz="1600" b="0" i="0" u="none">
                <a:solidFill>
                  <a:srgbClr val="334155"/>
                </a:solidFill>
                <a:latin typeface="Times New Roman Regular" panose="02020503050405090304" charset="0"/>
                <a:cs typeface="Times New Roman Regular" panose="02020503050405090304" charset="0"/>
              </a:rPr>
              <a:t> Only competitor with full-text ingestion, a trained deep classifier, and published methods.</a:t>
            </a:r>
            <a:endParaRPr sz="1600" b="0" i="0" u="none">
              <a:solidFill>
                <a:srgbClr val="334155"/>
              </a:solidFill>
              <a:latin typeface="Times New Roman Regular" panose="02020503050405090304" charset="0"/>
              <a:cs typeface="Times New Roman Regular" panose="02020503050405090304" charset="0"/>
            </a:endParaRPr>
          </a:p>
        </p:txBody>
      </p:sp>
      <p:sp>
        <p:nvSpPr>
          <p:cNvPr id="23" name="TextBox 22"/>
          <p:cNvSpPr txBox="1"/>
          <p:nvPr/>
        </p:nvSpPr>
        <p:spPr>
          <a:xfrm>
            <a:off x="6391275" y="2936240"/>
            <a:ext cx="5162550" cy="49212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Proven Commercial Category:</a:t>
            </a:r>
            <a:r>
              <a:rPr sz="1600" b="0" i="0" u="none">
                <a:solidFill>
                  <a:srgbClr val="334155"/>
                </a:solidFill>
                <a:latin typeface="Times New Roman Regular" panose="02020503050405090304" charset="0"/>
                <a:cs typeface="Times New Roman Regular" panose="02020503050405090304" charset="0"/>
              </a:rPr>
              <a:t> Demonstrates the willingness to pay — acquired by a NASDAQ-listed strategic buyer.</a:t>
            </a:r>
            <a:endParaRPr sz="1600" b="0" i="0" u="none">
              <a:solidFill>
                <a:srgbClr val="334155"/>
              </a:solidFill>
              <a:latin typeface="Times New Roman Regular" panose="02020503050405090304" charset="0"/>
              <a:cs typeface="Times New Roman Regular" panose="02020503050405090304" charset="0"/>
            </a:endParaRPr>
          </a:p>
        </p:txBody>
      </p:sp>
      <p:sp>
        <p:nvSpPr>
          <p:cNvPr id="24" name="TextBox 23"/>
          <p:cNvSpPr txBox="1"/>
          <p:nvPr/>
        </p:nvSpPr>
        <p:spPr>
          <a:xfrm>
            <a:off x="6391275" y="3589655"/>
            <a:ext cx="5162550" cy="73850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Transparent Peer-Reviewed Accuracy:</a:t>
            </a:r>
            <a:r>
              <a:rPr sz="1600" b="0" i="0" u="none">
                <a:solidFill>
                  <a:srgbClr val="334155"/>
                </a:solidFill>
                <a:latin typeface="Times New Roman Regular" panose="02020503050405090304" charset="0"/>
                <a:cs typeface="Times New Roman Regular" panose="02020503050405090304" charset="0"/>
              </a:rPr>
              <a:t> Its published papers document precision, recall, and known architectural weaknesses.</a:t>
            </a:r>
            <a:endParaRPr sz="1600" b="0" i="0" u="none">
              <a:solidFill>
                <a:srgbClr val="334155"/>
              </a:solidFill>
              <a:latin typeface="Times New Roman Regular" panose="02020503050405090304" charset="0"/>
              <a:cs typeface="Times New Roman Regular" panose="02020503050405090304" charset="0"/>
            </a:endParaRPr>
          </a:p>
        </p:txBody>
      </p:sp>
      <p:sp>
        <p:nvSpPr>
          <p:cNvPr id="25" name="TextBox 24"/>
          <p:cNvSpPr txBox="1"/>
          <p:nvPr/>
        </p:nvSpPr>
        <p:spPr>
          <a:xfrm>
            <a:off x="6391275" y="4431665"/>
            <a:ext cx="5162550" cy="738505"/>
          </a:xfrm>
          <a:prstGeom prst="rect">
            <a:avLst/>
          </a:prstGeom>
          <a:noFill/>
        </p:spPr>
        <p:txBody>
          <a:bodyPr wrap="square" lIns="0" tIns="0" rIns="0" bIns="0" anchor="t">
            <a:spAutoFit/>
          </a:bodyPr>
          <a:lstStyle/>
          <a:p>
            <a:pPr algn="l">
              <a:lnSpc>
                <a:spcPct val="100000"/>
              </a:lnSpc>
            </a:pPr>
            <a:r>
              <a:rPr sz="1600" b="1" i="0" u="none">
                <a:solidFill>
                  <a:srgbClr val="0F172A"/>
                </a:solidFill>
                <a:latin typeface="Times New Roman Regular" panose="02020503050405090304" charset="0"/>
                <a:cs typeface="Times New Roman Regular" panose="02020503050405090304" charset="0"/>
              </a:rPr>
              <a:t>Fundamentally Different Question:</a:t>
            </a:r>
            <a:r>
              <a:rPr sz="1600" b="0" i="0" u="none">
                <a:solidFill>
                  <a:srgbClr val="334155"/>
                </a:solidFill>
                <a:latin typeface="Times New Roman Regular" panose="02020503050405090304" charset="0"/>
                <a:cs typeface="Times New Roman Regular" panose="02020503050405090304" charset="0"/>
              </a:rPr>
              <a:t> Answers an entirely distinct question from ClaimTrace, stated explicitly on its own product page.</a:t>
            </a:r>
            <a:endParaRPr sz="1600" b="0" i="0" u="none">
              <a:solidFill>
                <a:srgbClr val="334155"/>
              </a:solidFill>
              <a:latin typeface="Times New Roman Regular" panose="02020503050405090304" charset="0"/>
              <a:cs typeface="Times New Roman Regular"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ounded Rectangle 1"/>
          <p:cNvSpPr/>
          <p:nvPr/>
        </p:nvSpPr>
        <p:spPr>
          <a:xfrm>
            <a:off x="495300" y="809625"/>
            <a:ext cx="11201400" cy="342900"/>
          </a:xfrm>
          <a:prstGeom prst="roundRect">
            <a:avLst>
              <a:gd name="adj" fmla="val 1666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3" name="Rounded Rectangle 2"/>
          <p:cNvSpPr/>
          <p:nvPr/>
        </p:nvSpPr>
        <p:spPr>
          <a:xfrm>
            <a:off x="495300" y="5629572"/>
            <a:ext cx="11201400" cy="479821"/>
          </a:xfrm>
          <a:prstGeom prst="roundRect">
            <a:avLst>
              <a:gd name="adj" fmla="val 1191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4" name="Rounded Rectangle 3"/>
          <p:cNvSpPr/>
          <p:nvPr/>
        </p:nvSpPr>
        <p:spPr>
          <a:xfrm>
            <a:off x="495300" y="6166544"/>
            <a:ext cx="11201400" cy="386655"/>
          </a:xfrm>
          <a:prstGeom prst="roundRect">
            <a:avLst>
              <a:gd name="adj" fmla="val 1478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5" name="Rounded Rectangle 4"/>
          <p:cNvSpPr/>
          <p:nvPr/>
        </p:nvSpPr>
        <p:spPr>
          <a:xfrm>
            <a:off x="495300" y="1247775"/>
            <a:ext cx="3657600" cy="967978"/>
          </a:xfrm>
          <a:prstGeom prst="roundRect">
            <a:avLst>
              <a:gd name="adj" fmla="val 59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6" name="Rounded Rectangle 5"/>
          <p:cNvSpPr/>
          <p:nvPr/>
        </p:nvSpPr>
        <p:spPr>
          <a:xfrm>
            <a:off x="4267200" y="1247775"/>
            <a:ext cx="3657600" cy="967978"/>
          </a:xfrm>
          <a:prstGeom prst="roundRect">
            <a:avLst>
              <a:gd name="adj" fmla="val 59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7" name="Rounded Rectangle 6"/>
          <p:cNvSpPr/>
          <p:nvPr/>
        </p:nvSpPr>
        <p:spPr>
          <a:xfrm>
            <a:off x="8039100" y="1247775"/>
            <a:ext cx="3657600" cy="967978"/>
          </a:xfrm>
          <a:prstGeom prst="roundRect">
            <a:avLst>
              <a:gd name="adj" fmla="val 59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8" name="Rounded Rectangle 7"/>
          <p:cNvSpPr/>
          <p:nvPr/>
        </p:nvSpPr>
        <p:spPr>
          <a:xfrm>
            <a:off x="495300" y="2311003"/>
            <a:ext cx="5534025" cy="3242369"/>
          </a:xfrm>
          <a:prstGeom prst="roundRect">
            <a:avLst>
              <a:gd name="adj" fmla="val 176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0" name="Rectangle 9"/>
          <p:cNvSpPr/>
          <p:nvPr/>
        </p:nvSpPr>
        <p:spPr>
          <a:xfrm>
            <a:off x="495300" y="6166544"/>
            <a:ext cx="28575" cy="38665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11" name="TextBox 10"/>
          <p:cNvSpPr txBox="1"/>
          <p:nvPr/>
        </p:nvSpPr>
        <p:spPr>
          <a:xfrm>
            <a:off x="495300" y="304800"/>
            <a:ext cx="2219325" cy="299720"/>
          </a:xfrm>
          <a:prstGeom prst="rect">
            <a:avLst/>
          </a:prstGeom>
          <a:noFill/>
        </p:spPr>
        <p:txBody>
          <a:bodyPr wrap="none" lIns="0" tIns="0" rIns="0" bIns="0" anchor="t">
            <a:spAutoFit/>
          </a:bodyPr>
          <a:lstStyle/>
          <a:p>
            <a:pPr algn="l"/>
            <a:r>
              <a:rPr sz="1950" b="1" i="0" u="none">
                <a:solidFill>
                  <a:srgbClr val="0F172A"/>
                </a:solidFill>
                <a:latin typeface="Times New Roman Regular" panose="02020503050405090304" charset="0"/>
                <a:cs typeface="Times New Roman Regular" panose="02020503050405090304" charset="0"/>
              </a:rPr>
              <a:t>C</a:t>
            </a:r>
            <a:r>
              <a:rPr lang="en-US" sz="1950" b="1" i="0" u="none">
                <a:solidFill>
                  <a:srgbClr val="0F172A"/>
                </a:solidFill>
                <a:latin typeface="Times New Roman Regular" panose="02020503050405090304" charset="0"/>
                <a:cs typeface="Times New Roman Regular" panose="02020503050405090304" charset="0"/>
              </a:rPr>
              <a:t>ore </a:t>
            </a:r>
            <a:r>
              <a:rPr sz="1950" b="1" i="0" u="none">
                <a:solidFill>
                  <a:srgbClr val="0F172A"/>
                </a:solidFill>
                <a:latin typeface="Times New Roman Regular" panose="02020503050405090304" charset="0"/>
                <a:cs typeface="Times New Roman Regular" panose="02020503050405090304" charset="0"/>
              </a:rPr>
              <a:t>Function</a:t>
            </a:r>
            <a:r>
              <a:rPr lang="en-US" sz="1950" b="1" i="0" u="none">
                <a:solidFill>
                  <a:srgbClr val="0F172A"/>
                </a:solidFill>
                <a:latin typeface="Times New Roman Regular" panose="02020503050405090304" charset="0"/>
                <a:cs typeface="Times New Roman Regular" panose="02020503050405090304" charset="0"/>
              </a:rPr>
              <a:t> One</a:t>
            </a:r>
            <a:endParaRPr lang="en-US" sz="1950" b="1" i="0" u="none">
              <a:solidFill>
                <a:srgbClr val="0F172A"/>
              </a:solidFill>
              <a:latin typeface="Times New Roman Regular" panose="02020503050405090304" charset="0"/>
              <a:cs typeface="Times New Roman Regular" panose="02020503050405090304" charset="0"/>
            </a:endParaRPr>
          </a:p>
        </p:txBody>
      </p:sp>
      <p:sp>
        <p:nvSpPr>
          <p:cNvPr id="12" name="TextBox 11"/>
          <p:cNvSpPr txBox="1"/>
          <p:nvPr/>
        </p:nvSpPr>
        <p:spPr>
          <a:xfrm>
            <a:off x="10096500" y="466725"/>
            <a:ext cx="2000250" cy="152400"/>
          </a:xfrm>
          <a:prstGeom prst="rect">
            <a:avLst/>
          </a:prstGeom>
          <a:noFill/>
        </p:spPr>
        <p:txBody>
          <a:bodyPr wrap="none" lIns="0" tIns="0" rIns="0" bIns="0" anchor="t">
            <a:spAutoFit/>
          </a:bodyPr>
          <a:lstStyle/>
          <a:p>
            <a:pPr algn="l"/>
            <a:r>
              <a:rPr sz="900" b="1" i="0" u="none">
                <a:solidFill>
                  <a:srgbClr val="64748B"/>
                </a:solidFill>
                <a:latin typeface="Times New Roman Regular" panose="02020503050405090304" charset="0"/>
                <a:cs typeface="Times New Roman Regular" panose="02020503050405090304" charset="0"/>
              </a:rPr>
              <a:t>SMART CITATIONS AT SCALE</a:t>
            </a:r>
            <a:endParaRPr sz="900" b="1" i="0" u="none">
              <a:solidFill>
                <a:srgbClr val="64748B"/>
              </a:solidFill>
              <a:latin typeface="Times New Roman Regular" panose="02020503050405090304" charset="0"/>
              <a:cs typeface="Times New Roman Regular" panose="02020503050405090304" charset="0"/>
            </a:endParaRPr>
          </a:p>
        </p:txBody>
      </p:sp>
      <p:sp>
        <p:nvSpPr>
          <p:cNvPr id="13" name="TextBox 12"/>
          <p:cNvSpPr txBox="1"/>
          <p:nvPr/>
        </p:nvSpPr>
        <p:spPr>
          <a:xfrm>
            <a:off x="523875" y="860425"/>
            <a:ext cx="5455920" cy="245745"/>
          </a:xfrm>
          <a:prstGeom prst="rect">
            <a:avLst/>
          </a:prstGeom>
          <a:noFill/>
        </p:spPr>
        <p:txBody>
          <a:bodyPr wrap="none" lIns="0" tIns="0" rIns="0" bIns="0" anchor="t">
            <a:spAutoFit/>
          </a:bodyPr>
          <a:lstStyle/>
          <a:p>
            <a:pPr algn="l"/>
            <a:r>
              <a:rPr sz="1600" b="1" i="0" u="none">
                <a:solidFill>
                  <a:srgbClr val="1E40AF"/>
                </a:solidFill>
                <a:latin typeface="Times New Roman Regular" panose="02020503050405090304" charset="0"/>
                <a:cs typeface="Times New Roman Regular" panose="02020503050405090304" charset="0"/>
              </a:rPr>
              <a:t>Smart Citations — classify how a paper has been cited, at scale</a:t>
            </a:r>
            <a:endParaRPr sz="1600" b="1" i="0" u="none">
              <a:solidFill>
                <a:srgbClr val="1E40AF"/>
              </a:solidFill>
              <a:latin typeface="Times New Roman Regular" panose="02020503050405090304" charset="0"/>
              <a:cs typeface="Times New Roman Regular" panose="02020503050405090304" charset="0"/>
            </a:endParaRPr>
          </a:p>
        </p:txBody>
      </p:sp>
      <p:sp>
        <p:nvSpPr>
          <p:cNvPr id="14" name="TextBox 13"/>
          <p:cNvSpPr txBox="1"/>
          <p:nvPr/>
        </p:nvSpPr>
        <p:spPr>
          <a:xfrm>
            <a:off x="628650" y="1362075"/>
            <a:ext cx="3486150" cy="215265"/>
          </a:xfrm>
          <a:prstGeom prst="rect">
            <a:avLst/>
          </a:prstGeom>
          <a:noFill/>
        </p:spPr>
        <p:txBody>
          <a:bodyPr wrap="square" lIns="0" tIns="0" rIns="0" bIns="0" anchor="t">
            <a:spAutoFit/>
          </a:bodyPr>
          <a:lstStyle/>
          <a:p>
            <a:pPr algn="l"/>
            <a:r>
              <a:rPr sz="1400" b="1" i="0" u="none">
                <a:solidFill>
                  <a:srgbClr val="2563EB"/>
                </a:solidFill>
                <a:latin typeface="Times New Roman Regular" panose="02020503050405090304" charset="0"/>
                <a:cs typeface="Times New Roman Regular" panose="02020503050405090304" charset="0"/>
              </a:rPr>
              <a:t>Empathise</a:t>
            </a:r>
            <a:endParaRPr sz="1400" b="1" i="0" u="none">
              <a:solidFill>
                <a:srgbClr val="2563EB"/>
              </a:solidFill>
              <a:latin typeface="Times New Roman Regular" panose="02020503050405090304" charset="0"/>
              <a:cs typeface="Times New Roman Regular" panose="02020503050405090304" charset="0"/>
            </a:endParaRPr>
          </a:p>
        </p:txBody>
      </p:sp>
      <p:sp>
        <p:nvSpPr>
          <p:cNvPr id="15" name="TextBox 14"/>
          <p:cNvSpPr txBox="1"/>
          <p:nvPr/>
        </p:nvSpPr>
        <p:spPr>
          <a:xfrm>
            <a:off x="4400550" y="1362075"/>
            <a:ext cx="3486150" cy="215265"/>
          </a:xfrm>
          <a:prstGeom prst="rect">
            <a:avLst/>
          </a:prstGeom>
          <a:noFill/>
        </p:spPr>
        <p:txBody>
          <a:bodyPr wrap="square" lIns="0" tIns="0" rIns="0" bIns="0" anchor="t">
            <a:spAutoFit/>
          </a:bodyPr>
          <a:lstStyle/>
          <a:p>
            <a:pPr algn="l"/>
            <a:r>
              <a:rPr sz="1400" b="1" i="0" u="none">
                <a:solidFill>
                  <a:srgbClr val="2563EB"/>
                </a:solidFill>
                <a:latin typeface="Times New Roman Regular" panose="02020503050405090304" charset="0"/>
                <a:cs typeface="Times New Roman Regular" panose="02020503050405090304" charset="0"/>
              </a:rPr>
              <a:t>Define</a:t>
            </a:r>
            <a:endParaRPr sz="1400" b="1" i="0" u="none">
              <a:solidFill>
                <a:srgbClr val="2563EB"/>
              </a:solidFill>
              <a:latin typeface="Times New Roman Regular" panose="02020503050405090304" charset="0"/>
              <a:cs typeface="Times New Roman Regular" panose="02020503050405090304" charset="0"/>
            </a:endParaRPr>
          </a:p>
        </p:txBody>
      </p:sp>
      <p:sp>
        <p:nvSpPr>
          <p:cNvPr id="16" name="TextBox 15"/>
          <p:cNvSpPr txBox="1"/>
          <p:nvPr/>
        </p:nvSpPr>
        <p:spPr>
          <a:xfrm>
            <a:off x="8172450" y="1362075"/>
            <a:ext cx="3486150" cy="215265"/>
          </a:xfrm>
          <a:prstGeom prst="rect">
            <a:avLst/>
          </a:prstGeom>
          <a:noFill/>
        </p:spPr>
        <p:txBody>
          <a:bodyPr wrap="square" lIns="0" tIns="0" rIns="0" bIns="0" anchor="t">
            <a:spAutoFit/>
          </a:bodyPr>
          <a:lstStyle/>
          <a:p>
            <a:pPr algn="l"/>
            <a:r>
              <a:rPr sz="1400" b="1" i="0" u="none">
                <a:solidFill>
                  <a:srgbClr val="2563EB"/>
                </a:solidFill>
                <a:latin typeface="Times New Roman Regular" panose="02020503050405090304" charset="0"/>
                <a:cs typeface="Times New Roman Regular" panose="02020503050405090304" charset="0"/>
              </a:rPr>
              <a:t>Ideate</a:t>
            </a:r>
            <a:endParaRPr sz="1400" b="1" i="0" u="none">
              <a:solidFill>
                <a:srgbClr val="2563EB"/>
              </a:solidFill>
              <a:latin typeface="Times New Roman Regular" panose="02020503050405090304" charset="0"/>
              <a:cs typeface="Times New Roman Regular" panose="02020503050405090304" charset="0"/>
            </a:endParaRPr>
          </a:p>
        </p:txBody>
      </p:sp>
      <p:sp>
        <p:nvSpPr>
          <p:cNvPr id="17" name="TextBox 16"/>
          <p:cNvSpPr txBox="1"/>
          <p:nvPr/>
        </p:nvSpPr>
        <p:spPr>
          <a:xfrm>
            <a:off x="638175" y="5715297"/>
            <a:ext cx="11010900" cy="308371"/>
          </a:xfrm>
          <a:prstGeom prst="rect">
            <a:avLst/>
          </a:prstGeom>
          <a:noFill/>
        </p:spPr>
        <p:txBody>
          <a:bodyPr wrap="square" lIns="0" tIns="0" rIns="0" bIns="0" anchor="t">
            <a:spAutoFit/>
          </a:bodyPr>
          <a:lstStyle/>
          <a:p>
            <a:pPr algn="l">
              <a:lnSpc>
                <a:spcPts val="1215"/>
              </a:lnSpc>
            </a:pPr>
            <a:r>
              <a:rPr sz="900" b="1" i="0" u="none">
                <a:solidFill>
                  <a:srgbClr val="1E293B"/>
                </a:solidFill>
                <a:latin typeface="Times New Roman Regular" panose="02020503050405090304" charset="0"/>
                <a:cs typeface="Times New Roman Regular" panose="02020503050405090304" charset="0"/>
              </a:rPr>
              <a:t>Our comment:</a:t>
            </a:r>
            <a:r>
              <a:rPr sz="900" b="0" i="0" u="none">
                <a:solidFill>
                  <a:srgbClr val="1E293B"/>
                </a:solidFill>
                <a:latin typeface="Times New Roman Regular" panose="02020503050405090304" charset="0"/>
                <a:cs typeface="Times New Roman Regular" panose="02020503050405090304" charset="0"/>
              </a:rPr>
              <a:t> The engineering is serious, but failure mode is a label reading as reassurance (0 contrasting vs 17 seen by humans). Aggregate labels about a paper cannot answer for your sentence. </a:t>
            </a:r>
            <a:r>
              <a:rPr sz="900" b="0" i="1" u="none">
                <a:solidFill>
                  <a:srgbClr val="1E293B"/>
                </a:solidFill>
                <a:latin typeface="Times New Roman Regular" panose="02020503050405090304" charset="0"/>
                <a:cs typeface="Times New Roman Regular" panose="02020503050405090304" charset="0"/>
              </a:rPr>
              <a:t>ClaimTrace's response: verdicts only on states actually judged; all others stay explicitly unjudged.</a:t>
            </a:r>
            <a:endParaRPr sz="900" b="0" i="1" u="none">
              <a:solidFill>
                <a:srgbClr val="1E293B"/>
              </a:solidFill>
              <a:latin typeface="Times New Roman Regular" panose="02020503050405090304" charset="0"/>
              <a:cs typeface="Times New Roman Regular" panose="02020503050405090304" charset="0"/>
            </a:endParaRPr>
          </a:p>
        </p:txBody>
      </p:sp>
      <p:sp>
        <p:nvSpPr>
          <p:cNvPr id="18" name="TextBox 17"/>
          <p:cNvSpPr txBox="1"/>
          <p:nvPr/>
        </p:nvSpPr>
        <p:spPr>
          <a:xfrm>
            <a:off x="638175" y="6223694"/>
            <a:ext cx="11039475" cy="272355"/>
          </a:xfrm>
          <a:prstGeom prst="rect">
            <a:avLst/>
          </a:prstGeom>
          <a:noFill/>
        </p:spPr>
        <p:txBody>
          <a:bodyPr wrap="square" lIns="0" tIns="0" rIns="0" bIns="0" anchor="t">
            <a:spAutoFit/>
          </a:bodyPr>
          <a:lstStyle/>
          <a:p>
            <a:pPr algn="l">
              <a:lnSpc>
                <a:spcPts val="1070"/>
              </a:lnSpc>
            </a:pPr>
            <a:r>
              <a:rPr sz="825" b="1" i="0" u="none">
                <a:solidFill>
                  <a:srgbClr val="475569"/>
                </a:solidFill>
                <a:latin typeface="Times New Roman Regular" panose="02020503050405090304" charset="0"/>
                <a:cs typeface="Times New Roman Regular" panose="02020503050405090304" charset="0"/>
              </a:rPr>
              <a:t>Sources:</a:t>
            </a:r>
            <a:r>
              <a:rPr sz="825" b="0" i="0" u="none">
                <a:solidFill>
                  <a:srgbClr val="475569"/>
                </a:solidFill>
                <a:latin typeface="Times New Roman Regular" panose="02020503050405090304" charset="0"/>
                <a:cs typeface="Times New Roman Regular" panose="02020503050405090304" charset="0"/>
              </a:rPr>
              <a:t> Nicholson et al. (2021) </a:t>
            </a:r>
            <a:r>
              <a:rPr sz="825" b="0" i="1" u="none">
                <a:solidFill>
                  <a:srgbClr val="475569"/>
                </a:solidFill>
                <a:latin typeface="Times New Roman Regular" panose="02020503050405090304" charset="0"/>
                <a:cs typeface="Times New Roman Regular" panose="02020503050405090304" charset="0"/>
              </a:rPr>
              <a:t>Quant Sci Stud</a:t>
            </a:r>
            <a:r>
              <a:rPr sz="825" b="0" i="0" u="none">
                <a:solidFill>
                  <a:srgbClr val="475569"/>
                </a:solidFill>
                <a:latin typeface="Times New Roman Regular" panose="02020503050405090304" charset="0"/>
                <a:cs typeface="Times New Roman Regular" panose="02020503050405090304" charset="0"/>
              </a:rPr>
              <a:t> 2(3):882–898; Bakker, Theis-Mahon &amp; Brown (2023) </a:t>
            </a:r>
            <a:r>
              <a:rPr sz="825" b="0" i="1" u="none">
                <a:solidFill>
                  <a:srgbClr val="475569"/>
                </a:solidFill>
                <a:latin typeface="Times New Roman Regular" panose="02020503050405090304" charset="0"/>
                <a:cs typeface="Times New Roman Regular" panose="02020503050405090304" charset="0"/>
              </a:rPr>
              <a:t>Hypothesis</a:t>
            </a:r>
            <a:r>
              <a:rPr sz="825" b="0" i="0" u="none">
                <a:solidFill>
                  <a:srgbClr val="475569"/>
                </a:solidFill>
                <a:latin typeface="Times New Roman Regular" panose="02020503050405090304" charset="0"/>
                <a:cs typeface="Times New Roman Regular" panose="02020503050405090304" charset="0"/>
              </a:rPr>
              <a:t> 35(2) doi:10.18060/26528 (scite authors published reply in 2025).</a:t>
            </a:r>
            <a:endParaRPr sz="825" b="0" i="0" u="none">
              <a:solidFill>
                <a:srgbClr val="475569"/>
              </a:solidFill>
              <a:latin typeface="Times New Roman Regular" panose="02020503050405090304" charset="0"/>
              <a:cs typeface="Times New Roman Regular" panose="02020503050405090304" charset="0"/>
            </a:endParaRPr>
          </a:p>
        </p:txBody>
      </p:sp>
      <p:sp>
        <p:nvSpPr>
          <p:cNvPr id="19" name="TextBox 18"/>
          <p:cNvSpPr txBox="1"/>
          <p:nvPr/>
        </p:nvSpPr>
        <p:spPr>
          <a:xfrm>
            <a:off x="638175" y="1609725"/>
            <a:ext cx="3467100" cy="486410"/>
          </a:xfrm>
          <a:prstGeom prst="rect">
            <a:avLst/>
          </a:prstGeom>
          <a:noFill/>
        </p:spPr>
        <p:txBody>
          <a:bodyPr wrap="square" lIns="0" tIns="0" rIns="0" bIns="0" anchor="t">
            <a:spAutoFit/>
          </a:bodyPr>
          <a:lstStyle/>
          <a:p>
            <a:pPr algn="l">
              <a:lnSpc>
                <a:spcPts val="1265"/>
              </a:lnSpc>
            </a:pPr>
            <a:r>
              <a:rPr sz="1200" b="0" i="0" u="none">
                <a:solidFill>
                  <a:srgbClr val="334155"/>
                </a:solidFill>
                <a:latin typeface="Times New Roman Regular" panose="02020503050405090304" charset="0"/>
                <a:cs typeface="Times New Roman Regular" panose="02020503050405090304" charset="0"/>
              </a:rPr>
              <a:t>A researcher asks: </a:t>
            </a:r>
            <a:r>
              <a:rPr sz="1200" b="0" i="1" u="none">
                <a:solidFill>
                  <a:srgbClr val="334155"/>
                </a:solidFill>
                <a:latin typeface="Times New Roman Regular" panose="02020503050405090304" charset="0"/>
                <a:cs typeface="Times New Roman Regular" panose="02020503050405090304" charset="0"/>
              </a:rPr>
              <a:t>can I trust this paper?</a:t>
            </a:r>
            <a:r>
              <a:rPr sz="1200" b="0" i="0" u="none">
                <a:solidFill>
                  <a:srgbClr val="334155"/>
                </a:solidFill>
                <a:latin typeface="Times New Roman Regular" panose="02020503050405090304" charset="0"/>
                <a:cs typeface="Times New Roman Regular" panose="02020503050405090304" charset="0"/>
              </a:rPr>
              <a:t> Reading all citing papers is impossible; raw citation count hides disagreement.</a:t>
            </a:r>
            <a:endParaRPr sz="1200" b="0" i="0" u="none">
              <a:solidFill>
                <a:srgbClr val="334155"/>
              </a:solidFill>
              <a:latin typeface="Times New Roman Regular" panose="02020503050405090304" charset="0"/>
              <a:cs typeface="Times New Roman Regular" panose="02020503050405090304" charset="0"/>
            </a:endParaRPr>
          </a:p>
        </p:txBody>
      </p:sp>
      <p:sp>
        <p:nvSpPr>
          <p:cNvPr id="20" name="TextBox 19"/>
          <p:cNvSpPr txBox="1"/>
          <p:nvPr/>
        </p:nvSpPr>
        <p:spPr>
          <a:xfrm>
            <a:off x="4410075" y="1609725"/>
            <a:ext cx="3467100" cy="486410"/>
          </a:xfrm>
          <a:prstGeom prst="rect">
            <a:avLst/>
          </a:prstGeom>
          <a:noFill/>
        </p:spPr>
        <p:txBody>
          <a:bodyPr wrap="square" lIns="0" tIns="0" rIns="0" bIns="0" anchor="t">
            <a:spAutoFit/>
          </a:bodyPr>
          <a:lstStyle/>
          <a:p>
            <a:pPr algn="l">
              <a:lnSpc>
                <a:spcPts val="1265"/>
              </a:lnSpc>
            </a:pPr>
            <a:r>
              <a:rPr sz="1200" b="0" i="0" u="none">
                <a:solidFill>
                  <a:srgbClr val="334155"/>
                </a:solidFill>
                <a:latin typeface="Times New Roman Regular" panose="02020503050405090304" charset="0"/>
                <a:cs typeface="Times New Roman Regular" panose="02020503050405090304" charset="0"/>
              </a:rPr>
              <a:t>Classify each citation statement as supporting, contrasting, or mentioning. Must rest on scientific evidence, not sentiment.</a:t>
            </a:r>
            <a:endParaRPr sz="1200" b="0" i="0" u="none">
              <a:solidFill>
                <a:srgbClr val="334155"/>
              </a:solidFill>
              <a:latin typeface="Times New Roman Regular" panose="02020503050405090304" charset="0"/>
              <a:cs typeface="Times New Roman Regular" panose="02020503050405090304" charset="0"/>
            </a:endParaRPr>
          </a:p>
        </p:txBody>
      </p:sp>
      <p:sp>
        <p:nvSpPr>
          <p:cNvPr id="21" name="TextBox 20"/>
          <p:cNvSpPr txBox="1"/>
          <p:nvPr/>
        </p:nvSpPr>
        <p:spPr>
          <a:xfrm>
            <a:off x="8181975" y="1609725"/>
            <a:ext cx="3467100" cy="486410"/>
          </a:xfrm>
          <a:prstGeom prst="rect">
            <a:avLst/>
          </a:prstGeom>
          <a:noFill/>
        </p:spPr>
        <p:txBody>
          <a:bodyPr wrap="square" lIns="0" tIns="0" rIns="0" bIns="0" anchor="t">
            <a:spAutoFit/>
          </a:bodyPr>
          <a:lstStyle/>
          <a:p>
            <a:pPr algn="l">
              <a:lnSpc>
                <a:spcPts val="1265"/>
              </a:lnSpc>
            </a:pPr>
            <a:r>
              <a:rPr sz="1200" b="0" i="0" u="none">
                <a:solidFill>
                  <a:srgbClr val="334155"/>
                </a:solidFill>
                <a:latin typeface="Times New Roman Regular" panose="02020503050405090304" charset="0"/>
                <a:cs typeface="Times New Roman Regular" panose="02020503050405090304" charset="0"/>
              </a:rPr>
              <a:t>Fine-tune SciBERT over 38,925 labelled statements (9,708 holdout; ~2 yrs annotation). Production target: &gt;80% precision.</a:t>
            </a:r>
            <a:endParaRPr sz="1200" b="0" i="0" u="none">
              <a:solidFill>
                <a:srgbClr val="334155"/>
              </a:solidFill>
              <a:latin typeface="Times New Roman Regular" panose="02020503050405090304" charset="0"/>
              <a:cs typeface="Times New Roman Regular" panose="02020503050405090304" charset="0"/>
            </a:endParaRPr>
          </a:p>
        </p:txBody>
      </p:sp>
      <p:sp>
        <p:nvSpPr>
          <p:cNvPr id="22" name="TextBox 21"/>
          <p:cNvSpPr txBox="1"/>
          <p:nvPr/>
        </p:nvSpPr>
        <p:spPr>
          <a:xfrm>
            <a:off x="657225" y="2434828"/>
            <a:ext cx="4589780" cy="245745"/>
          </a:xfrm>
          <a:prstGeom prst="rect">
            <a:avLst/>
          </a:prstGeom>
          <a:noFill/>
        </p:spPr>
        <p:txBody>
          <a:bodyPr wrap="none" lIns="0" tIns="0" rIns="0" bIns="0" anchor="t">
            <a:spAutoFit/>
          </a:bodyPr>
          <a:lstStyle/>
          <a:p>
            <a:pPr algn="l"/>
            <a:r>
              <a:rPr sz="1600" b="1" i="0" u="none">
                <a:solidFill>
                  <a:srgbClr val="0F172A"/>
                </a:solidFill>
                <a:latin typeface="Times New Roman Regular" panose="02020503050405090304" charset="0"/>
                <a:cs typeface="Times New Roman Regular" panose="02020503050405090304" charset="0"/>
              </a:rPr>
              <a:t>What its own paper measures (Nicholson et al., 2021)</a:t>
            </a:r>
            <a:endParaRPr sz="1600" b="1" i="0" u="none">
              <a:solidFill>
                <a:srgbClr val="0F172A"/>
              </a:solidFill>
              <a:latin typeface="Times New Roman Regular" panose="02020503050405090304" charset="0"/>
              <a:cs typeface="Times New Roman Regular" panose="02020503050405090304" charset="0"/>
            </a:endParaRPr>
          </a:p>
        </p:txBody>
      </p:sp>
      <p:sp>
        <p:nvSpPr>
          <p:cNvPr id="28" name="TextBox 27"/>
          <p:cNvSpPr txBox="1"/>
          <p:nvPr/>
        </p:nvSpPr>
        <p:spPr>
          <a:xfrm>
            <a:off x="628648" y="2896294"/>
            <a:ext cx="4692015" cy="215265"/>
          </a:xfrm>
          <a:prstGeom prst="rect">
            <a:avLst/>
          </a:prstGeom>
          <a:noFill/>
        </p:spPr>
        <p:txBody>
          <a:bodyPr wrap="none" lIns="0" tIns="0" rIns="0" bIns="0" anchor="t">
            <a:spAutoFit/>
          </a:bodyPr>
          <a:lstStyle/>
          <a:p>
            <a:pPr algn="l"/>
            <a:r>
              <a:rPr sz="1400" b="0" i="0" u="none">
                <a:solidFill>
                  <a:srgbClr val="000000"/>
                </a:solidFill>
                <a:latin typeface="Times New Roman Regular" panose="02020503050405090304" charset="0"/>
                <a:cs typeface="Times New Roman Regular" panose="02020503050405090304" charset="0"/>
              </a:rPr>
              <a:t>Initial F-score: 96.3 mentioning · 55.3 supporting · 20.5 disputing</a:t>
            </a:r>
            <a:endParaRPr sz="1400" b="0" i="0" u="none">
              <a:solidFill>
                <a:srgbClr val="000000"/>
              </a:solidFill>
              <a:latin typeface="Times New Roman Regular" panose="02020503050405090304" charset="0"/>
              <a:cs typeface="Times New Roman Regular" panose="02020503050405090304" charset="0"/>
            </a:endParaRPr>
          </a:p>
        </p:txBody>
      </p:sp>
      <p:sp>
        <p:nvSpPr>
          <p:cNvPr id="30" name="TextBox 29"/>
          <p:cNvSpPr txBox="1"/>
          <p:nvPr/>
        </p:nvSpPr>
        <p:spPr>
          <a:xfrm>
            <a:off x="628648" y="3620406"/>
            <a:ext cx="3890645" cy="215265"/>
          </a:xfrm>
          <a:prstGeom prst="rect">
            <a:avLst/>
          </a:prstGeom>
          <a:noFill/>
        </p:spPr>
        <p:txBody>
          <a:bodyPr wrap="none" lIns="0" tIns="0" rIns="0" bIns="0" anchor="t">
            <a:spAutoFit/>
          </a:bodyPr>
          <a:lstStyle/>
          <a:p>
            <a:pPr algn="l"/>
            <a:r>
              <a:rPr sz="1400" b="0" i="0" u="none">
                <a:solidFill>
                  <a:srgbClr val="000000"/>
                </a:solidFill>
                <a:latin typeface="Times New Roman Regular" panose="02020503050405090304" charset="0"/>
                <a:cs typeface="Times New Roman Regular" panose="02020503050405090304" charset="0"/>
              </a:rPr>
              <a:t>Disputing improved to 58.97 F-score (85.19 precision)</a:t>
            </a:r>
            <a:endParaRPr sz="1400" b="0" i="0" u="none">
              <a:solidFill>
                <a:srgbClr val="000000"/>
              </a:solidFill>
              <a:latin typeface="Times New Roman Regular" panose="02020503050405090304" charset="0"/>
              <a:cs typeface="Times New Roman Regular" panose="02020503050405090304" charset="0"/>
            </a:endParaRPr>
          </a:p>
        </p:txBody>
      </p:sp>
      <p:sp>
        <p:nvSpPr>
          <p:cNvPr id="32" name="TextBox 31"/>
          <p:cNvSpPr txBox="1"/>
          <p:nvPr/>
        </p:nvSpPr>
        <p:spPr>
          <a:xfrm>
            <a:off x="628648" y="4344518"/>
            <a:ext cx="4815840" cy="215265"/>
          </a:xfrm>
          <a:prstGeom prst="rect">
            <a:avLst/>
          </a:prstGeom>
          <a:noFill/>
        </p:spPr>
        <p:txBody>
          <a:bodyPr wrap="none" lIns="0" tIns="0" rIns="0" bIns="0" anchor="t">
            <a:spAutoFit/>
          </a:bodyPr>
          <a:lstStyle/>
          <a:p>
            <a:pPr algn="l"/>
            <a:r>
              <a:rPr sz="1400" b="0" i="0" u="none">
                <a:solidFill>
                  <a:srgbClr val="000000"/>
                </a:solidFill>
                <a:latin typeface="Times New Roman Regular" panose="02020503050405090304" charset="0"/>
                <a:cs typeface="Times New Roman Regular" panose="02020503050405090304" charset="0"/>
              </a:rPr>
              <a:t>Distribution: 92.6% mentioning · 6.5% supporting · 0.8% disputing</a:t>
            </a:r>
            <a:endParaRPr sz="1400" b="0" i="0" u="none">
              <a:solidFill>
                <a:srgbClr val="000000"/>
              </a:solidFill>
              <a:latin typeface="Times New Roman Regular" panose="02020503050405090304" charset="0"/>
              <a:cs typeface="Times New Roman Regular" panose="02020503050405090304" charset="0"/>
            </a:endParaRPr>
          </a:p>
        </p:txBody>
      </p:sp>
      <p:sp>
        <p:nvSpPr>
          <p:cNvPr id="34" name="TextBox 33"/>
          <p:cNvSpPr txBox="1"/>
          <p:nvPr/>
        </p:nvSpPr>
        <p:spPr>
          <a:xfrm>
            <a:off x="628648" y="5068629"/>
            <a:ext cx="4667250" cy="215265"/>
          </a:xfrm>
          <a:prstGeom prst="rect">
            <a:avLst/>
          </a:prstGeom>
          <a:noFill/>
        </p:spPr>
        <p:txBody>
          <a:bodyPr wrap="none" lIns="0" tIns="0" rIns="0" bIns="0" anchor="t">
            <a:spAutoFit/>
          </a:bodyPr>
          <a:lstStyle/>
          <a:p>
            <a:pPr algn="l"/>
            <a:r>
              <a:rPr sz="1400" b="0" i="0" u="none">
                <a:solidFill>
                  <a:srgbClr val="000000"/>
                </a:solidFill>
                <a:latin typeface="Times New Roman Regular" panose="02020503050405090304" charset="0"/>
                <a:cs typeface="Times New Roman Regular" panose="02020503050405090304" charset="0"/>
              </a:rPr>
              <a:t>Ingestion fails on ~30% of citation statements/references in PDFs</a:t>
            </a:r>
            <a:endParaRPr sz="1400" b="0" i="0" u="none">
              <a:solidFill>
                <a:srgbClr val="000000"/>
              </a:solidFill>
              <a:latin typeface="Times New Roman Regular" panose="02020503050405090304" charset="0"/>
              <a:cs typeface="Times New Roman Regular" panose="02020503050405090304" charset="0"/>
            </a:endParaRPr>
          </a:p>
        </p:txBody>
      </p:sp>
      <p:sp>
        <p:nvSpPr>
          <p:cNvPr id="36" name="Rounded Rectangle 35"/>
          <p:cNvSpPr/>
          <p:nvPr/>
        </p:nvSpPr>
        <p:spPr>
          <a:xfrm>
            <a:off x="6163056" y="2313432"/>
            <a:ext cx="5532120" cy="3246120"/>
          </a:xfrm>
          <a:prstGeom prst="roundRect">
            <a:avLst/>
          </a:prstGeom>
          <a:solidFill>
            <a:srgbClr val="FFFFFF"/>
          </a:solidFill>
          <a:ln w="9144">
            <a:solidFill>
              <a:srgbClr val="BE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pic>
        <p:nvPicPr>
          <p:cNvPr id="37" name="Picture 36" descr="claimtrace_verify_focus.png"/>
          <p:cNvPicPr>
            <a:picLocks noChangeAspect="1"/>
          </p:cNvPicPr>
          <p:nvPr/>
        </p:nvPicPr>
        <p:blipFill>
          <a:blip r:embed="rId1"/>
          <a:stretch>
            <a:fillRect/>
          </a:stretch>
        </p:blipFill>
        <p:spPr>
          <a:xfrm>
            <a:off x="6236208" y="2386584"/>
            <a:ext cx="5385816" cy="3099816"/>
          </a:xfrm>
          <a:prstGeom prst="round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ounded Rectangle 1"/>
          <p:cNvSpPr/>
          <p:nvPr/>
        </p:nvSpPr>
        <p:spPr>
          <a:xfrm>
            <a:off x="495300" y="809625"/>
            <a:ext cx="11201400" cy="342900"/>
          </a:xfrm>
          <a:prstGeom prst="roundRect">
            <a:avLst>
              <a:gd name="adj" fmla="val 1666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3" name="Rounded Rectangle 2"/>
          <p:cNvSpPr/>
          <p:nvPr/>
        </p:nvSpPr>
        <p:spPr>
          <a:xfrm>
            <a:off x="495300" y="6302722"/>
            <a:ext cx="11201400" cy="250477"/>
          </a:xfrm>
          <a:prstGeom prst="roundRect">
            <a:avLst>
              <a:gd name="adj" fmla="val 2281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4" name="Rounded Rectangle 3"/>
          <p:cNvSpPr/>
          <p:nvPr/>
        </p:nvSpPr>
        <p:spPr>
          <a:xfrm>
            <a:off x="495300" y="1247775"/>
            <a:ext cx="3657600" cy="967978"/>
          </a:xfrm>
          <a:prstGeom prst="roundRect">
            <a:avLst>
              <a:gd name="adj" fmla="val 59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5" name="Rounded Rectangle 4"/>
          <p:cNvSpPr/>
          <p:nvPr/>
        </p:nvSpPr>
        <p:spPr>
          <a:xfrm>
            <a:off x="4267200" y="1247775"/>
            <a:ext cx="3657600" cy="967978"/>
          </a:xfrm>
          <a:prstGeom prst="roundRect">
            <a:avLst>
              <a:gd name="adj" fmla="val 59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6" name="Rounded Rectangle 5"/>
          <p:cNvSpPr/>
          <p:nvPr/>
        </p:nvSpPr>
        <p:spPr>
          <a:xfrm>
            <a:off x="8039100" y="1247775"/>
            <a:ext cx="3657600" cy="967978"/>
          </a:xfrm>
          <a:prstGeom prst="roundRect">
            <a:avLst>
              <a:gd name="adj" fmla="val 59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7" name="Rounded Rectangle 6"/>
          <p:cNvSpPr/>
          <p:nvPr/>
        </p:nvSpPr>
        <p:spPr>
          <a:xfrm>
            <a:off x="495300" y="2311003"/>
            <a:ext cx="5534025" cy="3934569"/>
          </a:xfrm>
          <a:prstGeom prst="roundRect">
            <a:avLst>
              <a:gd name="adj" fmla="val 145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9" name="Rectangle 8"/>
          <p:cNvSpPr/>
          <p:nvPr/>
        </p:nvSpPr>
        <p:spPr>
          <a:xfrm>
            <a:off x="495300" y="6302722"/>
            <a:ext cx="28575" cy="250477"/>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pic>
        <p:nvPicPr>
          <p:cNvPr id="17" name="Picture 16" descr="image.png"/>
          <p:cNvPicPr>
            <a:picLocks noChangeAspect="1"/>
          </p:cNvPicPr>
          <p:nvPr/>
        </p:nvPicPr>
        <p:blipFill>
          <a:blip r:embed="rId1"/>
          <a:stretch>
            <a:fillRect/>
          </a:stretch>
        </p:blipFill>
        <p:spPr>
          <a:xfrm>
            <a:off x="657225" y="2453878"/>
            <a:ext cx="133350" cy="133350"/>
          </a:xfrm>
          <a:prstGeom prst="rect">
            <a:avLst/>
          </a:prstGeom>
        </p:spPr>
      </p:pic>
      <p:sp>
        <p:nvSpPr>
          <p:cNvPr id="19" name="TextBox 18"/>
          <p:cNvSpPr txBox="1"/>
          <p:nvPr/>
        </p:nvSpPr>
        <p:spPr>
          <a:xfrm>
            <a:off x="495300" y="304800"/>
            <a:ext cx="2251075" cy="299720"/>
          </a:xfrm>
          <a:prstGeom prst="rect">
            <a:avLst/>
          </a:prstGeom>
          <a:noFill/>
        </p:spPr>
        <p:txBody>
          <a:bodyPr wrap="none" lIns="0" tIns="0" rIns="0" bIns="0" anchor="t">
            <a:spAutoFit/>
          </a:bodyPr>
          <a:lstStyle/>
          <a:p>
            <a:pPr algn="l"/>
            <a:r>
              <a:rPr sz="1950" b="1" i="0" u="none">
                <a:solidFill>
                  <a:srgbClr val="0F172A"/>
                </a:solidFill>
                <a:latin typeface="Times New Roman Regular" panose="02020503050405090304" charset="0"/>
                <a:cs typeface="Times New Roman Regular" panose="02020503050405090304" charset="0"/>
              </a:rPr>
              <a:t>C</a:t>
            </a:r>
            <a:r>
              <a:rPr lang="en-US" sz="1950" b="1" i="0" u="none">
                <a:solidFill>
                  <a:srgbClr val="0F172A"/>
                </a:solidFill>
                <a:latin typeface="Times New Roman Regular" panose="02020503050405090304" charset="0"/>
                <a:cs typeface="Times New Roman Regular" panose="02020503050405090304" charset="0"/>
              </a:rPr>
              <a:t>ore </a:t>
            </a:r>
            <a:r>
              <a:rPr sz="1950" b="1" i="0" u="none">
                <a:solidFill>
                  <a:srgbClr val="0F172A"/>
                </a:solidFill>
                <a:latin typeface="Times New Roman Regular" panose="02020503050405090304" charset="0"/>
                <a:cs typeface="Times New Roman Regular" panose="02020503050405090304" charset="0"/>
              </a:rPr>
              <a:t>Function </a:t>
            </a:r>
            <a:r>
              <a:rPr lang="en-US" sz="1950" b="1" i="0" u="none">
                <a:solidFill>
                  <a:srgbClr val="0F172A"/>
                </a:solidFill>
                <a:latin typeface="Times New Roman Regular" panose="02020503050405090304" charset="0"/>
                <a:cs typeface="Times New Roman Regular" panose="02020503050405090304" charset="0"/>
              </a:rPr>
              <a:t>Two</a:t>
            </a:r>
            <a:endParaRPr lang="en-US" sz="1950" b="1" i="0" u="none">
              <a:solidFill>
                <a:srgbClr val="0F172A"/>
              </a:solidFill>
              <a:latin typeface="Times New Roman Regular" panose="02020503050405090304" charset="0"/>
              <a:cs typeface="Times New Roman Regular" panose="02020503050405090304" charset="0"/>
            </a:endParaRPr>
          </a:p>
        </p:txBody>
      </p:sp>
      <p:sp>
        <p:nvSpPr>
          <p:cNvPr id="20" name="TextBox 19"/>
          <p:cNvSpPr txBox="1"/>
          <p:nvPr/>
        </p:nvSpPr>
        <p:spPr>
          <a:xfrm>
            <a:off x="9629775" y="466725"/>
            <a:ext cx="2562225" cy="152400"/>
          </a:xfrm>
          <a:prstGeom prst="rect">
            <a:avLst/>
          </a:prstGeom>
          <a:noFill/>
        </p:spPr>
        <p:txBody>
          <a:bodyPr wrap="none" lIns="0" tIns="0" rIns="0" bIns="0" anchor="t">
            <a:spAutoFit/>
          </a:bodyPr>
          <a:lstStyle/>
          <a:p>
            <a:pPr algn="l"/>
            <a:r>
              <a:rPr sz="900" b="1" i="0" u="none">
                <a:solidFill>
                  <a:srgbClr val="64748B"/>
                </a:solidFill>
                <a:latin typeface="Times New Roman Regular" panose="02020503050405090304" charset="0"/>
                <a:cs typeface="Times New Roman Regular" panose="02020503050405090304" charset="0"/>
              </a:rPr>
              <a:t>MANUSCRIPT PRE-SUBMISSION AUDIT</a:t>
            </a:r>
            <a:endParaRPr sz="900" b="1" i="0" u="none">
              <a:solidFill>
                <a:srgbClr val="64748B"/>
              </a:solidFill>
              <a:latin typeface="Times New Roman Regular" panose="02020503050405090304" charset="0"/>
              <a:cs typeface="Times New Roman Regular" panose="02020503050405090304" charset="0"/>
            </a:endParaRPr>
          </a:p>
        </p:txBody>
      </p:sp>
      <p:sp>
        <p:nvSpPr>
          <p:cNvPr id="21" name="TextBox 20"/>
          <p:cNvSpPr txBox="1"/>
          <p:nvPr/>
        </p:nvSpPr>
        <p:spPr>
          <a:xfrm>
            <a:off x="523875" y="860425"/>
            <a:ext cx="5815965" cy="245745"/>
          </a:xfrm>
          <a:prstGeom prst="rect">
            <a:avLst/>
          </a:prstGeom>
          <a:noFill/>
        </p:spPr>
        <p:txBody>
          <a:bodyPr wrap="none" lIns="0" tIns="0" rIns="0" bIns="0" anchor="t">
            <a:spAutoFit/>
          </a:bodyPr>
          <a:lstStyle/>
          <a:p>
            <a:pPr algn="l"/>
            <a:r>
              <a:rPr sz="1600" b="1" i="0" u="none">
                <a:solidFill>
                  <a:srgbClr val="1E40AF"/>
                </a:solidFill>
                <a:latin typeface="Times New Roman Regular" panose="02020503050405090304" charset="0"/>
                <a:cs typeface="Times New Roman Regular" panose="02020503050405090304" charset="0"/>
              </a:rPr>
              <a:t>Reference Check — point the same corpus at your own manuscript</a:t>
            </a:r>
            <a:endParaRPr sz="1600" b="1" i="0" u="none">
              <a:solidFill>
                <a:srgbClr val="1E40AF"/>
              </a:solidFill>
              <a:latin typeface="Times New Roman Regular" panose="02020503050405090304" charset="0"/>
              <a:cs typeface="Times New Roman Regular" panose="02020503050405090304" charset="0"/>
            </a:endParaRPr>
          </a:p>
        </p:txBody>
      </p:sp>
      <p:sp>
        <p:nvSpPr>
          <p:cNvPr id="22" name="TextBox 21"/>
          <p:cNvSpPr txBox="1"/>
          <p:nvPr/>
        </p:nvSpPr>
        <p:spPr>
          <a:xfrm>
            <a:off x="628650" y="1362075"/>
            <a:ext cx="3486150" cy="215265"/>
          </a:xfrm>
          <a:prstGeom prst="rect">
            <a:avLst/>
          </a:prstGeom>
          <a:noFill/>
        </p:spPr>
        <p:txBody>
          <a:bodyPr wrap="square" lIns="0" tIns="0" rIns="0" bIns="0" anchor="t">
            <a:spAutoFit/>
          </a:bodyPr>
          <a:lstStyle/>
          <a:p>
            <a:pPr algn="l"/>
            <a:r>
              <a:rPr sz="1400" b="1" i="0" u="none">
                <a:solidFill>
                  <a:srgbClr val="2563EB"/>
                </a:solidFill>
                <a:latin typeface="Times New Roman Regular" panose="02020503050405090304" charset="0"/>
                <a:cs typeface="Times New Roman Regular" panose="02020503050405090304" charset="0"/>
              </a:rPr>
              <a:t>Empathise</a:t>
            </a:r>
            <a:endParaRPr sz="1400" b="1" i="0" u="none">
              <a:solidFill>
                <a:srgbClr val="2563EB"/>
              </a:solidFill>
              <a:latin typeface="Times New Roman Regular" panose="02020503050405090304" charset="0"/>
              <a:cs typeface="Times New Roman Regular" panose="02020503050405090304" charset="0"/>
            </a:endParaRPr>
          </a:p>
        </p:txBody>
      </p:sp>
      <p:sp>
        <p:nvSpPr>
          <p:cNvPr id="23" name="TextBox 22"/>
          <p:cNvSpPr txBox="1"/>
          <p:nvPr/>
        </p:nvSpPr>
        <p:spPr>
          <a:xfrm>
            <a:off x="4400550" y="1362075"/>
            <a:ext cx="3486150" cy="215265"/>
          </a:xfrm>
          <a:prstGeom prst="rect">
            <a:avLst/>
          </a:prstGeom>
          <a:noFill/>
        </p:spPr>
        <p:txBody>
          <a:bodyPr wrap="square" lIns="0" tIns="0" rIns="0" bIns="0" anchor="t">
            <a:spAutoFit/>
          </a:bodyPr>
          <a:lstStyle/>
          <a:p>
            <a:pPr algn="l"/>
            <a:r>
              <a:rPr sz="1400" b="1" i="0" u="none">
                <a:solidFill>
                  <a:srgbClr val="2563EB"/>
                </a:solidFill>
                <a:latin typeface="Times New Roman Regular" panose="02020503050405090304" charset="0"/>
                <a:cs typeface="Times New Roman Regular" panose="02020503050405090304" charset="0"/>
              </a:rPr>
              <a:t>Define</a:t>
            </a:r>
            <a:endParaRPr sz="1400" b="1" i="0" u="none">
              <a:solidFill>
                <a:srgbClr val="2563EB"/>
              </a:solidFill>
              <a:latin typeface="Times New Roman Regular" panose="02020503050405090304" charset="0"/>
              <a:cs typeface="Times New Roman Regular" panose="02020503050405090304" charset="0"/>
            </a:endParaRPr>
          </a:p>
        </p:txBody>
      </p:sp>
      <p:sp>
        <p:nvSpPr>
          <p:cNvPr id="24" name="TextBox 23"/>
          <p:cNvSpPr txBox="1"/>
          <p:nvPr/>
        </p:nvSpPr>
        <p:spPr>
          <a:xfrm>
            <a:off x="8172450" y="1362075"/>
            <a:ext cx="3486150" cy="215265"/>
          </a:xfrm>
          <a:prstGeom prst="rect">
            <a:avLst/>
          </a:prstGeom>
          <a:noFill/>
        </p:spPr>
        <p:txBody>
          <a:bodyPr wrap="square" lIns="0" tIns="0" rIns="0" bIns="0" anchor="t">
            <a:spAutoFit/>
          </a:bodyPr>
          <a:lstStyle/>
          <a:p>
            <a:pPr algn="l"/>
            <a:r>
              <a:rPr sz="1400" b="1" i="0" u="none">
                <a:solidFill>
                  <a:srgbClr val="2563EB"/>
                </a:solidFill>
                <a:latin typeface="Times New Roman Regular" panose="02020503050405090304" charset="0"/>
                <a:cs typeface="Times New Roman Regular" panose="02020503050405090304" charset="0"/>
              </a:rPr>
              <a:t>Ideate</a:t>
            </a:r>
            <a:endParaRPr sz="1400" b="1" i="0" u="none">
              <a:solidFill>
                <a:srgbClr val="2563EB"/>
              </a:solidFill>
              <a:latin typeface="Times New Roman Regular" panose="02020503050405090304" charset="0"/>
              <a:cs typeface="Times New Roman Regular" panose="02020503050405090304" charset="0"/>
            </a:endParaRPr>
          </a:p>
        </p:txBody>
      </p:sp>
      <p:sp>
        <p:nvSpPr>
          <p:cNvPr id="25" name="TextBox 24"/>
          <p:cNvSpPr txBox="1"/>
          <p:nvPr/>
        </p:nvSpPr>
        <p:spPr>
          <a:xfrm>
            <a:off x="638175" y="6359872"/>
            <a:ext cx="11553825" cy="136177"/>
          </a:xfrm>
          <a:prstGeom prst="rect">
            <a:avLst/>
          </a:prstGeom>
          <a:noFill/>
        </p:spPr>
        <p:txBody>
          <a:bodyPr wrap="none" lIns="0" tIns="0" rIns="0" bIns="0" anchor="t">
            <a:spAutoFit/>
          </a:bodyPr>
          <a:lstStyle/>
          <a:p>
            <a:pPr algn="l">
              <a:lnSpc>
                <a:spcPts val="1070"/>
              </a:lnSpc>
            </a:pPr>
            <a:r>
              <a:rPr sz="825" b="1" i="0" u="none">
                <a:solidFill>
                  <a:srgbClr val="475569"/>
                </a:solidFill>
                <a:latin typeface="Times New Roman Regular" panose="02020503050405090304" charset="0"/>
                <a:cs typeface="Times New Roman Regular" panose="02020503050405090304" charset="0"/>
              </a:rPr>
              <a:t>Sources:</a:t>
            </a:r>
            <a:r>
              <a:rPr sz="825" b="0" i="0" u="none">
                <a:solidFill>
                  <a:srgbClr val="475569"/>
                </a:solidFill>
                <a:latin typeface="Times New Roman Regular" panose="02020503050405090304" charset="0"/>
                <a:cs typeface="Times New Roman Regular" panose="02020503050405090304" charset="0"/>
              </a:rPr>
              <a:t> scite.ai/features &amp; scite.ai/pricing ($20/$50/mo); ClaimTrace audit contract specification docs (</a:t>
            </a:r>
            <a:r>
              <a:rPr sz="750" b="0" i="0" u="none">
                <a:solidFill>
                  <a:srgbClr val="475569"/>
                </a:solidFill>
                <a:latin typeface="Times New Roman Regular" panose="02020503050405090304" charset="0"/>
                <a:cs typeface="Times New Roman Regular" panose="02020503050405090304" charset="0"/>
              </a:rPr>
              <a:t>claimtrace/docs/audit-contract.md</a:t>
            </a:r>
            <a:r>
              <a:rPr sz="825" b="0" i="0" u="none">
                <a:solidFill>
                  <a:srgbClr val="475569"/>
                </a:solidFill>
                <a:latin typeface="Times New Roman Regular" panose="02020503050405090304" charset="0"/>
                <a:cs typeface="Times New Roman Regular" panose="02020503050405090304" charset="0"/>
              </a:rPr>
              <a:t> §2, §4).</a:t>
            </a:r>
            <a:endParaRPr sz="825" b="0" i="0" u="none">
              <a:solidFill>
                <a:srgbClr val="475569"/>
              </a:solidFill>
              <a:latin typeface="Times New Roman Regular" panose="02020503050405090304" charset="0"/>
              <a:cs typeface="Times New Roman Regular" panose="02020503050405090304" charset="0"/>
            </a:endParaRPr>
          </a:p>
        </p:txBody>
      </p:sp>
      <p:sp>
        <p:nvSpPr>
          <p:cNvPr id="26" name="TextBox 25"/>
          <p:cNvSpPr txBox="1"/>
          <p:nvPr/>
        </p:nvSpPr>
        <p:spPr>
          <a:xfrm>
            <a:off x="638175" y="1609725"/>
            <a:ext cx="3467100" cy="486410"/>
          </a:xfrm>
          <a:prstGeom prst="rect">
            <a:avLst/>
          </a:prstGeom>
          <a:noFill/>
        </p:spPr>
        <p:txBody>
          <a:bodyPr wrap="square" lIns="0" tIns="0" rIns="0" bIns="0" anchor="t">
            <a:spAutoFit/>
          </a:bodyPr>
          <a:lstStyle/>
          <a:p>
            <a:pPr algn="l">
              <a:lnSpc>
                <a:spcPts val="1265"/>
              </a:lnSpc>
            </a:pPr>
            <a:r>
              <a:rPr sz="1200" b="0" i="0" u="none">
                <a:solidFill>
                  <a:srgbClr val="334155"/>
                </a:solidFill>
                <a:latin typeface="Times New Roman Regular" panose="02020503050405090304" charset="0"/>
                <a:cs typeface="Times New Roman Regular" panose="02020503050405090304" charset="0"/>
              </a:rPr>
              <a:t>Pre-submission fear: references inherited from co-authors, Scholar, or AI. Fear that an entry is retracted or wrong.</a:t>
            </a:r>
            <a:endParaRPr sz="1200" b="0" i="0" u="none">
              <a:solidFill>
                <a:srgbClr val="334155"/>
              </a:solidFill>
              <a:latin typeface="Times New Roman Regular" panose="02020503050405090304" charset="0"/>
              <a:cs typeface="Times New Roman Regular" panose="02020503050405090304" charset="0"/>
            </a:endParaRPr>
          </a:p>
        </p:txBody>
      </p:sp>
      <p:sp>
        <p:nvSpPr>
          <p:cNvPr id="27" name="TextBox 26"/>
          <p:cNvSpPr txBox="1"/>
          <p:nvPr/>
        </p:nvSpPr>
        <p:spPr>
          <a:xfrm>
            <a:off x="4410075" y="1609725"/>
            <a:ext cx="3467100" cy="323850"/>
          </a:xfrm>
          <a:prstGeom prst="rect">
            <a:avLst/>
          </a:prstGeom>
          <a:noFill/>
        </p:spPr>
        <p:txBody>
          <a:bodyPr wrap="square" lIns="0" tIns="0" rIns="0" bIns="0" anchor="t">
            <a:spAutoFit/>
          </a:bodyPr>
          <a:lstStyle/>
          <a:p>
            <a:pPr algn="l">
              <a:lnSpc>
                <a:spcPts val="1265"/>
              </a:lnSpc>
            </a:pPr>
            <a:r>
              <a:rPr sz="1200" b="0" i="0" u="none">
                <a:solidFill>
                  <a:srgbClr val="334155"/>
                </a:solidFill>
                <a:latin typeface="Times New Roman Regular" panose="02020503050405090304" charset="0"/>
                <a:cs typeface="Times New Roman Regular" panose="02020503050405090304" charset="0"/>
              </a:rPr>
              <a:t>Upload PDF to inspect third-party history per reference: retractions, editorial notices, and contrasting findings.</a:t>
            </a:r>
            <a:endParaRPr sz="1200" b="0" i="0" u="none">
              <a:solidFill>
                <a:srgbClr val="334155"/>
              </a:solidFill>
              <a:latin typeface="Times New Roman Regular" panose="02020503050405090304" charset="0"/>
              <a:cs typeface="Times New Roman Regular" panose="02020503050405090304" charset="0"/>
            </a:endParaRPr>
          </a:p>
        </p:txBody>
      </p:sp>
      <p:sp>
        <p:nvSpPr>
          <p:cNvPr id="28" name="TextBox 27"/>
          <p:cNvSpPr txBox="1"/>
          <p:nvPr/>
        </p:nvSpPr>
        <p:spPr>
          <a:xfrm>
            <a:off x="8181975" y="1609725"/>
            <a:ext cx="3467100" cy="486410"/>
          </a:xfrm>
          <a:prstGeom prst="rect">
            <a:avLst/>
          </a:prstGeom>
          <a:noFill/>
        </p:spPr>
        <p:txBody>
          <a:bodyPr wrap="square" lIns="0" tIns="0" rIns="0" bIns="0" anchor="t">
            <a:spAutoFit/>
          </a:bodyPr>
          <a:lstStyle/>
          <a:p>
            <a:pPr algn="l">
              <a:lnSpc>
                <a:spcPts val="1265"/>
              </a:lnSpc>
            </a:pPr>
            <a:r>
              <a:rPr sz="1200" b="0" i="0" u="none">
                <a:solidFill>
                  <a:srgbClr val="334155"/>
                </a:solidFill>
                <a:latin typeface="Times New Roman Regular" panose="02020503050405090304" charset="0"/>
                <a:cs typeface="Times New Roman Regular" panose="02020503050405090304" charset="0"/>
              </a:rPr>
              <a:t>Repurpose corpus as a submission checklist per reference rather than per paper, bundled inside the core SaaS subscription.</a:t>
            </a:r>
            <a:endParaRPr sz="1200" b="0" i="0" u="none">
              <a:solidFill>
                <a:srgbClr val="334155"/>
              </a:solidFill>
              <a:latin typeface="Times New Roman Regular" panose="02020503050405090304" charset="0"/>
              <a:cs typeface="Times New Roman Regular" panose="02020503050405090304" charset="0"/>
            </a:endParaRPr>
          </a:p>
        </p:txBody>
      </p:sp>
      <p:sp>
        <p:nvSpPr>
          <p:cNvPr id="29" name="TextBox 28"/>
          <p:cNvSpPr txBox="1"/>
          <p:nvPr/>
        </p:nvSpPr>
        <p:spPr>
          <a:xfrm>
            <a:off x="847725" y="2397681"/>
            <a:ext cx="2908935" cy="245745"/>
          </a:xfrm>
          <a:prstGeom prst="rect">
            <a:avLst/>
          </a:prstGeom>
          <a:noFill/>
        </p:spPr>
        <p:txBody>
          <a:bodyPr wrap="none" lIns="0" tIns="0" rIns="0" bIns="0" anchor="ctr">
            <a:spAutoFit/>
          </a:bodyPr>
          <a:lstStyle/>
          <a:p>
            <a:pPr algn="l"/>
            <a:r>
              <a:rPr sz="1600" b="1" i="0" u="none">
                <a:solidFill>
                  <a:srgbClr val="0F172A"/>
                </a:solidFill>
                <a:latin typeface="Times New Roman Regular" panose="02020503050405090304" charset="0"/>
                <a:cs typeface="Times New Roman Regular" panose="02020503050405090304" charset="0"/>
              </a:rPr>
              <a:t>Our comment — where this stops</a:t>
            </a:r>
            <a:endParaRPr sz="1600" b="1" i="0" u="none">
              <a:solidFill>
                <a:srgbClr val="0F172A"/>
              </a:solidFill>
              <a:latin typeface="Times New Roman Regular" panose="02020503050405090304" charset="0"/>
              <a:cs typeface="Times New Roman Regular" panose="02020503050405090304" charset="0"/>
            </a:endParaRPr>
          </a:p>
        </p:txBody>
      </p:sp>
      <p:sp>
        <p:nvSpPr>
          <p:cNvPr id="31" name="TextBox 30"/>
          <p:cNvSpPr txBox="1"/>
          <p:nvPr/>
        </p:nvSpPr>
        <p:spPr>
          <a:xfrm>
            <a:off x="628650" y="2910443"/>
            <a:ext cx="5305425" cy="430530"/>
          </a:xfrm>
          <a:prstGeom prst="rect">
            <a:avLst/>
          </a:prstGeom>
          <a:noFill/>
        </p:spPr>
        <p:txBody>
          <a:bodyPr wrap="square" lIns="0" tIns="0" rIns="0" bIns="0" anchor="t">
            <a:spAutoFit/>
          </a:bodyPr>
          <a:lstStyle/>
          <a:p>
            <a:pPr algn="l"/>
            <a:r>
              <a:rPr sz="1400" b="1" i="0" u="none">
                <a:solidFill>
                  <a:srgbClr val="0F172A"/>
                </a:solidFill>
                <a:latin typeface="Times New Roman Regular" panose="02020503050405090304" charset="0"/>
                <a:cs typeface="Times New Roman Regular" panose="02020503050405090304" charset="0"/>
              </a:rPr>
              <a:t>Reports on third parties: </a:t>
            </a:r>
            <a:r>
              <a:rPr sz="1400" b="1" i="0" u="none">
                <a:solidFill>
                  <a:srgbClr val="64748B"/>
                </a:solidFill>
                <a:latin typeface="Times New Roman Regular" panose="02020503050405090304" charset="0"/>
                <a:cs typeface="Times New Roman Regular" panose="02020503050405090304" charset="0"/>
              </a:rPr>
              <a:t>Tells you #12 is retracted; cannot tell you if your sentence about #12 is accurate.</a:t>
            </a:r>
            <a:endParaRPr sz="1400" b="1" i="0" u="none">
              <a:solidFill>
                <a:srgbClr val="64748B"/>
              </a:solidFill>
              <a:latin typeface="Times New Roman Regular" panose="02020503050405090304" charset="0"/>
              <a:cs typeface="Times New Roman Regular" panose="02020503050405090304" charset="0"/>
            </a:endParaRPr>
          </a:p>
        </p:txBody>
      </p:sp>
      <p:sp>
        <p:nvSpPr>
          <p:cNvPr id="32" name="TextBox 31"/>
          <p:cNvSpPr txBox="1"/>
          <p:nvPr/>
        </p:nvSpPr>
        <p:spPr>
          <a:xfrm>
            <a:off x="657225" y="3791823"/>
            <a:ext cx="5305425" cy="430530"/>
          </a:xfrm>
          <a:prstGeom prst="rect">
            <a:avLst/>
          </a:prstGeom>
          <a:noFill/>
        </p:spPr>
        <p:txBody>
          <a:bodyPr wrap="square" lIns="0" tIns="0" rIns="0" bIns="0" anchor="t">
            <a:spAutoFit/>
          </a:bodyPr>
          <a:lstStyle/>
          <a:p>
            <a:pPr algn="l"/>
            <a:r>
              <a:rPr sz="1400" b="1" i="0" u="none">
                <a:solidFill>
                  <a:srgbClr val="0F172A"/>
                </a:solidFill>
                <a:latin typeface="Times New Roman Regular" panose="02020503050405090304" charset="0"/>
                <a:cs typeface="Times New Roman Regular" panose="02020503050405090304" charset="0"/>
              </a:rPr>
              <a:t>Metadata, not meaning: </a:t>
            </a:r>
            <a:r>
              <a:rPr sz="1400" b="1" i="0" u="none">
                <a:solidFill>
                  <a:srgbClr val="64748B"/>
                </a:solidFill>
                <a:latin typeface="Times New Roman Regular" panose="02020503050405090304" charset="0"/>
                <a:cs typeface="Times New Roman Regular" panose="02020503050405090304" charset="0"/>
              </a:rPr>
              <a:t>Notices are facts about a record. Silent on whether it supports the claim attached.</a:t>
            </a:r>
            <a:endParaRPr sz="1400" b="1" i="0" u="none">
              <a:solidFill>
                <a:srgbClr val="64748B"/>
              </a:solidFill>
              <a:latin typeface="Times New Roman Regular" panose="02020503050405090304" charset="0"/>
              <a:cs typeface="Times New Roman Regular" panose="02020503050405090304" charset="0"/>
            </a:endParaRPr>
          </a:p>
        </p:txBody>
      </p:sp>
      <p:sp>
        <p:nvSpPr>
          <p:cNvPr id="33" name="TextBox 32"/>
          <p:cNvSpPr txBox="1"/>
          <p:nvPr/>
        </p:nvSpPr>
        <p:spPr>
          <a:xfrm>
            <a:off x="657225" y="4673203"/>
            <a:ext cx="5305425" cy="430530"/>
          </a:xfrm>
          <a:prstGeom prst="rect">
            <a:avLst/>
          </a:prstGeom>
          <a:noFill/>
        </p:spPr>
        <p:txBody>
          <a:bodyPr wrap="square" lIns="0" tIns="0" rIns="0" bIns="0" anchor="t">
            <a:spAutoFit/>
          </a:bodyPr>
          <a:lstStyle/>
          <a:p>
            <a:pPr algn="l"/>
            <a:r>
              <a:rPr sz="1400" b="1" i="0" u="none">
                <a:solidFill>
                  <a:srgbClr val="0F172A"/>
                </a:solidFill>
                <a:latin typeface="Times New Roman Regular" panose="02020503050405090304" charset="0"/>
                <a:cs typeface="Times New Roman Regular" panose="02020503050405090304" charset="0"/>
              </a:rPr>
              <a:t>No published accuracy: </a:t>
            </a:r>
            <a:r>
              <a:rPr sz="1400" b="1" i="0" u="none">
                <a:solidFill>
                  <a:srgbClr val="64748B"/>
                </a:solidFill>
                <a:latin typeface="Times New Roman Regular" panose="02020503050405090304" charset="0"/>
                <a:cs typeface="Times New Roman Regular" panose="02020503050405090304" charset="0"/>
              </a:rPr>
              <a:t>Smart Citations has peer-reviewed evaluations; Reference Check publishes none.</a:t>
            </a:r>
            <a:endParaRPr sz="1400" b="1" i="0" u="none">
              <a:solidFill>
                <a:srgbClr val="64748B"/>
              </a:solidFill>
              <a:latin typeface="Times New Roman Regular" panose="02020503050405090304" charset="0"/>
              <a:cs typeface="Times New Roman Regular" panose="02020503050405090304" charset="0"/>
            </a:endParaRPr>
          </a:p>
        </p:txBody>
      </p:sp>
      <p:sp>
        <p:nvSpPr>
          <p:cNvPr id="34" name="TextBox 33"/>
          <p:cNvSpPr txBox="1"/>
          <p:nvPr/>
        </p:nvSpPr>
        <p:spPr>
          <a:xfrm>
            <a:off x="657225" y="5554583"/>
            <a:ext cx="5305425" cy="430530"/>
          </a:xfrm>
          <a:prstGeom prst="rect">
            <a:avLst/>
          </a:prstGeom>
          <a:noFill/>
        </p:spPr>
        <p:txBody>
          <a:bodyPr wrap="square" lIns="0" tIns="0" rIns="0" bIns="0" anchor="t">
            <a:spAutoFit/>
          </a:bodyPr>
          <a:lstStyle/>
          <a:p>
            <a:pPr algn="l"/>
            <a:r>
              <a:rPr sz="1400" b="1" i="0" u="none">
                <a:solidFill>
                  <a:srgbClr val="0F172A"/>
                </a:solidFill>
                <a:latin typeface="Times New Roman Regular" panose="02020503050405090304" charset="0"/>
                <a:cs typeface="Times New Roman Regular" panose="02020503050405090304" charset="0"/>
              </a:rPr>
              <a:t>User-level SaaS pricing: </a:t>
            </a:r>
            <a:r>
              <a:rPr sz="1400" b="1" i="0" u="none">
                <a:solidFill>
                  <a:srgbClr val="64748B"/>
                </a:solidFill>
                <a:latin typeface="Times New Roman Regular" panose="02020503050405090304" charset="0"/>
                <a:cs typeface="Times New Roman Regular" panose="02020503050405090304" charset="0"/>
              </a:rPr>
              <a:t>$20/mo Basic, $50/mo Pro (billed yearly); no public institutional pricing.</a:t>
            </a:r>
            <a:endParaRPr sz="1400" b="1" i="0" u="none">
              <a:solidFill>
                <a:srgbClr val="64748B"/>
              </a:solidFill>
              <a:latin typeface="Times New Roman Regular" panose="02020503050405090304" charset="0"/>
              <a:cs typeface="Times New Roman Regular" panose="02020503050405090304" charset="0"/>
            </a:endParaRPr>
          </a:p>
        </p:txBody>
      </p:sp>
      <p:sp>
        <p:nvSpPr>
          <p:cNvPr id="35" name="Rounded Rectangle 34"/>
          <p:cNvSpPr/>
          <p:nvPr/>
        </p:nvSpPr>
        <p:spPr>
          <a:xfrm>
            <a:off x="6163056" y="2313432"/>
            <a:ext cx="5532120" cy="3931920"/>
          </a:xfrm>
          <a:prstGeom prst="roundRect">
            <a:avLst/>
          </a:prstGeom>
          <a:solidFill>
            <a:srgbClr val="FFFFFF"/>
          </a:solidFill>
          <a:ln w="9144">
            <a:solidFill>
              <a:srgbClr val="BE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pic>
        <p:nvPicPr>
          <p:cNvPr id="36" name="Picture 35" descr="claimtrace_audit_focus.png"/>
          <p:cNvPicPr>
            <a:picLocks noChangeAspect="1"/>
          </p:cNvPicPr>
          <p:nvPr/>
        </p:nvPicPr>
        <p:blipFill>
          <a:blip r:embed="rId2"/>
          <a:stretch>
            <a:fillRect/>
          </a:stretch>
        </p:blipFill>
        <p:spPr>
          <a:xfrm>
            <a:off x="6236208" y="2502527"/>
            <a:ext cx="5385816" cy="3553729"/>
          </a:xfrm>
          <a:prstGeom prst="round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p:sp>
        <p:nvSpPr>
          <p:cNvPr id="3" name="Rectangle 2"/>
          <p:cNvSpPr/>
          <p:nvPr/>
        </p:nvSpPr>
        <p:spPr>
          <a:xfrm>
            <a:off x="5867400" y="3873698"/>
            <a:ext cx="45720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Regular" panose="02020503050405090304" charset="0"/>
              <a:cs typeface="Times New Roman Regular" panose="02020503050405090304" charset="0"/>
            </a:endParaRPr>
          </a:p>
        </p:txBody>
      </p:sp>
      <p:sp>
        <p:nvSpPr>
          <p:cNvPr id="4" name="TextBox 3"/>
          <p:cNvSpPr txBox="1"/>
          <p:nvPr/>
        </p:nvSpPr>
        <p:spPr>
          <a:xfrm>
            <a:off x="4530179" y="2603152"/>
            <a:ext cx="3131641" cy="594270"/>
          </a:xfrm>
          <a:prstGeom prst="rect">
            <a:avLst/>
          </a:prstGeom>
          <a:noFill/>
        </p:spPr>
        <p:txBody>
          <a:bodyPr wrap="none" lIns="0" tIns="0" rIns="0" bIns="0" anchor="t">
            <a:spAutoFit/>
          </a:bodyPr>
          <a:lstStyle/>
          <a:p>
            <a:pPr algn="ctr">
              <a:lnSpc>
                <a:spcPts val="4680"/>
              </a:lnSpc>
            </a:pPr>
            <a:r>
              <a:rPr sz="3900" b="1" i="0" u="none">
                <a:solidFill>
                  <a:srgbClr val="F8FAFC"/>
                </a:solidFill>
                <a:latin typeface="Times New Roman Regular" panose="02020503050405090304" charset="0"/>
                <a:cs typeface="Times New Roman Regular" panose="02020503050405090304" charset="0"/>
              </a:rPr>
              <a:t>Thank you</a:t>
            </a:r>
            <a:endParaRPr sz="3900" b="1" i="0" u="none">
              <a:solidFill>
                <a:srgbClr val="F8FAFC"/>
              </a:solidFill>
              <a:latin typeface="Times New Roman Regular" panose="02020503050405090304" charset="0"/>
              <a:cs typeface="Times New Roman Regular" panose="02020503050405090304" charset="0"/>
            </a:endParaRPr>
          </a:p>
        </p:txBody>
      </p:sp>
      <p:sp>
        <p:nvSpPr>
          <p:cNvPr id="5" name="TextBox 4"/>
          <p:cNvSpPr txBox="1"/>
          <p:nvPr/>
        </p:nvSpPr>
        <p:spPr>
          <a:xfrm>
            <a:off x="3673078" y="3349823"/>
            <a:ext cx="4845843" cy="257175"/>
          </a:xfrm>
          <a:prstGeom prst="rect">
            <a:avLst/>
          </a:prstGeom>
          <a:noFill/>
        </p:spPr>
        <p:txBody>
          <a:bodyPr wrap="none" lIns="0" tIns="0" rIns="0" bIns="0" anchor="t">
            <a:spAutoFit/>
          </a:bodyPr>
          <a:lstStyle/>
          <a:p>
            <a:pPr algn="ctr">
              <a:lnSpc>
                <a:spcPts val="2025"/>
              </a:lnSpc>
            </a:pPr>
            <a:r>
              <a:rPr sz="1350" b="0" i="0" u="none">
                <a:solidFill>
                  <a:srgbClr val="94A3B8"/>
                </a:solidFill>
                <a:latin typeface="Times New Roman Regular" panose="02020503050405090304" charset="0"/>
                <a:cs typeface="Times New Roman Regular" panose="02020503050405090304" charset="0"/>
              </a:rPr>
              <a:t>ClaimTrace — the academic citation audit engine</a:t>
            </a:r>
            <a:endParaRPr sz="1350" b="0" i="0" u="none">
              <a:solidFill>
                <a:srgbClr val="94A3B8"/>
              </a:solidFill>
              <a:latin typeface="Times New Roman Regular" panose="02020503050405090304" charset="0"/>
              <a:cs typeface="Times New Roman Regular" panose="02020503050405090304" charset="0"/>
            </a:endParaRPr>
          </a:p>
        </p:txBody>
      </p:sp>
      <p:sp>
        <p:nvSpPr>
          <p:cNvPr id="6" name="TextBox 5"/>
          <p:cNvSpPr txBox="1"/>
          <p:nvPr/>
        </p:nvSpPr>
        <p:spPr>
          <a:xfrm>
            <a:off x="3905250" y="4168973"/>
            <a:ext cx="4381500" cy="171450"/>
          </a:xfrm>
          <a:prstGeom prst="rect">
            <a:avLst/>
          </a:prstGeom>
          <a:noFill/>
        </p:spPr>
        <p:txBody>
          <a:bodyPr wrap="none" lIns="0" tIns="0" rIns="0" bIns="0" anchor="t">
            <a:spAutoFit/>
          </a:bodyPr>
          <a:lstStyle/>
          <a:p>
            <a:pPr algn="ctr"/>
            <a:r>
              <a:rPr sz="1050" b="0" i="0" u="none">
                <a:solidFill>
                  <a:srgbClr val="CBD5E1"/>
                </a:solidFill>
                <a:latin typeface="Times New Roman Regular" panose="02020503050405090304" charset="0"/>
                <a:cs typeface="Times New Roman Regular" panose="02020503050405090304" charset="0"/>
              </a:rPr>
              <a:t>Software Innovation Studio · Group 18</a:t>
            </a:r>
            <a:endParaRPr sz="1050" b="0" i="0" u="none">
              <a:solidFill>
                <a:srgbClr val="CBD5E1"/>
              </a:solidFill>
              <a:latin typeface="Times New Roman Regular" panose="02020503050405090304" charset="0"/>
              <a:cs typeface="Times New Roman Regular" panose="02020503050405090304" charset="0"/>
            </a:endParaRPr>
          </a:p>
        </p:txBody>
      </p:sp>
    </p:spTree>
  </p:cSld>
  <p:clrMapOvr>
    <a:masterClrMapping/>
  </p:clrMapOvr>
</p:sld>
</file>

<file path=ppt/tags/tag1.xml><?xml version="1.0" encoding="utf-8"?>
<p:tagLst xmlns:p="http://schemas.openxmlformats.org/presentationml/2006/main">
  <p:tag name="TABLE_ENDDRAG_ORIGIN_RECT" val="562*204"/>
  <p:tag name="TABLE_ENDDRAG_RECT" val="341*228*562*20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6835</Words>
  <Application>WPS Office WWO_wpscloud_20260916174450-7bfc4fa662</Application>
  <PresentationFormat>On-screen Show (4:3)</PresentationFormat>
  <Paragraphs>248</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宋体</vt:lpstr>
      <vt:lpstr>Wingdings</vt:lpstr>
      <vt:lpstr>Arial</vt:lpstr>
      <vt:lpstr>Times New Roman Regular</vt:lpstr>
      <vt:lpstr>Times New Roman</vt:lpstr>
      <vt:lpstr>微软雅黑</vt:lpstr>
      <vt:lpstr>汉仪旗黑KW 55S</vt:lpstr>
      <vt:lpstr>汉仪书宋二KW</vt:lpstr>
      <vt:lpstr>Kingsoft Confetti</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程雪垠</cp:lastModifiedBy>
  <dcterms:created xsi:type="dcterms:W3CDTF">2026-10-01T04:01:11Z</dcterms:created>
  <dcterms:modified xsi:type="dcterms:W3CDTF">2026-10-01T04:01:11Z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2052-12.9.0.29121</vt:lpwstr>
  </property>
  <property fmtid="{D5CDD505-2E9C-101B-9397-08002B2CF9AE}" pid="3" name="ICV">
    <vt:lpwstr>29CBE1C667B2AFE35574BC6A1F1354F3_42</vt:lpwstr>
  </property>
</Properties>
</file>