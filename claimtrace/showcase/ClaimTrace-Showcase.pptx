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ClaimTrace checks what a citation actually says. The tagline is the product: not a score, not a label —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Three failure modes, one cause: checking is expensive, so it gets skipped. Every persona we interviewed asked for the source, not a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Three surfaces: audit the bibliography, verify a claim against the cited passage, and read the paper inside the tool. Read is what makes the other two cheap — no download-and-Ctrl+F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Clients only speak REST. The engine owns identity. There are exactly two outbound boundaries — public metadata, and the user's own model key. The server never holds an application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This is the core invariant. A record that is rejected before comparison has no field checks — we never invent a mismatch. A provider that fails leaves the reference visibly unchecked. Four real fixtures, no mock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Two claims against the same paper. One is not in the source; one is supported by a passage you can read. The verdict is never shown without the passage, and only COMPARED carries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Two kinds of evidence: the whole suite is green, and the controlled audit set is exact. State the caveat out loud — the verify labels are fixture labels, which is why the annotation work is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Close on the invariant. Then the three next steps: corpus-scale verification, in-editor verdicts, and deployment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40">
                <a:solidFill>
                  <a:srgbClr val="14663F"/>
                </a:solidFill>
                <a:latin typeface="Courier New"/>
              </a:rPr>
              <a:t>SOFTWARE INNOVATION STUDIO · GROUP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76272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0" b="0" i="0">
                <a:solidFill>
                  <a:srgbClr val="16181D"/>
                </a:solidFill>
                <a:latin typeface="Georgia"/>
              </a:rPr>
              <a:t>ClaimTrace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84448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3D424C"/>
                </a:solidFill>
                <a:latin typeface="Georgia"/>
              </a:rPr>
              <a:t>Check what your citations actually say.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864608"/>
            <a:ext cx="7040880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501091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56B76"/>
                </a:solidFill>
                <a:latin typeface="Courier New"/>
              </a:rPr>
              <a:t>WEB WORKSPACE   ·   OVERLEAF EXTENSION   ·   PDF PARSER   ·   VERIFICATION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417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B9B6AB"/>
                </a:solidFill>
                <a:latin typeface="Courier New"/>
              </a:rPr>
              <a:t>[P2]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700784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3D424C"/>
                </a:solidFill>
                <a:latin typeface="Georgia"/>
              </a:rPr>
              <a:t>“I want the evidence, not just the conclusion — so I can tell the student exactly what to fix.”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2461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— supervisor persona · translated from user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02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ClaimTrace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6868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100" i="0">
                <a:solidFill>
                  <a:srgbClr val="16181D"/>
                </a:solidFill>
                <a:latin typeface="Georgia"/>
              </a:rPr>
              <a:t>The last 48 hours go into checking citations, </a:t>
            </a:r>
            <a:r>
              <a:rPr sz="3100" i="1">
                <a:solidFill>
                  <a:srgbClr val="14663F"/>
                </a:solidFill>
                <a:latin typeface="Georgia"/>
              </a:rPr>
              <a:t>not writing the paper.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395728"/>
            <a:ext cx="3246119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542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14663F"/>
                </a:solidFill>
                <a:latin typeface="Courier New"/>
              </a:rPr>
              <a:t>UNTRUSTED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6181D"/>
                </a:solidFill>
                <a:latin typeface="Georgia"/>
              </a:rPr>
              <a:t>Co-authors’ references are taken on faith.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6B76"/>
                </a:solidFill>
                <a:latin typeface="Arial"/>
              </a:rPr>
              <a:t>A Related Work section written by three people contains references nobody has opened.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395728"/>
            <a:ext cx="3246120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2542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14663F"/>
                </a:solidFill>
                <a:latin typeface="Courier New"/>
              </a:rPr>
              <a:t>INTERRUPTED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163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6181D"/>
                </a:solidFill>
                <a:latin typeface="Georgia"/>
              </a:rPr>
              <a:t>Every check means leaving the editor.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65760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6B76"/>
                </a:solidFill>
                <a:latin typeface="Arial"/>
              </a:rPr>
              <a:t>Overleaf → Zotero → a PDF reader → back. The cost is not the click, it is the context switch.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0" y="2395728"/>
            <a:ext cx="3246120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5280" y="25420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14663F"/>
                </a:solidFill>
                <a:latin typeface="Courier New"/>
              </a:rPr>
              <a:t>FABRICATED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8163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6181D"/>
                </a:solidFill>
                <a:latin typeface="Georgia"/>
              </a:rPr>
              <a:t>Machine-written references look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65760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6B76"/>
                </a:solidFill>
                <a:latin typeface="Arial"/>
              </a:rPr>
              <a:t>Wrong venue, wrong year, or a DOI that resolves to a different paper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32120"/>
            <a:ext cx="41148" cy="777240"/>
          </a:xfrm>
          <a:prstGeom prst="rect">
            <a:avLst/>
          </a:prstGeom>
          <a:solidFill>
            <a:srgbClr val="146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8595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6181D"/>
                </a:solidFill>
                <a:latin typeface="Georgia"/>
              </a:rPr>
              <a:t>All three personas asked for the same thing: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6181D"/>
                </a:solidFill>
                <a:latin typeface="Georgia"/>
              </a:rPr>
              <a:t>the original evidence, not just a conclusion.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56509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Courier New"/>
              </a:rPr>
              <a:t>user-research/personas.md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03 ·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Three surfaces, one evidence trail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686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Three checks, in the place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you already write.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87168"/>
            <a:ext cx="3310128" cy="3127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56B76"/>
                </a:solidFill>
                <a:latin typeface="Courier New"/>
              </a:rPr>
              <a:t>01 /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181D"/>
                </a:solidFill>
                <a:latin typeface="Georgia"/>
              </a:rPr>
              <a:t>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30">
                <a:solidFill>
                  <a:srgbClr val="14663F"/>
                </a:solidFill>
                <a:latin typeface="Courier New"/>
              </a:rPr>
              <a:t>every reference, every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424C"/>
                </a:solidFill>
                <a:latin typeface="Arial"/>
              </a:rPr>
              <a:t>Each bibliography entry is checked against OpenAlex, then Crossref. Title, authors, year and venue are compared field by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634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Identifier first, title only as fallback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Five states — never a silent “not found”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Works on .bib files and whole PDFs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87168"/>
            <a:ext cx="3310128" cy="3127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56B76"/>
                </a:solidFill>
                <a:latin typeface="Courier New"/>
              </a:rPr>
              <a:t>02 /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181D"/>
                </a:solidFill>
                <a:latin typeface="Georgia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0156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30">
                <a:solidFill>
                  <a:srgbClr val="14663F"/>
                </a:solidFill>
                <a:latin typeface="Courier New"/>
              </a:rPr>
              <a:t>claim vs. what the paper says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424C"/>
                </a:solidFill>
                <a:latin typeface="Arial"/>
              </a:rPr>
              <a:t>A selected sentence is matched to the cited paper, the relevant passages are retrieved, and the judgement ships with its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Four verdicts, every one evidenced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Every verdict carries the passage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Bring your own model — no server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487168"/>
            <a:ext cx="3310128" cy="3127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6974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56B76"/>
                </a:solidFill>
                <a:latin typeface="Courier New"/>
              </a:rPr>
              <a:t>03 /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9260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181D"/>
                </a:solidFill>
                <a:latin typeface="Georgia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40156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30">
                <a:solidFill>
                  <a:srgbClr val="14663F"/>
                </a:solidFill>
                <a:latin typeface="Courier New"/>
              </a:rPr>
              <a:t>the paper as it was written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70332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424C"/>
                </a:solidFill>
                <a:latin typeface="Arial"/>
              </a:rPr>
              <a:t>PDFs become structured Markdown — formulas, tables and figures preserved — and render inside the review pane.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6634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Hybrid parsing, local fallback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Page-anchored paragraphs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—  Hover a citation in Overleaf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04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One process, two outbound boundaries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686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The engine decides identity.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The product never guesses.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2240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B9B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340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Arial"/>
              </a:rPr>
              <a:t>React web workspace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47872"/>
            <a:ext cx="2240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B9B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675887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95344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Arial"/>
              </a:rPr>
              <a:t>Overleaf extension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Arial"/>
              </a:rPr>
              <a:t>Manifest V3 · hover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2606040"/>
            <a:ext cx="2880360" cy="9144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3405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B9B6AB"/>
                </a:solidFill>
                <a:latin typeface="Courier New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4436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FastAPI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REST /api/*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35661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B6AB"/>
                </a:solidFill>
                <a:latin typeface="Courier New"/>
              </a:rPr>
              <a:t>↓  in-process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858768"/>
            <a:ext cx="2880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9B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98678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ENGINE + 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2062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Arial"/>
              </a:rPr>
              <a:t>Identity rules · retrieval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Arial"/>
              </a:rPr>
              <a:t>PDF →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606040"/>
            <a:ext cx="491947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9B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2606040"/>
            <a:ext cx="45720" cy="896112"/>
          </a:xfrm>
          <a:prstGeom prst="rect">
            <a:avLst/>
          </a:prstGeom>
          <a:solidFill>
            <a:srgbClr val="146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73405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OUTBOUND · PUBLIC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96265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Arial"/>
              </a:rPr>
              <a:t>OpenAlex → Crossref — identifier first, title second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730752"/>
            <a:ext cx="491947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9B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3730752"/>
            <a:ext cx="45720" cy="896112"/>
          </a:xfrm>
          <a:prstGeom prst="rect">
            <a:avLst/>
          </a:prstGeom>
          <a:solidFill>
            <a:srgbClr val="146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385876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OUTBOUND · USER-OWNED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40873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Arial"/>
              </a:rPr>
              <a:t>17 providers · the key travels in the request, never in the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04688"/>
            <a:ext cx="10728655" cy="713232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669280"/>
            <a:ext cx="10271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663F"/>
                </a:solidFill>
                <a:latin typeface="Georgia"/>
              </a:rPr>
              <a:t>A failed lookup is never reported as “not found”.   Five states in Audit, and in Verify only COMPARED carries a verdict.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05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What the user sees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686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A reference is either checked,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or it is visibly not 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17627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1762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EVIDENCE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432304"/>
            <a:ext cx="10728655" cy="0"/>
          </a:xfrm>
          <a:prstGeom prst="line">
            <a:avLst/>
          </a:prstGeom>
          <a:ln w="12700">
            <a:solidFill>
              <a:srgbClr val="B9B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50545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24C"/>
                </a:solidFill>
                <a:latin typeface="Courier New"/>
              </a:rPr>
              <a:t>bert-exact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B76"/>
                </a:solidFill>
                <a:latin typeface="Courier New"/>
              </a:rPr>
              <a:t>Devlin et al., 2019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560320"/>
            <a:ext cx="960120" cy="246888"/>
          </a:xfrm>
          <a:prstGeom prst="roundRect">
            <a:avLst>
              <a:gd name="adj" fmla="val 16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14663F"/>
                </a:solidFill>
                <a:latin typeface="Courier New"/>
              </a:rPr>
              <a:t>● 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514600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D424C"/>
                </a:solidFill>
                <a:latin typeface="Arial"/>
              </a:rPr>
              <a:t>All four fields match the OpenAlex record. One lookup; Crossref is never asked.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008376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Courier New"/>
              </a:rPr>
              <a:t>title · authors · year · venue → MATCH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182112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23697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24C"/>
                </a:solidFill>
                <a:latin typeface="Courier New"/>
              </a:rPr>
              <a:t>bert-year-plus-one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56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B76"/>
                </a:solidFill>
                <a:latin typeface="Courier New"/>
              </a:rPr>
              <a:t>year stated one 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291840"/>
            <a:ext cx="1691640" cy="246888"/>
          </a:xfrm>
          <a:prstGeom prst="roundRect">
            <a:avLst>
              <a:gd name="adj" fmla="val 16000"/>
            </a:avLst>
          </a:prstGeom>
          <a:solidFill>
            <a:srgbClr val="F7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A6109"/>
                </a:solidFill>
                <a:latin typeface="Courier New"/>
              </a:rPr>
              <a:t>●  METADATA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246120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D424C"/>
                </a:solidFill>
                <a:latin typeface="Arial"/>
              </a:rPr>
              <a:t>The record stays eligible inside the one-year tolerance, so the difference is reported field by field.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739896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Courier New"/>
              </a:rPr>
              <a:t>year → MISMATCH, and the rest of the record is still checked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913632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96849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24C"/>
                </a:solidFill>
                <a:latin typeface="Courier New"/>
              </a:rPr>
              <a:t>dialoguernn-year-minus-five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87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B76"/>
                </a:solidFill>
                <a:latin typeface="Courier New"/>
              </a:rPr>
              <a:t>year stated five early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023359"/>
            <a:ext cx="1005840" cy="246888"/>
          </a:xfrm>
          <a:prstGeom prst="roundRect">
            <a:avLst>
              <a:gd name="adj" fmla="val 16000"/>
            </a:avLst>
          </a:prstGeom>
          <a:solidFill>
            <a:srgbClr val="F8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B2F2A"/>
                </a:solidFill>
                <a:latin typeface="Courier New"/>
              </a:rPr>
              <a:t>●  NOT 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977639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D424C"/>
                </a:solidFill>
                <a:latin typeface="Arial"/>
              </a:rPr>
              <a:t>A five-year gap rejects every record both providers return, so the report carries field_checks: [] rather than a fabricated mismatch.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471416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Courier New"/>
              </a:rPr>
              <a:t>no acceptable record → nothing to compare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4645152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70001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24C"/>
                </a:solidFill>
                <a:latin typeface="Courier New"/>
              </a:rPr>
              <a:t>provider-500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19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B76"/>
                </a:solidFill>
                <a:latin typeface="Courier New"/>
              </a:rPr>
              <a:t>one provider errors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4754880"/>
            <a:ext cx="1188720" cy="246888"/>
          </a:xfrm>
          <a:prstGeom prst="roundRect">
            <a:avLst>
              <a:gd name="adj" fmla="val 16000"/>
            </a:avLst>
          </a:prstGeom>
          <a:solidFill>
            <a:srgbClr val="E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4C4F57"/>
                </a:solidFill>
                <a:latin typeface="Courier New"/>
              </a:rPr>
              <a:t>●  LOOKUP 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709160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D424C"/>
                </a:solidFill>
                <a:latin typeface="Arial"/>
              </a:rPr>
              <a:t>Crossref’s search is negative and OpenAlex cannot answer. The reference stays visibly unchecked — never reported as “not found”.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202936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Courier New"/>
              </a:rPr>
              <a:t>an unread reference is not a missing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784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FIVE STATES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27632" y="5650992"/>
            <a:ext cx="914400" cy="246888"/>
          </a:xfrm>
          <a:prstGeom prst="roundRect">
            <a:avLst>
              <a:gd name="adj" fmla="val 16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14663F"/>
                </a:solidFill>
                <a:latin typeface="Courier New"/>
              </a:rPr>
              <a:t>●  VERIFIED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51760" y="5650992"/>
            <a:ext cx="1600200" cy="246888"/>
          </a:xfrm>
          <a:prstGeom prst="roundRect">
            <a:avLst>
              <a:gd name="adj" fmla="val 16000"/>
            </a:avLst>
          </a:prstGeom>
          <a:solidFill>
            <a:srgbClr val="F7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A6109"/>
                </a:solidFill>
                <a:latin typeface="Courier New"/>
              </a:rPr>
              <a:t>●  METADATA MISMATCH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1688" y="5650992"/>
            <a:ext cx="1143000" cy="246888"/>
          </a:xfrm>
          <a:prstGeom prst="roundRect">
            <a:avLst>
              <a:gd name="adj" fmla="val 16000"/>
            </a:avLst>
          </a:prstGeom>
          <a:solidFill>
            <a:srgbClr val="E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6B5A9E"/>
                </a:solidFill>
                <a:latin typeface="Courier New"/>
              </a:rPr>
              <a:t>●  NEEDS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14416" y="5650992"/>
            <a:ext cx="914400" cy="246888"/>
          </a:xfrm>
          <a:prstGeom prst="roundRect">
            <a:avLst>
              <a:gd name="adj" fmla="val 16000"/>
            </a:avLst>
          </a:prstGeom>
          <a:solidFill>
            <a:srgbClr val="F8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B2F2A"/>
                </a:solidFill>
                <a:latin typeface="Courier New"/>
              </a:rPr>
              <a:t>●  NOT FOUND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38544" y="5650992"/>
            <a:ext cx="1097280" cy="246888"/>
          </a:xfrm>
          <a:prstGeom prst="roundRect">
            <a:avLst>
              <a:gd name="adj" fmla="val 16000"/>
            </a:avLst>
          </a:prstGeom>
          <a:solidFill>
            <a:srgbClr val="E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4C4F57"/>
                </a:solidFill>
                <a:latin typeface="Courier New"/>
              </a:rPr>
              <a:t>●  LOOKUP FAILED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56784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“Lookup failed” is a state, not a missing reference.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Claim × cited source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686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The verdict is only the headline.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The passage is the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5285232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B9B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7860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56B76"/>
                </a:solidFill>
                <a:latin typeface="Courier New"/>
              </a:rPr>
              <a:t>CLAIM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181D"/>
                </a:solidFill>
                <a:latin typeface="Georgia"/>
              </a:rPr>
              <a:t>“The paper reports that the method reduced carbon emissions by forty percent.”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5010912"/>
            <a:ext cx="1005840" cy="246888"/>
          </a:xfrm>
          <a:prstGeom prst="roundRect">
            <a:avLst>
              <a:gd name="adj" fmla="val 16000"/>
            </a:avLst>
          </a:prstGeom>
          <a:solidFill>
            <a:srgbClr val="F8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B2F2A"/>
                </a:solidFill>
                <a:latin typeface="Courier New"/>
              </a:rPr>
              <a:t>●  NOT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5029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The source was read and does not contain this claim. That is different from failing to read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395728"/>
            <a:ext cx="5312664" cy="3127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7860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56B76"/>
                </a:solidFill>
                <a:latin typeface="Courier New"/>
              </a:rPr>
              <a:t>CLAIM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181D"/>
                </a:solidFill>
                <a:latin typeface="Georgia"/>
              </a:rPr>
              <a:t>“Self-attention relates different positions of a single sequence.”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29584"/>
            <a:ext cx="32004" cy="1115568"/>
          </a:xfrm>
          <a:prstGeom prst="rect">
            <a:avLst/>
          </a:prstGeom>
          <a:solidFill>
            <a:srgbClr val="146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529584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424C"/>
                </a:solidFill>
                <a:latin typeface="Arial"/>
              </a:rPr>
              <a:t>“Self-attention, sometimes called intra-attention, is an attention mechanism relating different positions of a single sequence in order to compute a representation of the sequence.”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010912"/>
            <a:ext cx="868680" cy="246888"/>
          </a:xfrm>
          <a:prstGeom prst="roundRect">
            <a:avLst>
              <a:gd name="adj" fmla="val 16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14663F"/>
                </a:solidFill>
                <a:latin typeface="Courier New"/>
              </a:rPr>
              <a:t>● 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5029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Retrieved from the cited paper · quoted verbatim.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6B76"/>
                </a:solidFill>
                <a:latin typeface="Arial"/>
              </a:rPr>
              <a:t>Every comparison ships the retrieved passages, their rank and similarity score, and the page the passage came from when the parser recorded one. A model that ran is not a model that judged — COMPARED is the only status that carries a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07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Measured, not claimed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686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>
                <a:solidFill>
                  <a:srgbClr val="16181D"/>
                </a:solidFill>
                <a:latin typeface="Georgia"/>
              </a:rPr>
              <a:t>What we can defend with a number.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084831"/>
            <a:ext cx="2606040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2128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81D"/>
                </a:solidFill>
                <a:latin typeface="Georgia"/>
              </a:rPr>
              <a:t>1,130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AUTOMATED TESTS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ACROSS FIVE SUITES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4448" y="2084831"/>
            <a:ext cx="2606040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84448" y="22128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81D"/>
                </a:solidFill>
                <a:latin typeface="Georgia"/>
              </a:rPr>
              <a:t>34/34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98094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CONTROLLED AUDIT CASES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EXACT · MACRO-F1 1.00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37376" y="2084831"/>
            <a:ext cx="2606040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37376" y="22128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81D"/>
                </a:solidFill>
                <a:latin typeface="Georgia"/>
              </a:rPr>
              <a:t>12/12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98094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LIVE VERIFY CASES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DEEPSEEK · 12 CALLS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90304" y="2084831"/>
            <a:ext cx="2606040" cy="0"/>
          </a:xfrm>
          <a:prstGeom prst="line">
            <a:avLst/>
          </a:prstGeom>
          <a:ln w="19050">
            <a:solidFill>
              <a:srgbClr val="16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90304" y="22128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81D"/>
                </a:solidFill>
                <a:latin typeface="Georg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298094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SERVER-SIDE MODEL KEYS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6B76"/>
                </a:solidFill>
                <a:latin typeface="Courier New"/>
              </a:rPr>
              <a:t>BRING YOUR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WHERE THE 31 CONTROLLED .BIB CASES 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67328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40">
                <a:solidFill>
                  <a:srgbClr val="14663F"/>
                </a:solidFill>
                <a:latin typeface="Courier New"/>
              </a:rPr>
              <a:t>STATUS ACCURACY 1.00 · MACRO-F1 1.00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2422599" cy="365760"/>
          </a:xfrm>
          <a:prstGeom prst="rect">
            <a:avLst/>
          </a:prstGeom>
          <a:solidFill>
            <a:srgbClr val="146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2422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119" y="4023360"/>
            <a:ext cx="4153027" cy="365760"/>
          </a:xfrm>
          <a:prstGeom prst="rect">
            <a:avLst/>
          </a:prstGeom>
          <a:solidFill>
            <a:srgbClr val="9A61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119" y="4114800"/>
            <a:ext cx="41530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147" y="4023360"/>
            <a:ext cx="3114770" cy="365760"/>
          </a:xfrm>
          <a:prstGeom prst="rect">
            <a:avLst/>
          </a:prstGeom>
          <a:solidFill>
            <a:srgbClr val="6B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7147" y="4114800"/>
            <a:ext cx="31147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1918" y="4023360"/>
            <a:ext cx="346085" cy="365760"/>
          </a:xfrm>
          <a:prstGeom prst="rect">
            <a:avLst/>
          </a:prstGeom>
          <a:solidFill>
            <a:srgbClr val="9B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1918" y="4114800"/>
            <a:ext cx="346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68003" y="4023360"/>
            <a:ext cx="692171" cy="365760"/>
          </a:xfrm>
          <a:prstGeom prst="rect">
            <a:avLst/>
          </a:prstGeom>
          <a:solidFill>
            <a:srgbClr val="4C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68003" y="4114800"/>
            <a:ext cx="6921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53712"/>
            <a:ext cx="1051560" cy="246888"/>
          </a:xfrm>
          <a:prstGeom prst="roundRect">
            <a:avLst>
              <a:gd name="adj" fmla="val 16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14663F"/>
                </a:solidFill>
                <a:latin typeface="Courier New"/>
              </a:rPr>
              <a:t>●  VERIFIED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39" y="4553712"/>
            <a:ext cx="1874519" cy="246888"/>
          </a:xfrm>
          <a:prstGeom prst="roundRect">
            <a:avLst>
              <a:gd name="adj" fmla="val 16000"/>
            </a:avLst>
          </a:prstGeom>
          <a:solidFill>
            <a:srgbClr val="F7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A6109"/>
                </a:solidFill>
                <a:latin typeface="Courier New"/>
              </a:rPr>
              <a:t>●  METADATA MISMATCH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19" y="4553712"/>
            <a:ext cx="1417320" cy="246888"/>
          </a:xfrm>
          <a:prstGeom prst="roundRect">
            <a:avLst>
              <a:gd name="adj" fmla="val 16000"/>
            </a:avLst>
          </a:prstGeom>
          <a:solidFill>
            <a:srgbClr val="E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6B5A9E"/>
                </a:solidFill>
                <a:latin typeface="Courier New"/>
              </a:rPr>
              <a:t>●  NEEDS REVIEW 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399" y="4553712"/>
            <a:ext cx="1143000" cy="246888"/>
          </a:xfrm>
          <a:prstGeom prst="roundRect">
            <a:avLst>
              <a:gd name="adj" fmla="val 16000"/>
            </a:avLst>
          </a:prstGeom>
          <a:solidFill>
            <a:srgbClr val="F8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9B2F2A"/>
                </a:solidFill>
                <a:latin typeface="Courier New"/>
              </a:rPr>
              <a:t>●  NOT FOUND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59" y="4553712"/>
            <a:ext cx="1325880" cy="246888"/>
          </a:xfrm>
          <a:prstGeom prst="roundRect">
            <a:avLst>
              <a:gd name="adj" fmla="val 16000"/>
            </a:avLst>
          </a:prstGeom>
          <a:solidFill>
            <a:srgbClr val="E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 lIns="0" rIns="0"/>
          <a:lstStyle/>
          <a:p>
            <a:pPr algn="ctr"/>
            <a:r>
              <a:rPr sz="800" spc="40">
                <a:solidFill>
                  <a:srgbClr val="4C4F57"/>
                </a:solidFill>
                <a:latin typeface="Courier New"/>
              </a:rPr>
              <a:t>●  LOOKUP FAILED 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5440680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55955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B76"/>
                </a:solidFill>
                <a:latin typeface="Arial"/>
              </a:rPr>
              <a:t>Audit measured on 31 .bib and 3 PDF fixtures with pinned provider responses (generated 2026-10-08): state accuracy 1.00, every field check exact. Verify measured on six manually labelled claims in two modes against a seeded excerpt of Attention Is All You Need; labels are fixture labels, not independent expert annotation. Test count at local main e171fb3; overhead is linear at 0.055 s per audit request in-process.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56B76"/>
                </a:solidFill>
                <a:latin typeface="Courier New"/>
              </a:rPr>
              <a:t>08 ·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175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B6AB"/>
                </a:solidFill>
                <a:latin typeface="Courier New"/>
              </a:rPr>
              <a:t>Group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9525">
            <a:solidFill>
              <a:srgbClr val="D9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32588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800">
                <a:solidFill>
                  <a:srgbClr val="16181D"/>
                </a:solidFill>
                <a:latin typeface="Georgia"/>
              </a:rPr>
              <a:t>Every citation, checked —</a:t>
            </a:r>
          </a:p>
          <a:p>
            <a:pPr>
              <a:lnSpc>
                <a:spcPct val="105000"/>
              </a:lnSpc>
            </a:pPr>
            <a:r>
              <a:rPr sz="3800" i="1">
                <a:solidFill>
                  <a:srgbClr val="14663F"/>
                </a:solidFill>
                <a:latin typeface="Georgia"/>
              </a:rPr>
              <a:t>with the evidence.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611880"/>
            <a:ext cx="3246119" cy="0"/>
          </a:xfrm>
          <a:prstGeom prst="line">
            <a:avLst/>
          </a:prstGeom>
          <a:ln w="9525">
            <a:solidFill>
              <a:srgbClr val="B9B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74903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NEXT ·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050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424C"/>
                </a:solidFill>
                <a:latin typeface="Arial"/>
              </a:rPr>
              <a:t>Live verification at corpus scale, with the annotation set the team is still labelling.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3611880"/>
            <a:ext cx="3246120" cy="0"/>
          </a:xfrm>
          <a:prstGeom prst="line">
            <a:avLst/>
          </a:prstGeom>
          <a:ln w="9525">
            <a:solidFill>
              <a:srgbClr val="B9B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43400" y="374903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NEXT ·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0050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424C"/>
                </a:solidFill>
                <a:latin typeface="Arial"/>
              </a:rPr>
              <a:t>In-editor selection and verdicts without leaving Overleaf.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80" y="3611880"/>
            <a:ext cx="3246120" cy="0"/>
          </a:xfrm>
          <a:prstGeom prst="line">
            <a:avLst/>
          </a:prstGeom>
          <a:ln w="9525">
            <a:solidFill>
              <a:srgbClr val="B9B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80" y="374903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656B76"/>
                </a:solidFill>
                <a:latin typeface="Courier New"/>
              </a:rPr>
              <a:t>NEXT ·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0050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424C"/>
                </a:solidFill>
                <a:latin typeface="Arial"/>
              </a:rPr>
              <a:t>Deployment hardening: one worker, file-backed storage, a documented restore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509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0">
                <a:solidFill>
                  <a:srgbClr val="656B76"/>
                </a:solidFill>
                <a:latin typeface="Courier New"/>
              </a:rPr>
              <a:t>CLAIMTRACE · SOFTWARE INNOVATION STUDIO 41129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